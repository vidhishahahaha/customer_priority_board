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fntdata" ContentType="application/x-fontdata"/>
  <Default Extension="mp4" ContentType="video/mp4"/>
  <Default Extension="svg" ContentType="image/svg+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diagrams/layout7.xml" ContentType="application/vnd.openxmlformats-officedocument.drawingml.diagramLayout+xml"/>
  <Override PartName="/ppt/diagrams/data7.xml" ContentType="application/vnd.openxmlformats-officedocument.drawingml.diagramData+xml"/>
  <Override PartName="/ppt/diagrams/drawing7.xml" ContentType="application/vnd.ms-office.drawingml.diagramDrawing+xml"/>
  <Override PartName="/ppt/diagrams/colors7.xml" ContentType="application/vnd.openxmlformats-officedocument.drawingml.diagramColors+xml"/>
  <Override PartName="/ppt/diagrams/quickStyle7.xml" ContentType="application/vnd.openxmlformats-officedocument.drawingml.diagramStyle+xml"/>
  <Override PartName="/customXml/item3.xml" ContentType="application/xml"/>
  <Override PartName="/customXml/itemProps3.xml" ContentType="application/vnd.openxmlformats-officedocument.customXmlPropertie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diagrams/layout6.xml" ContentType="application/vnd.openxmlformats-officedocument.drawingml.diagramLayout+xml"/>
  <Override PartName="/ppt/diagrams/data6.xml" ContentType="application/vnd.openxmlformats-officedocument.drawingml.diagramData+xml"/>
  <Override PartName="/ppt/diagrams/drawing6.xml" ContentType="application/vnd.ms-office.drawingml.diagramDrawing+xml"/>
  <Override PartName="/ppt/diagrams/colors6.xml" ContentType="application/vnd.openxmlformats-officedocument.drawingml.diagramColors+xml"/>
  <Override PartName="/ppt/diagrams/quickStyle6.xml" ContentType="application/vnd.openxmlformats-officedocument.drawingml.diagramStyle+xml"/>
  <Override PartName="/ppt/commentAuthors.xml" ContentType="application/vnd.openxmlformats-officedocument.presentationml.commentAuthors+xml"/>
  <Override PartName="/customXml/item2.xml" ContentType="application/xml"/>
  <Override PartName="/customXml/itemProps2.xml" ContentType="application/vnd.openxmlformats-officedocument.customXmlProperties+xml"/>
  <Override PartName="/ppt/slides/slide12.xml" ContentType="application/vnd.openxmlformats-officedocument.presentationml.slide+xml"/>
  <Override PartName="/ppt/diagrams/layout5.xml" ContentType="application/vnd.openxmlformats-officedocument.drawingml.diagramLayout+xml"/>
  <Override PartName="/ppt/diagrams/data5.xml" ContentType="application/vnd.openxmlformats-officedocument.drawingml.diagramData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customXml/item1.xml" ContentType="application/xml"/>
  <Override PartName="/customXml/itemProps1.xml" ContentType="application/vnd.openxmlformats-officedocument.customXml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diagrams/layout3.xml" ContentType="application/vnd.openxmlformats-officedocument.drawingml.diagramLayout+xml"/>
  <Override PartName="/ppt/diagrams/data3.xml" ContentType="application/vnd.openxmlformats-officedocument.drawingml.diagramData+xml"/>
  <Override PartName="/ppt/diagrams/drawing3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metadata" ContentType="application/binary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diagrams/layout4.xml" ContentType="application/vnd.openxmlformats-officedocument.drawingml.diagramLayout+xml"/>
  <Override PartName="/ppt/diagrams/data4.xml" ContentType="application/vnd.openxmlformats-officedocument.drawingml.diagramData+xml"/>
  <Override PartName="/ppt/diagrams/drawing4.xml" ContentType="application/vnd.ms-office.drawingml.diagramDrawing+xml"/>
  <Override PartName="/ppt/diagrams/colors4.xml" ContentType="application/vnd.openxmlformats-officedocument.drawingml.diagramColors+xml"/>
  <Override PartName="/ppt/diagrams/quickStyle4.xml" ContentType="application/vnd.openxmlformats-officedocument.drawingml.diagramStyle+xml"/>
  <Override PartName="/ppt/slides/slide6.xml" ContentType="application/vnd.openxmlformats-officedocument.presentationml.slide+xml"/>
  <Override PartName="/ppt/diagrams/data2.xml" ContentType="application/vnd.openxmlformats-officedocument.drawingml.diagramData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slides/slide1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diagrams/layout1.xml" ContentType="application/vnd.openxmlformats-officedocument.drawingml.diagramLayout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revisionInfo.xml" ContentType="application/vnd.ms-powerpoint.revisioninfo+xml"/>
  <Override PartName="/docProps/custom.xml" ContentType="application/vnd.openxmlformats-officedocument.custom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go="http://customooxmlschemas.google.com/" xmlns:ahyp="http://schemas.microsoft.com/office/drawing/2018/hyperlinkcolor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8" r:id="rId6"/>
    <p:sldId id="259" r:id="rId7"/>
    <p:sldId id="283" r:id="rId8"/>
    <p:sldId id="263" r:id="rId9"/>
    <p:sldId id="267" r:id="rId10"/>
    <p:sldId id="280" r:id="rId11"/>
    <p:sldId id="288" r:id="rId12"/>
    <p:sldId id="286" r:id="rId13"/>
    <p:sldId id="287" r:id="rId14"/>
    <p:sldId id="285" r:id="rId15"/>
    <p:sldId id="289" r:id="rId16"/>
    <p:sldId id="290" r:id="rId17"/>
    <p:sldId id="281" r:id="rId18"/>
    <p:sldId id="261" r:id="rId19"/>
  </p:sldIdLst>
  <p:sldSz cx="12192000" cy="6858000"/>
  <p:notesSz cx="9872663" cy="6742113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5" roundtripDataSignature="AMtx7mgxN6SefLGdfVNM046sa2bEk6PR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idhi Shah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6CBD22-BD62-0FA5-E8EF-DDEB00622425}" v="10" dt="2025-07-07T05:24:01.279"/>
  </p1510:revLst>
</p1510:revInfo>
</file>

<file path=ppt/tableStyles.xml><?xml version="1.0" encoding="utf-8"?>
<a:tblStyleLst xmlns:a="http://schemas.openxmlformats.org/drawingml/2006/main" def="{A2E16B43-68AD-497F-BDD2-26A58E61E181}">
  <a:tblStyle styleId="{A2E16B43-68AD-497F-BDD2-26A58E61E1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9.xml" Id="rId13" /><Relationship Type="http://schemas.openxmlformats.org/officeDocument/2006/relationships/slide" Target="/ppt/slides/slide14.xml" Id="rId18" /><Relationship Type="http://schemas.openxmlformats.org/officeDocument/2006/relationships/font" Target="/ppt/fonts/font6.fntdata" Id="rId26" /><Relationship Type="http://schemas.openxmlformats.org/officeDocument/2006/relationships/customXml" Target="/customXml/item3.xml" Id="rId3" /><Relationship Type="http://schemas.openxmlformats.org/officeDocument/2006/relationships/font" Target="/ppt/fonts/font1.fntdata" Id="rId21" /><Relationship Type="http://schemas.openxmlformats.org/officeDocument/2006/relationships/presProps" Target="/ppt/presProps.xml" Id="rId47" /><Relationship Type="http://schemas.openxmlformats.org/officeDocument/2006/relationships/tableStyles" Target="/ppt/tableStyles.xml" Id="rId50" /><Relationship Type="http://schemas.openxmlformats.org/officeDocument/2006/relationships/slide" Target="/ppt/slides/slide3.xml" Id="rId7" /><Relationship Type="http://schemas.openxmlformats.org/officeDocument/2006/relationships/slide" Target="/ppt/slides/slide8.xml" Id="rId12" /><Relationship Type="http://schemas.openxmlformats.org/officeDocument/2006/relationships/slide" Target="/ppt/slides/slide13.xml" Id="rId17" /><Relationship Type="http://schemas.openxmlformats.org/officeDocument/2006/relationships/font" Target="/ppt/fonts/font5.fntdata" Id="rId25" /><Relationship Type="http://schemas.openxmlformats.org/officeDocument/2006/relationships/commentAuthors" Target="/ppt/commentAuthors.xml" Id="rId46" /><Relationship Type="http://schemas.openxmlformats.org/officeDocument/2006/relationships/customXml" Target="/customXml/item2.xml" Id="rId2" /><Relationship Type="http://schemas.openxmlformats.org/officeDocument/2006/relationships/slide" Target="/ppt/slides/slide12.xml" Id="rId16" /><Relationship Type="http://schemas.openxmlformats.org/officeDocument/2006/relationships/notesMaster" Target="/ppt/notesMasters/notesMaster1.xml" Id="rId20" /><Relationship Type="http://schemas.openxmlformats.org/officeDocument/2006/relationships/customXml" Target="/customXml/item1.xml" Id="rId1" /><Relationship Type="http://schemas.openxmlformats.org/officeDocument/2006/relationships/slide" Target="/ppt/slides/slide2.xml" Id="rId6" /><Relationship Type="http://schemas.openxmlformats.org/officeDocument/2006/relationships/slide" Target="/ppt/slides/slide7.xml" Id="rId11" /><Relationship Type="http://schemas.openxmlformats.org/officeDocument/2006/relationships/font" Target="/ppt/fonts/font4.fntdata" Id="rId24" /><Relationship Type="http://customschemas.google.com/relationships/presentationmetadata" Target="/ppt/metadata" Id="rId45" /><Relationship Type="http://schemas.openxmlformats.org/officeDocument/2006/relationships/slide" Target="/ppt/slides/slide1.xml" Id="rId5" /><Relationship Type="http://schemas.openxmlformats.org/officeDocument/2006/relationships/slide" Target="/ppt/slides/slide11.xml" Id="rId15" /><Relationship Type="http://schemas.openxmlformats.org/officeDocument/2006/relationships/font" Target="/ppt/fonts/font3.fntdata" Id="rId23" /><Relationship Type="http://schemas.openxmlformats.org/officeDocument/2006/relationships/font" Target="/ppt/fonts/font8.fntdata" Id="rId28" /><Relationship Type="http://schemas.openxmlformats.org/officeDocument/2006/relationships/theme" Target="/ppt/theme/theme1.xml" Id="rId49" /><Relationship Type="http://schemas.openxmlformats.org/officeDocument/2006/relationships/slide" Target="/ppt/slides/slide6.xml" Id="rId10" /><Relationship Type="http://schemas.openxmlformats.org/officeDocument/2006/relationships/slide" Target="/ppt/slides/slide15.xml" Id="rId19" /><Relationship Type="http://schemas.openxmlformats.org/officeDocument/2006/relationships/slideMaster" Target="/ppt/slideMasters/slideMaster1.xml" Id="rId4" /><Relationship Type="http://schemas.openxmlformats.org/officeDocument/2006/relationships/slide" Target="/ppt/slides/slide5.xml" Id="rId9" /><Relationship Type="http://schemas.openxmlformats.org/officeDocument/2006/relationships/slide" Target="/ppt/slides/slide10.xml" Id="rId14" /><Relationship Type="http://schemas.openxmlformats.org/officeDocument/2006/relationships/font" Target="/ppt/fonts/font2.fntdata" Id="rId22" /><Relationship Type="http://schemas.openxmlformats.org/officeDocument/2006/relationships/font" Target="/ppt/fonts/font7.fntdata" Id="rId27" /><Relationship Type="http://schemas.openxmlformats.org/officeDocument/2006/relationships/viewProps" Target="/ppt/viewProps.xml" Id="rId48" /><Relationship Type="http://schemas.openxmlformats.org/officeDocument/2006/relationships/slide" Target="/ppt/slides/slide4.xml" Id="rId8" /><Relationship Type="http://schemas.microsoft.com/office/2015/10/relationships/revisionInfo" Target="/ppt/revisionInfo.xml" Id="rId51" /></Relationships>
</file>

<file path=ppt/diagrams/_rels/data3.xml.rels>&#65279;<?xml version="1.0" encoding="utf-8"?><Relationships xmlns="http://schemas.openxmlformats.org/package/2006/relationships"><Relationship Type="http://schemas.openxmlformats.org/officeDocument/2006/relationships/image" Target="/ppt/media/image24.svg" Id="rId8" /><Relationship Type="http://schemas.openxmlformats.org/officeDocument/2006/relationships/image" Target="/ppt/media/image19.png" Id="rId3" /><Relationship Type="http://schemas.openxmlformats.org/officeDocument/2006/relationships/image" Target="/ppt/media/image23.png" Id="rId7" /><Relationship Type="http://schemas.openxmlformats.org/officeDocument/2006/relationships/image" Target="/ppt/media/image18.svg" Id="rId2" /><Relationship Type="http://schemas.openxmlformats.org/officeDocument/2006/relationships/image" Target="/ppt/media/image17.png" Id="rId1" /><Relationship Type="http://schemas.openxmlformats.org/officeDocument/2006/relationships/image" Target="/ppt/media/image22.svg" Id="rId6" /><Relationship Type="http://schemas.openxmlformats.org/officeDocument/2006/relationships/image" Target="/ppt/media/image21.png" Id="rId5" /><Relationship Type="http://schemas.openxmlformats.org/officeDocument/2006/relationships/image" Target="/ppt/media/image26.svg" Id="rId10" /><Relationship Type="http://schemas.openxmlformats.org/officeDocument/2006/relationships/image" Target="/ppt/media/image20.svg" Id="rId4" /><Relationship Type="http://schemas.openxmlformats.org/officeDocument/2006/relationships/image" Target="/ppt/media/image25.png" Id="rId9" /></Relationships>
</file>

<file path=ppt/diagrams/_rels/data4.xml.rels>&#65279;<?xml version="1.0" encoding="utf-8"?><Relationships xmlns="http://schemas.openxmlformats.org/package/2006/relationships"><Relationship Type="http://schemas.openxmlformats.org/officeDocument/2006/relationships/image" Target="/ppt/media/image31.png" Id="rId3" /><Relationship Type="http://schemas.openxmlformats.org/officeDocument/2006/relationships/image" Target="/ppt/media/image30.svg" Id="rId2" /><Relationship Type="http://schemas.openxmlformats.org/officeDocument/2006/relationships/image" Target="/ppt/media/image29.png" Id="rId1" /><Relationship Type="http://schemas.openxmlformats.org/officeDocument/2006/relationships/image" Target="/ppt/media/image34.svg" Id="rId6" /><Relationship Type="http://schemas.openxmlformats.org/officeDocument/2006/relationships/image" Target="/ppt/media/image33.png" Id="rId5" /><Relationship Type="http://schemas.openxmlformats.org/officeDocument/2006/relationships/image" Target="/ppt/media/image32.svg" Id="rId4" /></Relationships>
</file>

<file path=ppt/diagrams/_rels/drawing3.xml.rels>&#65279;<?xml version="1.0" encoding="utf-8"?><Relationships xmlns="http://schemas.openxmlformats.org/package/2006/relationships"><Relationship Type="http://schemas.openxmlformats.org/officeDocument/2006/relationships/image" Target="/ppt/media/image24.svg" Id="rId8" /><Relationship Type="http://schemas.openxmlformats.org/officeDocument/2006/relationships/image" Target="/ppt/media/image19.png" Id="rId3" /><Relationship Type="http://schemas.openxmlformats.org/officeDocument/2006/relationships/image" Target="/ppt/media/image23.png" Id="rId7" /><Relationship Type="http://schemas.openxmlformats.org/officeDocument/2006/relationships/image" Target="/ppt/media/image18.svg" Id="rId2" /><Relationship Type="http://schemas.openxmlformats.org/officeDocument/2006/relationships/image" Target="/ppt/media/image17.png" Id="rId1" /><Relationship Type="http://schemas.openxmlformats.org/officeDocument/2006/relationships/image" Target="/ppt/media/image22.svg" Id="rId6" /><Relationship Type="http://schemas.openxmlformats.org/officeDocument/2006/relationships/image" Target="/ppt/media/image21.png" Id="rId5" /><Relationship Type="http://schemas.openxmlformats.org/officeDocument/2006/relationships/image" Target="/ppt/media/image26.svg" Id="rId10" /><Relationship Type="http://schemas.openxmlformats.org/officeDocument/2006/relationships/image" Target="/ppt/media/image20.svg" Id="rId4" /><Relationship Type="http://schemas.openxmlformats.org/officeDocument/2006/relationships/image" Target="/ppt/media/image25.png" Id="rId9" /></Relationships>
</file>

<file path=ppt/diagrams/_rels/drawing4.xml.rels>&#65279;<?xml version="1.0" encoding="utf-8"?><Relationships xmlns="http://schemas.openxmlformats.org/package/2006/relationships"><Relationship Type="http://schemas.openxmlformats.org/officeDocument/2006/relationships/image" Target="/ppt/media/image31.png" Id="rId3" /><Relationship Type="http://schemas.openxmlformats.org/officeDocument/2006/relationships/image" Target="/ppt/media/image30.svg" Id="rId2" /><Relationship Type="http://schemas.openxmlformats.org/officeDocument/2006/relationships/image" Target="/ppt/media/image29.png" Id="rId1" /><Relationship Type="http://schemas.openxmlformats.org/officeDocument/2006/relationships/image" Target="/ppt/media/image34.svg" Id="rId6" /><Relationship Type="http://schemas.openxmlformats.org/officeDocument/2006/relationships/image" Target="/ppt/media/image33.png" Id="rId5" /><Relationship Type="http://schemas.openxmlformats.org/officeDocument/2006/relationships/image" Target="/ppt/media/image32.svg" Id="rId4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5DFFBF-D263-45C9-866E-1336FA8DCAE2}" type="doc">
      <dgm:prSet loTypeId="urn:microsoft.com/office/officeart/2008/layout/Squa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AF0F25-93C3-4FA9-A9BB-2E58EC28F812}">
      <dgm:prSet phldrT="[Text]" custT="1"/>
      <dgm:spPr/>
      <dgm:t>
        <a:bodyPr/>
        <a:lstStyle/>
        <a:p>
          <a:pPr>
            <a:buClr>
              <a:schemeClr val="dk1"/>
            </a:buClr>
            <a:buSzPts val="1100"/>
            <a:buFont typeface="Arial"/>
            <a:buNone/>
          </a:pPr>
          <a:r>
            <a:rPr lang="en-US" sz="1200" b="1">
              <a:latin typeface="Roboto"/>
              <a:ea typeface="Roboto"/>
              <a:cs typeface="Roboto"/>
              <a:sym typeface="Roboto"/>
            </a:rPr>
            <a:t>1</a:t>
          </a:r>
          <a:r>
            <a:rPr lang="en-US" sz="1200" b="1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.ORDERS &amp; RETAIL TRACKER (LAST 5 MONTHS)</a:t>
          </a:r>
          <a:endParaRPr lang="en-IN" sz="1200"/>
        </a:p>
      </dgm:t>
    </dgm:pt>
    <dgm:pt modelId="{6639EB0B-2245-4A3A-9812-101845D1E1A3}" type="parTrans" cxnId="{3DDB0BF2-7B79-4291-BE49-BF69147A69B7}">
      <dgm:prSet/>
      <dgm:spPr/>
      <dgm:t>
        <a:bodyPr/>
        <a:lstStyle/>
        <a:p>
          <a:endParaRPr lang="en-IN"/>
        </a:p>
      </dgm:t>
    </dgm:pt>
    <dgm:pt modelId="{4E867B2C-D7E7-4C32-A839-42283B50D32F}" type="sibTrans" cxnId="{3DDB0BF2-7B79-4291-BE49-BF69147A69B7}">
      <dgm:prSet/>
      <dgm:spPr/>
      <dgm:t>
        <a:bodyPr/>
        <a:lstStyle/>
        <a:p>
          <a:endParaRPr lang="en-IN"/>
        </a:p>
      </dgm:t>
    </dgm:pt>
    <dgm:pt modelId="{75179E2E-1BDC-4325-8410-15B40813C8A1}">
      <dgm:prSet phldrT="[Text]"/>
      <dgm:spPr/>
      <dgm:t>
        <a:bodyPr/>
        <a:lstStyle/>
        <a:p>
          <a:pPr>
            <a:buClr>
              <a:schemeClr val="dk1"/>
            </a:buClr>
            <a:buSzPts val="1100"/>
            <a:buFont typeface="Roboto"/>
            <a:buChar char="●"/>
          </a:pPr>
          <a:r>
            <a:rPr lang="en-US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Analyzed customer buying trends and order patterns</a:t>
          </a:r>
          <a:r>
            <a:rPr lang="en-US"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rPr>
            <a:t>.</a:t>
          </a:r>
          <a:endParaRPr lang="en-IN"/>
        </a:p>
      </dgm:t>
    </dgm:pt>
    <dgm:pt modelId="{EF7C90DF-03E2-4CC1-93E1-6E65D359DE84}" type="parTrans" cxnId="{54BEF159-42F4-4105-A8D6-C99F28AE06B7}">
      <dgm:prSet/>
      <dgm:spPr/>
      <dgm:t>
        <a:bodyPr/>
        <a:lstStyle/>
        <a:p>
          <a:endParaRPr lang="en-IN"/>
        </a:p>
      </dgm:t>
    </dgm:pt>
    <dgm:pt modelId="{3B950EFC-891F-4EE0-A66E-9CC81435FA18}" type="sibTrans" cxnId="{54BEF159-42F4-4105-A8D6-C99F28AE06B7}">
      <dgm:prSet/>
      <dgm:spPr/>
      <dgm:t>
        <a:bodyPr/>
        <a:lstStyle/>
        <a:p>
          <a:endParaRPr lang="en-IN"/>
        </a:p>
      </dgm:t>
    </dgm:pt>
    <dgm:pt modelId="{5159C9B5-5AFF-4FE8-A266-603507A92A2D}">
      <dgm:prSet phldrT="[Text]"/>
      <dgm:spPr/>
      <dgm:t>
        <a:bodyPr/>
        <a:lstStyle/>
        <a:p>
          <a:pPr>
            <a:buClr>
              <a:schemeClr val="dk1"/>
            </a:buClr>
            <a:buSzPts val="1100"/>
            <a:buFont typeface="Roboto"/>
            <a:buChar char="●"/>
          </a:pPr>
          <a:r>
            <a:rPr lang="en-US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Tracked orders by customer, product, and region</a:t>
          </a:r>
          <a:r>
            <a:rPr lang="en-US"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rPr>
            <a:t>.</a:t>
          </a:r>
          <a:endParaRPr lang="en-IN"/>
        </a:p>
      </dgm:t>
    </dgm:pt>
    <dgm:pt modelId="{05A6C09B-0D4B-4EE7-A25A-01B5B520BF38}" type="parTrans" cxnId="{00307A5D-6D0B-413D-9676-E4499AF15F7A}">
      <dgm:prSet/>
      <dgm:spPr/>
      <dgm:t>
        <a:bodyPr/>
        <a:lstStyle/>
        <a:p>
          <a:endParaRPr lang="en-IN"/>
        </a:p>
      </dgm:t>
    </dgm:pt>
    <dgm:pt modelId="{C881BD39-20DB-415B-8700-BED2FD7C7BCA}" type="sibTrans" cxnId="{00307A5D-6D0B-413D-9676-E4499AF15F7A}">
      <dgm:prSet/>
      <dgm:spPr/>
      <dgm:t>
        <a:bodyPr/>
        <a:lstStyle/>
        <a:p>
          <a:endParaRPr lang="en-IN"/>
        </a:p>
      </dgm:t>
    </dgm:pt>
    <dgm:pt modelId="{43992994-14C7-44AC-A701-202D68649DE0}">
      <dgm:prSet phldrT="[Text]"/>
      <dgm:spPr/>
      <dgm:t>
        <a:bodyPr/>
        <a:lstStyle/>
        <a:p>
          <a:pPr>
            <a:buClr>
              <a:schemeClr val="dk1"/>
            </a:buClr>
            <a:buSzPts val="1100"/>
            <a:buFont typeface="Roboto"/>
            <a:buChar char="●"/>
          </a:pPr>
          <a:r>
            <a:rPr lang="en-US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Built customer profiles by purchase frequency and volume and assigned priorities to the customers </a:t>
          </a:r>
          <a:endParaRPr lang="en-IN"/>
        </a:p>
      </dgm:t>
    </dgm:pt>
    <dgm:pt modelId="{59558665-9DD6-4A76-9669-AADD71CFD8C7}" type="parTrans" cxnId="{FFE2921C-E6D2-43CB-AC2A-705730DB5970}">
      <dgm:prSet/>
      <dgm:spPr/>
      <dgm:t>
        <a:bodyPr/>
        <a:lstStyle/>
        <a:p>
          <a:endParaRPr lang="en-IN"/>
        </a:p>
      </dgm:t>
    </dgm:pt>
    <dgm:pt modelId="{FED5F78C-964D-4196-8156-C650A136D1DF}" type="sibTrans" cxnId="{FFE2921C-E6D2-43CB-AC2A-705730DB5970}">
      <dgm:prSet/>
      <dgm:spPr/>
      <dgm:t>
        <a:bodyPr/>
        <a:lstStyle/>
        <a:p>
          <a:endParaRPr lang="en-IN"/>
        </a:p>
      </dgm:t>
    </dgm:pt>
    <dgm:pt modelId="{99AC8C28-F118-4E0C-8054-18CA9BB3ECED}">
      <dgm:prSet phldrT="[Text]" custT="1"/>
      <dgm:spPr/>
      <dgm:t>
        <a:bodyPr/>
        <a:lstStyle/>
        <a:p>
          <a:pPr>
            <a:buClr>
              <a:schemeClr val="dk1"/>
            </a:buClr>
            <a:buSzPts val="1100"/>
          </a:pPr>
          <a:r>
            <a:rPr lang="en-US" sz="1200" b="1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2. LOST ORDERS ANALYSIS (LAST 5 MONTHS)</a:t>
          </a:r>
          <a:endParaRPr lang="en-IN" sz="1200"/>
        </a:p>
      </dgm:t>
    </dgm:pt>
    <dgm:pt modelId="{BAA20783-E7BE-474F-B37D-EF495CE10107}" type="parTrans" cxnId="{DB9B3A16-847B-4631-AC6A-BE75FA95A9F5}">
      <dgm:prSet/>
      <dgm:spPr/>
      <dgm:t>
        <a:bodyPr/>
        <a:lstStyle/>
        <a:p>
          <a:endParaRPr lang="en-IN"/>
        </a:p>
      </dgm:t>
    </dgm:pt>
    <dgm:pt modelId="{9D2CD9E1-D614-42E9-A054-7CA412994EB1}" type="sibTrans" cxnId="{DB9B3A16-847B-4631-AC6A-BE75FA95A9F5}">
      <dgm:prSet/>
      <dgm:spPr/>
      <dgm:t>
        <a:bodyPr/>
        <a:lstStyle/>
        <a:p>
          <a:endParaRPr lang="en-IN"/>
        </a:p>
      </dgm:t>
    </dgm:pt>
    <dgm:pt modelId="{B74DB0ED-DE6B-45CD-958F-D3E60FFB0ED2}">
      <dgm:prSet phldrT="[Text]"/>
      <dgm:spPr/>
      <dgm:t>
        <a:bodyPr/>
        <a:lstStyle/>
        <a:p>
          <a:pPr>
            <a:buClr>
              <a:schemeClr val="dk1"/>
            </a:buClr>
            <a:buSzPts val="1100"/>
            <a:buFont typeface="Roboto"/>
            <a:buChar char="●"/>
          </a:pPr>
          <a:r>
            <a:rPr lang="en-US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Identified reasons for order losses by state or district as shown in the table below. </a:t>
          </a:r>
          <a:endParaRPr lang="en-IN"/>
        </a:p>
      </dgm:t>
    </dgm:pt>
    <dgm:pt modelId="{1D00FB65-0212-4DD3-B7CD-F29612C7E799}" type="parTrans" cxnId="{C5AD3C26-4C60-401A-996B-A6011E11B27A}">
      <dgm:prSet/>
      <dgm:spPr/>
      <dgm:t>
        <a:bodyPr/>
        <a:lstStyle/>
        <a:p>
          <a:endParaRPr lang="en-IN"/>
        </a:p>
      </dgm:t>
    </dgm:pt>
    <dgm:pt modelId="{4F9AE766-FDCC-452F-BC36-406A6ECBC096}" type="sibTrans" cxnId="{C5AD3C26-4C60-401A-996B-A6011E11B27A}">
      <dgm:prSet/>
      <dgm:spPr/>
      <dgm:t>
        <a:bodyPr/>
        <a:lstStyle/>
        <a:p>
          <a:endParaRPr lang="en-IN"/>
        </a:p>
      </dgm:t>
    </dgm:pt>
    <dgm:pt modelId="{C4824588-9814-4678-A58C-63ECDFB7C681}">
      <dgm:prSet phldrT="[Text]"/>
      <dgm:spPr/>
      <dgm:t>
        <a:bodyPr/>
        <a:lstStyle/>
        <a:p>
          <a:pPr>
            <a:buClr>
              <a:schemeClr val="dk1"/>
            </a:buClr>
            <a:buSzPts val="1100"/>
            <a:buFont typeface="Roboto"/>
            <a:buChar char="●"/>
          </a:pPr>
          <a:r>
            <a:rPr lang="en-US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Assessed both internal and external factors affecting order loss</a:t>
          </a:r>
          <a:r>
            <a:rPr lang="en-US"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rPr>
            <a:t>.</a:t>
          </a:r>
          <a:endParaRPr lang="en-IN"/>
        </a:p>
      </dgm:t>
    </dgm:pt>
    <dgm:pt modelId="{231D3E90-BC0D-49FD-8B71-8377DE0BC076}" type="parTrans" cxnId="{6A731A0A-DB68-4948-8532-F533510AABE0}">
      <dgm:prSet/>
      <dgm:spPr/>
      <dgm:t>
        <a:bodyPr/>
        <a:lstStyle/>
        <a:p>
          <a:endParaRPr lang="en-IN"/>
        </a:p>
      </dgm:t>
    </dgm:pt>
    <dgm:pt modelId="{B55B0BB1-E5B4-4258-9796-0FAB102DE77D}" type="sibTrans" cxnId="{6A731A0A-DB68-4948-8532-F533510AABE0}">
      <dgm:prSet/>
      <dgm:spPr/>
      <dgm:t>
        <a:bodyPr/>
        <a:lstStyle/>
        <a:p>
          <a:endParaRPr lang="en-IN"/>
        </a:p>
      </dgm:t>
    </dgm:pt>
    <dgm:pt modelId="{BD3F2D1F-19A5-437F-B926-F43BD82F0AC9}" type="pres">
      <dgm:prSet presAssocID="{2F5DFFBF-D263-45C9-866E-1336FA8DCAE2}" presName="layout" presStyleCnt="0">
        <dgm:presLayoutVars>
          <dgm:chMax/>
          <dgm:chPref/>
          <dgm:dir/>
          <dgm:resizeHandles/>
        </dgm:presLayoutVars>
      </dgm:prSet>
      <dgm:spPr/>
    </dgm:pt>
    <dgm:pt modelId="{52C6A056-F6C9-4D6A-B251-7A979F53AACB}" type="pres">
      <dgm:prSet presAssocID="{58AF0F25-93C3-4FA9-A9BB-2E58EC28F812}" presName="root" presStyleCnt="0">
        <dgm:presLayoutVars>
          <dgm:chMax/>
          <dgm:chPref/>
        </dgm:presLayoutVars>
      </dgm:prSet>
      <dgm:spPr/>
    </dgm:pt>
    <dgm:pt modelId="{47E65B5C-DA9B-4DE2-BF14-6A3B6D0B8A8F}" type="pres">
      <dgm:prSet presAssocID="{58AF0F25-93C3-4FA9-A9BB-2E58EC28F812}" presName="rootComposite" presStyleCnt="0">
        <dgm:presLayoutVars/>
      </dgm:prSet>
      <dgm:spPr/>
    </dgm:pt>
    <dgm:pt modelId="{086A59F3-6F30-4292-BC77-6271A40D4A37}" type="pres">
      <dgm:prSet presAssocID="{58AF0F25-93C3-4FA9-A9BB-2E58EC28F812}" presName="ParentAccent" presStyleLbl="alignNode1" presStyleIdx="0" presStyleCnt="2" custLinFactNeighborY="-44491"/>
      <dgm:spPr/>
    </dgm:pt>
    <dgm:pt modelId="{37CAD175-8090-4EBC-97D4-35DC1E4019C0}" type="pres">
      <dgm:prSet presAssocID="{58AF0F25-93C3-4FA9-A9BB-2E58EC28F812}" presName="ParentSmallAccent" presStyleLbl="fgAcc1" presStyleIdx="0" presStyleCnt="2" custLinFactNeighborX="-3490" custLinFactNeighborY="-76000"/>
      <dgm:spPr/>
    </dgm:pt>
    <dgm:pt modelId="{59806BFC-F775-405F-9C3B-64BAE9F9E933}" type="pres">
      <dgm:prSet presAssocID="{58AF0F25-93C3-4FA9-A9BB-2E58EC28F812}" presName="Parent" presStyleLbl="revTx" presStyleIdx="0" presStyleCnt="7">
        <dgm:presLayoutVars>
          <dgm:chMax/>
          <dgm:chPref val="4"/>
          <dgm:bulletEnabled val="1"/>
        </dgm:presLayoutVars>
      </dgm:prSet>
      <dgm:spPr/>
    </dgm:pt>
    <dgm:pt modelId="{6B1E2423-7995-4CC3-844E-5ED447AC39BB}" type="pres">
      <dgm:prSet presAssocID="{58AF0F25-93C3-4FA9-A9BB-2E58EC28F812}" presName="childShape" presStyleCnt="0">
        <dgm:presLayoutVars>
          <dgm:chMax val="0"/>
          <dgm:chPref val="0"/>
        </dgm:presLayoutVars>
      </dgm:prSet>
      <dgm:spPr/>
    </dgm:pt>
    <dgm:pt modelId="{24E7D993-1EC0-4A38-AE10-EFDF033D616B}" type="pres">
      <dgm:prSet presAssocID="{75179E2E-1BDC-4325-8410-15B40813C8A1}" presName="childComposite" presStyleCnt="0">
        <dgm:presLayoutVars>
          <dgm:chMax val="0"/>
          <dgm:chPref val="0"/>
        </dgm:presLayoutVars>
      </dgm:prSet>
      <dgm:spPr/>
    </dgm:pt>
    <dgm:pt modelId="{992A7F1F-F5CC-4BA0-AC56-89CE6D612CD6}" type="pres">
      <dgm:prSet presAssocID="{75179E2E-1BDC-4325-8410-15B40813C8A1}" presName="ChildAccent" presStyleLbl="solidFgAcc1" presStyleIdx="0" presStyleCnt="5" custLinFactNeighborY="-85502"/>
      <dgm:spPr/>
    </dgm:pt>
    <dgm:pt modelId="{A5E3E7EF-81BC-4A5F-877A-B16AB791602C}" type="pres">
      <dgm:prSet presAssocID="{75179E2E-1BDC-4325-8410-15B40813C8A1}" presName="Child" presStyleLbl="revTx" presStyleIdx="1" presStyleCnt="7" custLinFactNeighborX="1041" custLinFactNeighborY="-35661">
        <dgm:presLayoutVars>
          <dgm:chMax val="0"/>
          <dgm:chPref val="0"/>
          <dgm:bulletEnabled val="1"/>
        </dgm:presLayoutVars>
      </dgm:prSet>
      <dgm:spPr/>
    </dgm:pt>
    <dgm:pt modelId="{5FFFBE34-9528-41EB-A5BA-7085962E95B5}" type="pres">
      <dgm:prSet presAssocID="{5159C9B5-5AFF-4FE8-A266-603507A92A2D}" presName="childComposite" presStyleCnt="0">
        <dgm:presLayoutVars>
          <dgm:chMax val="0"/>
          <dgm:chPref val="0"/>
        </dgm:presLayoutVars>
      </dgm:prSet>
      <dgm:spPr/>
    </dgm:pt>
    <dgm:pt modelId="{F0501641-7A12-4835-AA39-82B8FDCF1AED}" type="pres">
      <dgm:prSet presAssocID="{5159C9B5-5AFF-4FE8-A266-603507A92A2D}" presName="ChildAccent" presStyleLbl="solidFgAcc1" presStyleIdx="1" presStyleCnt="5" custLinFactNeighborX="-2375" custLinFactNeighborY="-87877"/>
      <dgm:spPr/>
    </dgm:pt>
    <dgm:pt modelId="{ACD49CC7-2838-4E09-9CB4-5E6DC4342C6F}" type="pres">
      <dgm:prSet presAssocID="{5159C9B5-5AFF-4FE8-A266-603507A92A2D}" presName="Child" presStyleLbl="revTx" presStyleIdx="2" presStyleCnt="7" custLinFactNeighborX="188" custLinFactNeighborY="-31586">
        <dgm:presLayoutVars>
          <dgm:chMax val="0"/>
          <dgm:chPref val="0"/>
          <dgm:bulletEnabled val="1"/>
        </dgm:presLayoutVars>
      </dgm:prSet>
      <dgm:spPr/>
    </dgm:pt>
    <dgm:pt modelId="{631FB53F-460E-4200-B683-3A4DAC02CC4C}" type="pres">
      <dgm:prSet presAssocID="{43992994-14C7-44AC-A701-202D68649DE0}" presName="childComposite" presStyleCnt="0">
        <dgm:presLayoutVars>
          <dgm:chMax val="0"/>
          <dgm:chPref val="0"/>
        </dgm:presLayoutVars>
      </dgm:prSet>
      <dgm:spPr/>
    </dgm:pt>
    <dgm:pt modelId="{FA97BB11-91DA-48E9-9E7E-6B4E5B808ED7}" type="pres">
      <dgm:prSet presAssocID="{43992994-14C7-44AC-A701-202D68649DE0}" presName="ChildAccent" presStyleLbl="solidFgAcc1" presStyleIdx="2" presStyleCnt="5" custLinFactY="-8665" custLinFactNeighborY="-100000"/>
      <dgm:spPr/>
    </dgm:pt>
    <dgm:pt modelId="{86547F45-DBD5-4AAE-B8AE-CBAA636CFB83}" type="pres">
      <dgm:prSet presAssocID="{43992994-14C7-44AC-A701-202D68649DE0}" presName="Child" presStyleLbl="revTx" presStyleIdx="3" presStyleCnt="7" custLinFactNeighborX="750" custLinFactNeighborY="-42794">
        <dgm:presLayoutVars>
          <dgm:chMax val="0"/>
          <dgm:chPref val="0"/>
          <dgm:bulletEnabled val="1"/>
        </dgm:presLayoutVars>
      </dgm:prSet>
      <dgm:spPr/>
    </dgm:pt>
    <dgm:pt modelId="{2D72DB86-2005-4F2B-94A2-FDE418793FBA}" type="pres">
      <dgm:prSet presAssocID="{99AC8C28-F118-4E0C-8054-18CA9BB3ECED}" presName="root" presStyleCnt="0">
        <dgm:presLayoutVars>
          <dgm:chMax/>
          <dgm:chPref/>
        </dgm:presLayoutVars>
      </dgm:prSet>
      <dgm:spPr/>
    </dgm:pt>
    <dgm:pt modelId="{73C7B277-5A3F-4C4D-85C4-36BE1CA40E70}" type="pres">
      <dgm:prSet presAssocID="{99AC8C28-F118-4E0C-8054-18CA9BB3ECED}" presName="rootComposite" presStyleCnt="0">
        <dgm:presLayoutVars/>
      </dgm:prSet>
      <dgm:spPr/>
    </dgm:pt>
    <dgm:pt modelId="{A454FB86-9948-4D6F-A03B-F8EF25C9BDCD}" type="pres">
      <dgm:prSet presAssocID="{99AC8C28-F118-4E0C-8054-18CA9BB3ECED}" presName="ParentAccent" presStyleLbl="alignNode1" presStyleIdx="1" presStyleCnt="2" custLinFactNeighborX="174" custLinFactNeighborY="-50423"/>
      <dgm:spPr/>
    </dgm:pt>
    <dgm:pt modelId="{8052CB45-0D45-410C-8CEC-BB9E808E4571}" type="pres">
      <dgm:prSet presAssocID="{99AC8C28-F118-4E0C-8054-18CA9BB3ECED}" presName="ParentSmallAccent" presStyleLbl="fgAcc1" presStyleIdx="1" presStyleCnt="2" custLinFactNeighborX="2375" custLinFactNeighborY="-83125"/>
      <dgm:spPr/>
    </dgm:pt>
    <dgm:pt modelId="{9E37BE37-B53C-47D0-AA09-7C5C6EB51506}" type="pres">
      <dgm:prSet presAssocID="{99AC8C28-F118-4E0C-8054-18CA9BB3ECED}" presName="Parent" presStyleLbl="revTx" presStyleIdx="4" presStyleCnt="7">
        <dgm:presLayoutVars>
          <dgm:chMax/>
          <dgm:chPref val="4"/>
          <dgm:bulletEnabled val="1"/>
        </dgm:presLayoutVars>
      </dgm:prSet>
      <dgm:spPr/>
    </dgm:pt>
    <dgm:pt modelId="{662D051B-0F78-46E3-957C-B913420D71D7}" type="pres">
      <dgm:prSet presAssocID="{99AC8C28-F118-4E0C-8054-18CA9BB3ECED}" presName="childShape" presStyleCnt="0">
        <dgm:presLayoutVars>
          <dgm:chMax val="0"/>
          <dgm:chPref val="0"/>
        </dgm:presLayoutVars>
      </dgm:prSet>
      <dgm:spPr/>
    </dgm:pt>
    <dgm:pt modelId="{808E024E-0598-4039-B6B3-A1EBF6CD080F}" type="pres">
      <dgm:prSet presAssocID="{B74DB0ED-DE6B-45CD-958F-D3E60FFB0ED2}" presName="childComposite" presStyleCnt="0">
        <dgm:presLayoutVars>
          <dgm:chMax val="0"/>
          <dgm:chPref val="0"/>
        </dgm:presLayoutVars>
      </dgm:prSet>
      <dgm:spPr/>
    </dgm:pt>
    <dgm:pt modelId="{A7743B17-F71B-4C7D-BA9E-E2CDD5BDE2B5}" type="pres">
      <dgm:prSet presAssocID="{B74DB0ED-DE6B-45CD-958F-D3E60FFB0ED2}" presName="ChildAccent" presStyleLbl="solidFgAcc1" presStyleIdx="3" presStyleCnt="5" custLinFactNeighborY="-71251"/>
      <dgm:spPr/>
    </dgm:pt>
    <dgm:pt modelId="{ADDFD1E3-A076-4A7B-B25A-3273EC253784}" type="pres">
      <dgm:prSet presAssocID="{B74DB0ED-DE6B-45CD-958F-D3E60FFB0ED2}" presName="Child" presStyleLbl="revTx" presStyleIdx="5" presStyleCnt="7" custLinFactNeighborY="-30567">
        <dgm:presLayoutVars>
          <dgm:chMax val="0"/>
          <dgm:chPref val="0"/>
          <dgm:bulletEnabled val="1"/>
        </dgm:presLayoutVars>
      </dgm:prSet>
      <dgm:spPr/>
    </dgm:pt>
    <dgm:pt modelId="{C4A34ABD-1712-4F2F-87A7-A7D631A533AC}" type="pres">
      <dgm:prSet presAssocID="{C4824588-9814-4678-A58C-63ECDFB7C681}" presName="childComposite" presStyleCnt="0">
        <dgm:presLayoutVars>
          <dgm:chMax val="0"/>
          <dgm:chPref val="0"/>
        </dgm:presLayoutVars>
      </dgm:prSet>
      <dgm:spPr/>
    </dgm:pt>
    <dgm:pt modelId="{24C06159-970F-4A87-92F5-A6D0F06D6CA1}" type="pres">
      <dgm:prSet presAssocID="{C4824588-9814-4678-A58C-63ECDFB7C681}" presName="ChildAccent" presStyleLbl="solidFgAcc1" presStyleIdx="4" presStyleCnt="5" custLinFactNeighborY="-80752"/>
      <dgm:spPr/>
    </dgm:pt>
    <dgm:pt modelId="{41D9E864-122E-4F69-82CC-E19A7B771C60}" type="pres">
      <dgm:prSet presAssocID="{C4824588-9814-4678-A58C-63ECDFB7C681}" presName="Child" presStyleLbl="revTx" presStyleIdx="6" presStyleCnt="7" custLinFactNeighborY="-30567">
        <dgm:presLayoutVars>
          <dgm:chMax val="0"/>
          <dgm:chPref val="0"/>
          <dgm:bulletEnabled val="1"/>
        </dgm:presLayoutVars>
      </dgm:prSet>
      <dgm:spPr/>
    </dgm:pt>
  </dgm:ptLst>
  <dgm:cxnLst>
    <dgm:cxn modelId="{6A731A0A-DB68-4948-8532-F533510AABE0}" srcId="{99AC8C28-F118-4E0C-8054-18CA9BB3ECED}" destId="{C4824588-9814-4678-A58C-63ECDFB7C681}" srcOrd="1" destOrd="0" parTransId="{231D3E90-BC0D-49FD-8B71-8377DE0BC076}" sibTransId="{B55B0BB1-E5B4-4258-9796-0FAB102DE77D}"/>
    <dgm:cxn modelId="{DB9B3A16-847B-4631-AC6A-BE75FA95A9F5}" srcId="{2F5DFFBF-D263-45C9-866E-1336FA8DCAE2}" destId="{99AC8C28-F118-4E0C-8054-18CA9BB3ECED}" srcOrd="1" destOrd="0" parTransId="{BAA20783-E7BE-474F-B37D-EF495CE10107}" sibTransId="{9D2CD9E1-D614-42E9-A054-7CA412994EB1}"/>
    <dgm:cxn modelId="{FFE2921C-E6D2-43CB-AC2A-705730DB5970}" srcId="{58AF0F25-93C3-4FA9-A9BB-2E58EC28F812}" destId="{43992994-14C7-44AC-A701-202D68649DE0}" srcOrd="2" destOrd="0" parTransId="{59558665-9DD6-4A76-9669-AADD71CFD8C7}" sibTransId="{FED5F78C-964D-4196-8156-C650A136D1DF}"/>
    <dgm:cxn modelId="{C5AD3C26-4C60-401A-996B-A6011E11B27A}" srcId="{99AC8C28-F118-4E0C-8054-18CA9BB3ECED}" destId="{B74DB0ED-DE6B-45CD-958F-D3E60FFB0ED2}" srcOrd="0" destOrd="0" parTransId="{1D00FB65-0212-4DD3-B7CD-F29612C7E799}" sibTransId="{4F9AE766-FDCC-452F-BC36-406A6ECBC096}"/>
    <dgm:cxn modelId="{00307A5D-6D0B-413D-9676-E4499AF15F7A}" srcId="{58AF0F25-93C3-4FA9-A9BB-2E58EC28F812}" destId="{5159C9B5-5AFF-4FE8-A266-603507A92A2D}" srcOrd="1" destOrd="0" parTransId="{05A6C09B-0D4B-4EE7-A25A-01B5B520BF38}" sibTransId="{C881BD39-20DB-415B-8700-BED2FD7C7BCA}"/>
    <dgm:cxn modelId="{24A41946-1303-484B-A60A-185774A6397E}" type="presOf" srcId="{99AC8C28-F118-4E0C-8054-18CA9BB3ECED}" destId="{9E37BE37-B53C-47D0-AA09-7C5C6EB51506}" srcOrd="0" destOrd="0" presId="urn:microsoft.com/office/officeart/2008/layout/SquareAccentList"/>
    <dgm:cxn modelId="{8BC5004A-624D-43EE-8E5E-00C3480D2FA0}" type="presOf" srcId="{75179E2E-1BDC-4325-8410-15B40813C8A1}" destId="{A5E3E7EF-81BC-4A5F-877A-B16AB791602C}" srcOrd="0" destOrd="0" presId="urn:microsoft.com/office/officeart/2008/layout/SquareAccentList"/>
    <dgm:cxn modelId="{5FA39F4A-3541-4FAE-9BB4-89A3ADCB93E7}" type="presOf" srcId="{C4824588-9814-4678-A58C-63ECDFB7C681}" destId="{41D9E864-122E-4F69-82CC-E19A7B771C60}" srcOrd="0" destOrd="0" presId="urn:microsoft.com/office/officeart/2008/layout/SquareAccentList"/>
    <dgm:cxn modelId="{C458A84D-EEEF-4B9D-81A7-E09553B1C4F9}" type="presOf" srcId="{2F5DFFBF-D263-45C9-866E-1336FA8DCAE2}" destId="{BD3F2D1F-19A5-437F-B926-F43BD82F0AC9}" srcOrd="0" destOrd="0" presId="urn:microsoft.com/office/officeart/2008/layout/SquareAccentList"/>
    <dgm:cxn modelId="{54BEF159-42F4-4105-A8D6-C99F28AE06B7}" srcId="{58AF0F25-93C3-4FA9-A9BB-2E58EC28F812}" destId="{75179E2E-1BDC-4325-8410-15B40813C8A1}" srcOrd="0" destOrd="0" parTransId="{EF7C90DF-03E2-4CC1-93E1-6E65D359DE84}" sibTransId="{3B950EFC-891F-4EE0-A66E-9CC81435FA18}"/>
    <dgm:cxn modelId="{65604989-325D-4233-BA40-FDA95F1AD123}" type="presOf" srcId="{58AF0F25-93C3-4FA9-A9BB-2E58EC28F812}" destId="{59806BFC-F775-405F-9C3B-64BAE9F9E933}" srcOrd="0" destOrd="0" presId="urn:microsoft.com/office/officeart/2008/layout/SquareAccentList"/>
    <dgm:cxn modelId="{F155FDB4-4D5F-4763-8B42-A6D081277751}" type="presOf" srcId="{B74DB0ED-DE6B-45CD-958F-D3E60FFB0ED2}" destId="{ADDFD1E3-A076-4A7B-B25A-3273EC253784}" srcOrd="0" destOrd="0" presId="urn:microsoft.com/office/officeart/2008/layout/SquareAccentList"/>
    <dgm:cxn modelId="{BE2927D1-A6AF-485E-8197-B72EB0C95721}" type="presOf" srcId="{5159C9B5-5AFF-4FE8-A266-603507A92A2D}" destId="{ACD49CC7-2838-4E09-9CB4-5E6DC4342C6F}" srcOrd="0" destOrd="0" presId="urn:microsoft.com/office/officeart/2008/layout/SquareAccentList"/>
    <dgm:cxn modelId="{3DDB0BF2-7B79-4291-BE49-BF69147A69B7}" srcId="{2F5DFFBF-D263-45C9-866E-1336FA8DCAE2}" destId="{58AF0F25-93C3-4FA9-A9BB-2E58EC28F812}" srcOrd="0" destOrd="0" parTransId="{6639EB0B-2245-4A3A-9812-101845D1E1A3}" sibTransId="{4E867B2C-D7E7-4C32-A839-42283B50D32F}"/>
    <dgm:cxn modelId="{1D0165FC-4889-41F3-9855-21B6FA7711A3}" type="presOf" srcId="{43992994-14C7-44AC-A701-202D68649DE0}" destId="{86547F45-DBD5-4AAE-B8AE-CBAA636CFB83}" srcOrd="0" destOrd="0" presId="urn:microsoft.com/office/officeart/2008/layout/SquareAccentList"/>
    <dgm:cxn modelId="{850F16D0-1FE7-4D5C-BEBC-EDE90CC25D8B}" type="presParOf" srcId="{BD3F2D1F-19A5-437F-B926-F43BD82F0AC9}" destId="{52C6A056-F6C9-4D6A-B251-7A979F53AACB}" srcOrd="0" destOrd="0" presId="urn:microsoft.com/office/officeart/2008/layout/SquareAccentList"/>
    <dgm:cxn modelId="{E61535DE-0928-4DE5-B6C6-41C93E40CE14}" type="presParOf" srcId="{52C6A056-F6C9-4D6A-B251-7A979F53AACB}" destId="{47E65B5C-DA9B-4DE2-BF14-6A3B6D0B8A8F}" srcOrd="0" destOrd="0" presId="urn:microsoft.com/office/officeart/2008/layout/SquareAccentList"/>
    <dgm:cxn modelId="{3F8D8063-8E18-49E5-8C24-A08B69CD2285}" type="presParOf" srcId="{47E65B5C-DA9B-4DE2-BF14-6A3B6D0B8A8F}" destId="{086A59F3-6F30-4292-BC77-6271A40D4A37}" srcOrd="0" destOrd="0" presId="urn:microsoft.com/office/officeart/2008/layout/SquareAccentList"/>
    <dgm:cxn modelId="{7AC646A5-E009-4052-94F2-E6985B8C75FC}" type="presParOf" srcId="{47E65B5C-DA9B-4DE2-BF14-6A3B6D0B8A8F}" destId="{37CAD175-8090-4EBC-97D4-35DC1E4019C0}" srcOrd="1" destOrd="0" presId="urn:microsoft.com/office/officeart/2008/layout/SquareAccentList"/>
    <dgm:cxn modelId="{9563D280-55BD-4234-A4C8-0F0D09971E6F}" type="presParOf" srcId="{47E65B5C-DA9B-4DE2-BF14-6A3B6D0B8A8F}" destId="{59806BFC-F775-405F-9C3B-64BAE9F9E933}" srcOrd="2" destOrd="0" presId="urn:microsoft.com/office/officeart/2008/layout/SquareAccentList"/>
    <dgm:cxn modelId="{11343BA0-2A2C-4A02-9F61-3B24A194D8AC}" type="presParOf" srcId="{52C6A056-F6C9-4D6A-B251-7A979F53AACB}" destId="{6B1E2423-7995-4CC3-844E-5ED447AC39BB}" srcOrd="1" destOrd="0" presId="urn:microsoft.com/office/officeart/2008/layout/SquareAccentList"/>
    <dgm:cxn modelId="{5AFF054D-6DCE-4A5E-9DFA-7C593B867662}" type="presParOf" srcId="{6B1E2423-7995-4CC3-844E-5ED447AC39BB}" destId="{24E7D993-1EC0-4A38-AE10-EFDF033D616B}" srcOrd="0" destOrd="0" presId="urn:microsoft.com/office/officeart/2008/layout/SquareAccentList"/>
    <dgm:cxn modelId="{DEC32CA4-C377-4B27-9786-8E3C1A42ED5C}" type="presParOf" srcId="{24E7D993-1EC0-4A38-AE10-EFDF033D616B}" destId="{992A7F1F-F5CC-4BA0-AC56-89CE6D612CD6}" srcOrd="0" destOrd="0" presId="urn:microsoft.com/office/officeart/2008/layout/SquareAccentList"/>
    <dgm:cxn modelId="{043B95FB-215B-42A1-82ED-159FD4568CFB}" type="presParOf" srcId="{24E7D993-1EC0-4A38-AE10-EFDF033D616B}" destId="{A5E3E7EF-81BC-4A5F-877A-B16AB791602C}" srcOrd="1" destOrd="0" presId="urn:microsoft.com/office/officeart/2008/layout/SquareAccentList"/>
    <dgm:cxn modelId="{B3B20E18-64AE-4622-8D2D-0FA0E059FAAA}" type="presParOf" srcId="{6B1E2423-7995-4CC3-844E-5ED447AC39BB}" destId="{5FFFBE34-9528-41EB-A5BA-7085962E95B5}" srcOrd="1" destOrd="0" presId="urn:microsoft.com/office/officeart/2008/layout/SquareAccentList"/>
    <dgm:cxn modelId="{27727CFC-3491-4224-A984-A234EADCD93C}" type="presParOf" srcId="{5FFFBE34-9528-41EB-A5BA-7085962E95B5}" destId="{F0501641-7A12-4835-AA39-82B8FDCF1AED}" srcOrd="0" destOrd="0" presId="urn:microsoft.com/office/officeart/2008/layout/SquareAccentList"/>
    <dgm:cxn modelId="{C0F79B71-2B87-4BA0-8813-50AE132ECAC5}" type="presParOf" srcId="{5FFFBE34-9528-41EB-A5BA-7085962E95B5}" destId="{ACD49CC7-2838-4E09-9CB4-5E6DC4342C6F}" srcOrd="1" destOrd="0" presId="urn:microsoft.com/office/officeart/2008/layout/SquareAccentList"/>
    <dgm:cxn modelId="{F575DC91-A016-4495-935C-F0FC698BABD9}" type="presParOf" srcId="{6B1E2423-7995-4CC3-844E-5ED447AC39BB}" destId="{631FB53F-460E-4200-B683-3A4DAC02CC4C}" srcOrd="2" destOrd="0" presId="urn:microsoft.com/office/officeart/2008/layout/SquareAccentList"/>
    <dgm:cxn modelId="{B4B84CD4-9EEA-4EEE-94A6-8CB05A7CE99E}" type="presParOf" srcId="{631FB53F-460E-4200-B683-3A4DAC02CC4C}" destId="{FA97BB11-91DA-48E9-9E7E-6B4E5B808ED7}" srcOrd="0" destOrd="0" presId="urn:microsoft.com/office/officeart/2008/layout/SquareAccentList"/>
    <dgm:cxn modelId="{E1901700-2ED0-4665-872A-5F1C0E4716E3}" type="presParOf" srcId="{631FB53F-460E-4200-B683-3A4DAC02CC4C}" destId="{86547F45-DBD5-4AAE-B8AE-CBAA636CFB83}" srcOrd="1" destOrd="0" presId="urn:microsoft.com/office/officeart/2008/layout/SquareAccentList"/>
    <dgm:cxn modelId="{07417318-5E16-4A84-9A7D-6DBC249BFCE9}" type="presParOf" srcId="{BD3F2D1F-19A5-437F-B926-F43BD82F0AC9}" destId="{2D72DB86-2005-4F2B-94A2-FDE418793FBA}" srcOrd="1" destOrd="0" presId="urn:microsoft.com/office/officeart/2008/layout/SquareAccentList"/>
    <dgm:cxn modelId="{16D5238A-E7E3-4F78-90D0-81EF1FE88637}" type="presParOf" srcId="{2D72DB86-2005-4F2B-94A2-FDE418793FBA}" destId="{73C7B277-5A3F-4C4D-85C4-36BE1CA40E70}" srcOrd="0" destOrd="0" presId="urn:microsoft.com/office/officeart/2008/layout/SquareAccentList"/>
    <dgm:cxn modelId="{9EC5DD5B-0271-4870-B807-F0BABE81FD1E}" type="presParOf" srcId="{73C7B277-5A3F-4C4D-85C4-36BE1CA40E70}" destId="{A454FB86-9948-4D6F-A03B-F8EF25C9BDCD}" srcOrd="0" destOrd="0" presId="urn:microsoft.com/office/officeart/2008/layout/SquareAccentList"/>
    <dgm:cxn modelId="{44BAE62E-F785-45DC-8198-C175CC298726}" type="presParOf" srcId="{73C7B277-5A3F-4C4D-85C4-36BE1CA40E70}" destId="{8052CB45-0D45-410C-8CEC-BB9E808E4571}" srcOrd="1" destOrd="0" presId="urn:microsoft.com/office/officeart/2008/layout/SquareAccentList"/>
    <dgm:cxn modelId="{DD6BE814-2194-45A3-9443-BDE6998A6C94}" type="presParOf" srcId="{73C7B277-5A3F-4C4D-85C4-36BE1CA40E70}" destId="{9E37BE37-B53C-47D0-AA09-7C5C6EB51506}" srcOrd="2" destOrd="0" presId="urn:microsoft.com/office/officeart/2008/layout/SquareAccentList"/>
    <dgm:cxn modelId="{DCE064F3-97CA-42EF-A705-D8E95BB400E8}" type="presParOf" srcId="{2D72DB86-2005-4F2B-94A2-FDE418793FBA}" destId="{662D051B-0F78-46E3-957C-B913420D71D7}" srcOrd="1" destOrd="0" presId="urn:microsoft.com/office/officeart/2008/layout/SquareAccentList"/>
    <dgm:cxn modelId="{857FB7E3-AF9A-480E-A84F-82669D2CA22E}" type="presParOf" srcId="{662D051B-0F78-46E3-957C-B913420D71D7}" destId="{808E024E-0598-4039-B6B3-A1EBF6CD080F}" srcOrd="0" destOrd="0" presId="urn:microsoft.com/office/officeart/2008/layout/SquareAccentList"/>
    <dgm:cxn modelId="{35A5FFFD-C531-421A-8AFE-F9D62E571883}" type="presParOf" srcId="{808E024E-0598-4039-B6B3-A1EBF6CD080F}" destId="{A7743B17-F71B-4C7D-BA9E-E2CDD5BDE2B5}" srcOrd="0" destOrd="0" presId="urn:microsoft.com/office/officeart/2008/layout/SquareAccentList"/>
    <dgm:cxn modelId="{7C5DCEDB-E9BA-48EB-A98D-589A5E903F02}" type="presParOf" srcId="{808E024E-0598-4039-B6B3-A1EBF6CD080F}" destId="{ADDFD1E3-A076-4A7B-B25A-3273EC253784}" srcOrd="1" destOrd="0" presId="urn:microsoft.com/office/officeart/2008/layout/SquareAccentList"/>
    <dgm:cxn modelId="{43F9D792-1311-410C-99EC-2D2A6D614A26}" type="presParOf" srcId="{662D051B-0F78-46E3-957C-B913420D71D7}" destId="{C4A34ABD-1712-4F2F-87A7-A7D631A533AC}" srcOrd="1" destOrd="0" presId="urn:microsoft.com/office/officeart/2008/layout/SquareAccentList"/>
    <dgm:cxn modelId="{413B64F1-4E10-4A31-BC15-761F6BA2AF88}" type="presParOf" srcId="{C4A34ABD-1712-4F2F-87A7-A7D631A533AC}" destId="{24C06159-970F-4A87-92F5-A6D0F06D6CA1}" srcOrd="0" destOrd="0" presId="urn:microsoft.com/office/officeart/2008/layout/SquareAccentList"/>
    <dgm:cxn modelId="{B12712F2-7F61-47AC-A362-D04E87012C8A}" type="presParOf" srcId="{C4A34ABD-1712-4F2F-87A7-A7D631A533AC}" destId="{41D9E864-122E-4F69-82CC-E19A7B771C60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C312E2-3A1D-4225-B73B-57393D1B7E07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F7B0094-0A8F-42F4-9D09-3A1F0A7179DC}">
      <dgm:prSet phldrT="[Text]"/>
      <dgm:spPr/>
      <dgm:t>
        <a:bodyPr/>
        <a:lstStyle/>
        <a:p>
          <a:r>
            <a:rPr lang="en-US"/>
            <a:t>Step 1</a:t>
          </a:r>
          <a:endParaRPr lang="en-IN"/>
        </a:p>
      </dgm:t>
    </dgm:pt>
    <dgm:pt modelId="{7B08C34C-6008-4683-B31A-17C350E8F1AB}" type="parTrans" cxnId="{5B46CB5E-F0FE-4B80-A57C-A90D15F9F372}">
      <dgm:prSet/>
      <dgm:spPr/>
      <dgm:t>
        <a:bodyPr/>
        <a:lstStyle/>
        <a:p>
          <a:endParaRPr lang="en-IN"/>
        </a:p>
      </dgm:t>
    </dgm:pt>
    <dgm:pt modelId="{33FEB7BE-87C7-4362-ABBC-258E1CC4899A}" type="sibTrans" cxnId="{5B46CB5E-F0FE-4B80-A57C-A90D15F9F372}">
      <dgm:prSet/>
      <dgm:spPr/>
      <dgm:t>
        <a:bodyPr/>
        <a:lstStyle/>
        <a:p>
          <a:endParaRPr lang="en-IN"/>
        </a:p>
      </dgm:t>
    </dgm:pt>
    <dgm:pt modelId="{AADF5317-A35F-446C-80FA-E1DAC119A518}">
      <dgm:prSet phldrT="[Text]"/>
      <dgm:spPr/>
      <dgm:t>
        <a:bodyPr/>
        <a:lstStyle/>
        <a:p>
          <a:pPr>
            <a:buClr>
              <a:schemeClr val="dk1"/>
            </a:buClr>
            <a:buSzPts val="1100"/>
            <a:buFont typeface="Arial"/>
            <a:buNone/>
          </a:pPr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Cox Parameters:-</a:t>
          </a:r>
          <a:endParaRPr lang="en-IN"/>
        </a:p>
      </dgm:t>
    </dgm:pt>
    <dgm:pt modelId="{8334702B-B0FF-4F47-BEB3-03A62FAB3E2F}" type="parTrans" cxnId="{138EAF50-CE47-4A7A-B4A4-4E67577C3720}">
      <dgm:prSet/>
      <dgm:spPr/>
      <dgm:t>
        <a:bodyPr/>
        <a:lstStyle/>
        <a:p>
          <a:endParaRPr lang="en-IN"/>
        </a:p>
      </dgm:t>
    </dgm:pt>
    <dgm:pt modelId="{595A7BE4-BDE6-4190-B849-4783F5C8AA5A}" type="sibTrans" cxnId="{138EAF50-CE47-4A7A-B4A4-4E67577C3720}">
      <dgm:prSet/>
      <dgm:spPr/>
      <dgm:t>
        <a:bodyPr/>
        <a:lstStyle/>
        <a:p>
          <a:endParaRPr lang="en-IN"/>
        </a:p>
      </dgm:t>
    </dgm:pt>
    <dgm:pt modelId="{9CED67F1-C3A7-48DA-ADDD-4C3800DAA767}">
      <dgm:prSet phldrT="[Text]"/>
      <dgm:spPr/>
      <dgm:t>
        <a:bodyPr/>
        <a:lstStyle/>
        <a:p>
          <a:r>
            <a:rPr lang="en-US"/>
            <a:t>Step 2 </a:t>
          </a:r>
          <a:endParaRPr lang="en-IN"/>
        </a:p>
      </dgm:t>
    </dgm:pt>
    <dgm:pt modelId="{9407F0EA-88BE-44C7-B140-1A23C6D5C2E7}" type="parTrans" cxnId="{E230E9FC-682F-4D37-A9C2-2675B8FC71F3}">
      <dgm:prSet/>
      <dgm:spPr/>
      <dgm:t>
        <a:bodyPr/>
        <a:lstStyle/>
        <a:p>
          <a:endParaRPr lang="en-IN"/>
        </a:p>
      </dgm:t>
    </dgm:pt>
    <dgm:pt modelId="{DA78B5BC-9244-4AF1-BD5B-CDCDFFA3C1A3}" type="sibTrans" cxnId="{E230E9FC-682F-4D37-A9C2-2675B8FC71F3}">
      <dgm:prSet/>
      <dgm:spPr/>
      <dgm:t>
        <a:bodyPr/>
        <a:lstStyle/>
        <a:p>
          <a:endParaRPr lang="en-IN"/>
        </a:p>
      </dgm:t>
    </dgm:pt>
    <dgm:pt modelId="{F87C9F3E-2AD3-4C34-88F5-C0292DDB20EF}">
      <dgm:prSet phldrT="[Text]"/>
      <dgm:spPr/>
      <dgm:t>
        <a:bodyPr/>
        <a:lstStyle/>
        <a:p>
          <a:r>
            <a:rPr lang="en-US"/>
            <a:t>Hazard ratio, to get it we put it in the below equation </a:t>
          </a:r>
          <a:endParaRPr lang="en-IN"/>
        </a:p>
      </dgm:t>
    </dgm:pt>
    <dgm:pt modelId="{6C4C1C01-D555-4D19-AA0D-59929F52E445}" type="parTrans" cxnId="{94534E84-405C-457C-9DA1-F2A58EA2F6BC}">
      <dgm:prSet/>
      <dgm:spPr/>
      <dgm:t>
        <a:bodyPr/>
        <a:lstStyle/>
        <a:p>
          <a:endParaRPr lang="en-IN"/>
        </a:p>
      </dgm:t>
    </dgm:pt>
    <dgm:pt modelId="{9BA611DE-61C6-4A97-8FA0-606BE99141B1}" type="sibTrans" cxnId="{94534E84-405C-457C-9DA1-F2A58EA2F6BC}">
      <dgm:prSet/>
      <dgm:spPr/>
      <dgm:t>
        <a:bodyPr/>
        <a:lstStyle/>
        <a:p>
          <a:endParaRPr lang="en-IN"/>
        </a:p>
      </dgm:t>
    </dgm:pt>
    <dgm:pt modelId="{4749DF4D-4C07-46D8-836D-FFD81BC1AF0A}">
      <dgm:prSet phldrT="[Text]"/>
      <dgm:spPr/>
      <dgm:t>
        <a:bodyPr/>
        <a:lstStyle/>
        <a:p>
          <a:r>
            <a:rPr lang="en-US"/>
            <a:t>Step 3 </a:t>
          </a:r>
          <a:endParaRPr lang="en-IN"/>
        </a:p>
      </dgm:t>
    </dgm:pt>
    <dgm:pt modelId="{EDECB3EF-2F3E-4F0A-A1DC-D0D1E1F51C3C}" type="parTrans" cxnId="{A564BD26-B211-4DE5-A256-F6AA8DE3776A}">
      <dgm:prSet/>
      <dgm:spPr/>
      <dgm:t>
        <a:bodyPr/>
        <a:lstStyle/>
        <a:p>
          <a:endParaRPr lang="en-IN"/>
        </a:p>
      </dgm:t>
    </dgm:pt>
    <dgm:pt modelId="{5BA05DFE-F391-40BA-A054-0722C15D24C2}" type="sibTrans" cxnId="{A564BD26-B211-4DE5-A256-F6AA8DE3776A}">
      <dgm:prSet/>
      <dgm:spPr/>
      <dgm:t>
        <a:bodyPr/>
        <a:lstStyle/>
        <a:p>
          <a:endParaRPr lang="en-IN"/>
        </a:p>
      </dgm:t>
    </dgm:pt>
    <dgm:pt modelId="{05CAD295-7E93-40CD-B00B-D3242280DBE2}">
      <dgm:prSet phldrT="[Text]"/>
      <dgm:spPr/>
      <dgm:t>
        <a:bodyPr/>
        <a:lstStyle/>
        <a:p>
          <a:pPr>
            <a:buNone/>
          </a:pPr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Prioritization basis the COX Score which we divided the scores into 50</a:t>
          </a:r>
          <a:r>
            <a:rPr lang="en-US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th</a:t>
          </a:r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 and 75</a:t>
          </a:r>
          <a:r>
            <a:rPr lang="en-US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th</a:t>
          </a:r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 percentile and then divided them from P1 to P4</a:t>
          </a:r>
          <a:endParaRPr lang="en-IN"/>
        </a:p>
      </dgm:t>
    </dgm:pt>
    <dgm:pt modelId="{3FCA9F7F-90F1-4C8F-BCB4-CE4B0F804555}" type="parTrans" cxnId="{E3634084-1A16-4E27-AB63-2A61A6A8D584}">
      <dgm:prSet/>
      <dgm:spPr/>
      <dgm:t>
        <a:bodyPr/>
        <a:lstStyle/>
        <a:p>
          <a:endParaRPr lang="en-IN"/>
        </a:p>
      </dgm:t>
    </dgm:pt>
    <dgm:pt modelId="{0885FCE6-D0EE-4D19-B22D-95BCB8910450}" type="sibTrans" cxnId="{E3634084-1A16-4E27-AB63-2A61A6A8D584}">
      <dgm:prSet/>
      <dgm:spPr/>
      <dgm:t>
        <a:bodyPr/>
        <a:lstStyle/>
        <a:p>
          <a:endParaRPr lang="en-IN"/>
        </a:p>
      </dgm:t>
    </dgm:pt>
    <dgm:pt modelId="{9397A93D-EE8E-42DC-BA98-A18E887050DC}">
      <dgm:prSet/>
      <dgm:spPr/>
      <dgm:t>
        <a:bodyPr/>
        <a:lstStyle/>
        <a:p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Order Volume/month</a:t>
          </a:r>
        </a:p>
      </dgm:t>
    </dgm:pt>
    <dgm:pt modelId="{F05F2C30-678C-4319-ABF6-4DF34392A522}" type="parTrans" cxnId="{0DFCC971-A89D-40E3-88F8-B51F55A6116E}">
      <dgm:prSet/>
      <dgm:spPr/>
      <dgm:t>
        <a:bodyPr/>
        <a:lstStyle/>
        <a:p>
          <a:endParaRPr lang="en-IN"/>
        </a:p>
      </dgm:t>
    </dgm:pt>
    <dgm:pt modelId="{041886DA-B4A0-4F8E-8832-6904C5F8336E}" type="sibTrans" cxnId="{0DFCC971-A89D-40E3-88F8-B51F55A6116E}">
      <dgm:prSet/>
      <dgm:spPr/>
      <dgm:t>
        <a:bodyPr/>
        <a:lstStyle/>
        <a:p>
          <a:endParaRPr lang="en-IN"/>
        </a:p>
      </dgm:t>
    </dgm:pt>
    <dgm:pt modelId="{15FAFE73-15BE-4AA5-A77E-E4403FBB36E5}">
      <dgm:prSet/>
      <dgm:spPr/>
      <dgm:t>
        <a:bodyPr/>
        <a:lstStyle/>
        <a:p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Order Frequency/month</a:t>
          </a:r>
        </a:p>
      </dgm:t>
    </dgm:pt>
    <dgm:pt modelId="{964C5DA1-F239-434F-A130-D01021866B8E}" type="parTrans" cxnId="{6B32F57D-BC34-42B5-9010-7FFEB0C20E92}">
      <dgm:prSet/>
      <dgm:spPr/>
      <dgm:t>
        <a:bodyPr/>
        <a:lstStyle/>
        <a:p>
          <a:endParaRPr lang="en-IN"/>
        </a:p>
      </dgm:t>
    </dgm:pt>
    <dgm:pt modelId="{EF5B08A9-802D-41A8-AB34-046E52B930C1}" type="sibTrans" cxnId="{6B32F57D-BC34-42B5-9010-7FFEB0C20E92}">
      <dgm:prSet/>
      <dgm:spPr/>
      <dgm:t>
        <a:bodyPr/>
        <a:lstStyle/>
        <a:p>
          <a:endParaRPr lang="en-IN"/>
        </a:p>
      </dgm:t>
    </dgm:pt>
    <dgm:pt modelId="{7C603E74-95C1-4039-A226-438F9AA1AC05}">
      <dgm:prSet/>
      <dgm:spPr/>
      <dgm:t>
        <a:bodyPr/>
        <a:lstStyle/>
        <a:p>
          <a:r>
            <a:rPr lang="en-US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Months since last order</a:t>
          </a:r>
        </a:p>
      </dgm:t>
    </dgm:pt>
    <dgm:pt modelId="{F512C032-311F-413B-80EA-437E6771C85D}" type="parTrans" cxnId="{FEF0BA8A-B0CB-4A30-A084-34E0B6629135}">
      <dgm:prSet/>
      <dgm:spPr/>
      <dgm:t>
        <a:bodyPr/>
        <a:lstStyle/>
        <a:p>
          <a:endParaRPr lang="en-IN"/>
        </a:p>
      </dgm:t>
    </dgm:pt>
    <dgm:pt modelId="{6CE89751-210B-43B6-B43F-026129840283}" type="sibTrans" cxnId="{FEF0BA8A-B0CB-4A30-A084-34E0B6629135}">
      <dgm:prSet/>
      <dgm:spPr/>
      <dgm:t>
        <a:bodyPr/>
        <a:lstStyle/>
        <a:p>
          <a:endParaRPr lang="en-IN"/>
        </a:p>
      </dgm:t>
    </dgm:pt>
    <dgm:pt modelId="{819A6E7B-70D8-47B2-8A66-45517E280FB0}">
      <dgm:prSet phldrT="[Text]"/>
      <dgm:spPr/>
      <dgm:t>
        <a:bodyPr/>
        <a:lstStyle/>
        <a:p>
          <a:endParaRPr lang="en-IN"/>
        </a:p>
      </dgm:t>
    </dgm:pt>
    <dgm:pt modelId="{369BE201-FF71-4E1B-A16A-75CED2880619}" type="parTrans" cxnId="{98D0565F-7013-486B-8758-C2E52BAE7698}">
      <dgm:prSet/>
      <dgm:spPr/>
      <dgm:t>
        <a:bodyPr/>
        <a:lstStyle/>
        <a:p>
          <a:endParaRPr lang="en-IN"/>
        </a:p>
      </dgm:t>
    </dgm:pt>
    <dgm:pt modelId="{AF5DF76D-0D2A-4340-AC76-521868BAAF84}" type="sibTrans" cxnId="{98D0565F-7013-486B-8758-C2E52BAE7698}">
      <dgm:prSet/>
      <dgm:spPr/>
      <dgm:t>
        <a:bodyPr/>
        <a:lstStyle/>
        <a:p>
          <a:endParaRPr lang="en-IN"/>
        </a:p>
      </dgm:t>
    </dgm:pt>
    <dgm:pt modelId="{1D10C19C-D960-4B22-9817-6199067508FE}">
      <dgm:prSet phldrT="[Text]"/>
      <dgm:spPr/>
      <dgm:t>
        <a:bodyPr/>
        <a:lstStyle/>
        <a:p>
          <a:r>
            <a:rPr lang="en-US"/>
            <a:t>Here 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ẞ1= 0.00187 for the order volume/month </a:t>
          </a:r>
          <a:endParaRPr lang="en-IN"/>
        </a:p>
      </dgm:t>
    </dgm:pt>
    <dgm:pt modelId="{4E06C252-7917-46D6-BF09-D4D0C21780FE}" type="parTrans" cxnId="{CD5BB615-718D-4AA9-A6BE-29D73909AACB}">
      <dgm:prSet/>
      <dgm:spPr/>
      <dgm:t>
        <a:bodyPr/>
        <a:lstStyle/>
        <a:p>
          <a:endParaRPr lang="en-IN"/>
        </a:p>
      </dgm:t>
    </dgm:pt>
    <dgm:pt modelId="{E4DB7DC7-06B0-45FB-B632-6533B862B717}" type="sibTrans" cxnId="{CD5BB615-718D-4AA9-A6BE-29D73909AACB}">
      <dgm:prSet/>
      <dgm:spPr/>
      <dgm:t>
        <a:bodyPr/>
        <a:lstStyle/>
        <a:p>
          <a:endParaRPr lang="en-IN"/>
        </a:p>
      </dgm:t>
    </dgm:pt>
    <dgm:pt modelId="{9E78DD43-2B93-4E82-B3DA-4D881E74C68F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ẞ2= 0.169 for the order frequency/month</a:t>
          </a:r>
          <a:endParaRPr lang="en-IN"/>
        </a:p>
      </dgm:t>
    </dgm:pt>
    <dgm:pt modelId="{8A384A1B-87FC-4545-AD05-731A3B583F46}" type="parTrans" cxnId="{0523E1A6-615A-469E-807E-12AF03BDD432}">
      <dgm:prSet/>
      <dgm:spPr/>
      <dgm:t>
        <a:bodyPr/>
        <a:lstStyle/>
        <a:p>
          <a:endParaRPr lang="en-IN"/>
        </a:p>
      </dgm:t>
    </dgm:pt>
    <dgm:pt modelId="{583CE47F-BB4B-428C-A336-AE4562F0E439}" type="sibTrans" cxnId="{0523E1A6-615A-469E-807E-12AF03BDD432}">
      <dgm:prSet/>
      <dgm:spPr/>
      <dgm:t>
        <a:bodyPr/>
        <a:lstStyle/>
        <a:p>
          <a:endParaRPr lang="en-IN"/>
        </a:p>
      </dgm:t>
    </dgm:pt>
    <dgm:pt modelId="{5067CBDA-B749-40F6-BE9D-E952B0A70E9C}">
      <dgm:prSet phldrT="[Text]"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ẞ3= 1.109 for the months since last ordered </a:t>
          </a:r>
          <a:endParaRPr lang="en-IN"/>
        </a:p>
      </dgm:t>
    </dgm:pt>
    <dgm:pt modelId="{195DB47B-95A9-4CCD-A0CF-17EEBB71601E}" type="parTrans" cxnId="{F2359E45-2F80-448F-A072-F00F069D30CE}">
      <dgm:prSet/>
      <dgm:spPr/>
      <dgm:t>
        <a:bodyPr/>
        <a:lstStyle/>
        <a:p>
          <a:endParaRPr lang="en-IN"/>
        </a:p>
      </dgm:t>
    </dgm:pt>
    <dgm:pt modelId="{6EEE6F4A-6EA5-4013-B64E-8DFACDF4900D}" type="sibTrans" cxnId="{F2359E45-2F80-448F-A072-F00F069D30CE}">
      <dgm:prSet/>
      <dgm:spPr/>
      <dgm:t>
        <a:bodyPr/>
        <a:lstStyle/>
        <a:p>
          <a:endParaRPr lang="en-IN"/>
        </a:p>
      </dgm:t>
    </dgm:pt>
    <dgm:pt modelId="{5F31585A-B609-4863-8F77-C0C1B3236149}" type="pres">
      <dgm:prSet presAssocID="{AAC312E2-3A1D-4225-B73B-57393D1B7E07}" presName="linearFlow" presStyleCnt="0">
        <dgm:presLayoutVars>
          <dgm:dir/>
          <dgm:animLvl val="lvl"/>
          <dgm:resizeHandles val="exact"/>
        </dgm:presLayoutVars>
      </dgm:prSet>
      <dgm:spPr/>
    </dgm:pt>
    <dgm:pt modelId="{47095442-FF91-48A3-B00C-99D10A16253A}" type="pres">
      <dgm:prSet presAssocID="{9F7B0094-0A8F-42F4-9D09-3A1F0A7179DC}" presName="composite" presStyleCnt="0"/>
      <dgm:spPr/>
    </dgm:pt>
    <dgm:pt modelId="{981559B4-72B3-4C0A-A19C-83468F697D6E}" type="pres">
      <dgm:prSet presAssocID="{9F7B0094-0A8F-42F4-9D09-3A1F0A7179D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1AC9EB4-C4C1-48FD-A8CB-BE2498259465}" type="pres">
      <dgm:prSet presAssocID="{9F7B0094-0A8F-42F4-9D09-3A1F0A7179DC}" presName="parSh" presStyleLbl="node1" presStyleIdx="0" presStyleCnt="3"/>
      <dgm:spPr/>
    </dgm:pt>
    <dgm:pt modelId="{343DA375-66A8-4CD5-9562-C0F5EA075847}" type="pres">
      <dgm:prSet presAssocID="{9F7B0094-0A8F-42F4-9D09-3A1F0A7179DC}" presName="desTx" presStyleLbl="fgAcc1" presStyleIdx="0" presStyleCnt="3">
        <dgm:presLayoutVars>
          <dgm:bulletEnabled val="1"/>
        </dgm:presLayoutVars>
      </dgm:prSet>
      <dgm:spPr/>
    </dgm:pt>
    <dgm:pt modelId="{F4758437-E859-49C5-AED4-8658F2A169C0}" type="pres">
      <dgm:prSet presAssocID="{33FEB7BE-87C7-4362-ABBC-258E1CC4899A}" presName="sibTrans" presStyleLbl="sibTrans2D1" presStyleIdx="0" presStyleCnt="2"/>
      <dgm:spPr/>
    </dgm:pt>
    <dgm:pt modelId="{C80BA264-EA99-4250-BD88-B5129420C506}" type="pres">
      <dgm:prSet presAssocID="{33FEB7BE-87C7-4362-ABBC-258E1CC4899A}" presName="connTx" presStyleLbl="sibTrans2D1" presStyleIdx="0" presStyleCnt="2"/>
      <dgm:spPr/>
    </dgm:pt>
    <dgm:pt modelId="{B67FDB0F-37E9-4EC7-8AAF-1E5A1DB6BB10}" type="pres">
      <dgm:prSet presAssocID="{9CED67F1-C3A7-48DA-ADDD-4C3800DAA767}" presName="composite" presStyleCnt="0"/>
      <dgm:spPr/>
    </dgm:pt>
    <dgm:pt modelId="{A6851B74-F217-4476-B11C-4F22A5ABE7DC}" type="pres">
      <dgm:prSet presAssocID="{9CED67F1-C3A7-48DA-ADDD-4C3800DAA767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F813002-93CA-416A-A218-4EA0D0745015}" type="pres">
      <dgm:prSet presAssocID="{9CED67F1-C3A7-48DA-ADDD-4C3800DAA767}" presName="parSh" presStyleLbl="node1" presStyleIdx="1" presStyleCnt="3"/>
      <dgm:spPr/>
    </dgm:pt>
    <dgm:pt modelId="{6D08E341-01DC-4590-9C4F-FBE1455E2C1C}" type="pres">
      <dgm:prSet presAssocID="{9CED67F1-C3A7-48DA-ADDD-4C3800DAA767}" presName="desTx" presStyleLbl="fgAcc1" presStyleIdx="1" presStyleCnt="3">
        <dgm:presLayoutVars>
          <dgm:bulletEnabled val="1"/>
        </dgm:presLayoutVars>
      </dgm:prSet>
      <dgm:spPr/>
    </dgm:pt>
    <dgm:pt modelId="{F7DE85F5-C493-46C7-B6B8-354C80960EED}" type="pres">
      <dgm:prSet presAssocID="{DA78B5BC-9244-4AF1-BD5B-CDCDFFA3C1A3}" presName="sibTrans" presStyleLbl="sibTrans2D1" presStyleIdx="1" presStyleCnt="2"/>
      <dgm:spPr/>
    </dgm:pt>
    <dgm:pt modelId="{965486FB-2C44-49DB-8458-41BA43A56753}" type="pres">
      <dgm:prSet presAssocID="{DA78B5BC-9244-4AF1-BD5B-CDCDFFA3C1A3}" presName="connTx" presStyleLbl="sibTrans2D1" presStyleIdx="1" presStyleCnt="2"/>
      <dgm:spPr/>
    </dgm:pt>
    <dgm:pt modelId="{7B5DE0B1-DAD5-48EC-A188-8B2F7AFBC92C}" type="pres">
      <dgm:prSet presAssocID="{4749DF4D-4C07-46D8-836D-FFD81BC1AF0A}" presName="composite" presStyleCnt="0"/>
      <dgm:spPr/>
    </dgm:pt>
    <dgm:pt modelId="{585F4729-C626-4DED-9145-9CB7CEA2D177}" type="pres">
      <dgm:prSet presAssocID="{4749DF4D-4C07-46D8-836D-FFD81BC1AF0A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7621978-DFE4-4C13-B263-BCA74614EABD}" type="pres">
      <dgm:prSet presAssocID="{4749DF4D-4C07-46D8-836D-FFD81BC1AF0A}" presName="parSh" presStyleLbl="node1" presStyleIdx="2" presStyleCnt="3"/>
      <dgm:spPr/>
    </dgm:pt>
    <dgm:pt modelId="{CD9C9CCC-AFED-4252-814C-B3B0C0C33F23}" type="pres">
      <dgm:prSet presAssocID="{4749DF4D-4C07-46D8-836D-FFD81BC1AF0A}" presName="desTx" presStyleLbl="fgAcc1" presStyleIdx="2" presStyleCnt="3">
        <dgm:presLayoutVars>
          <dgm:bulletEnabled val="1"/>
        </dgm:presLayoutVars>
      </dgm:prSet>
      <dgm:spPr/>
    </dgm:pt>
  </dgm:ptLst>
  <dgm:cxnLst>
    <dgm:cxn modelId="{CD5BB615-718D-4AA9-A6BE-29D73909AACB}" srcId="{9CED67F1-C3A7-48DA-ADDD-4C3800DAA767}" destId="{1D10C19C-D960-4B22-9817-6199067508FE}" srcOrd="2" destOrd="0" parTransId="{4E06C252-7917-46D6-BF09-D4D0C21780FE}" sibTransId="{E4DB7DC7-06B0-45FB-B632-6533B862B717}"/>
    <dgm:cxn modelId="{A564BD26-B211-4DE5-A256-F6AA8DE3776A}" srcId="{AAC312E2-3A1D-4225-B73B-57393D1B7E07}" destId="{4749DF4D-4C07-46D8-836D-FFD81BC1AF0A}" srcOrd="2" destOrd="0" parTransId="{EDECB3EF-2F3E-4F0A-A1DC-D0D1E1F51C3C}" sibTransId="{5BA05DFE-F391-40BA-A054-0722C15D24C2}"/>
    <dgm:cxn modelId="{BF259329-0DC3-44D7-8D9E-40900B679396}" type="presOf" srcId="{33FEB7BE-87C7-4362-ABBC-258E1CC4899A}" destId="{C80BA264-EA99-4250-BD88-B5129420C506}" srcOrd="1" destOrd="0" presId="urn:microsoft.com/office/officeart/2005/8/layout/process3"/>
    <dgm:cxn modelId="{7606FA29-7212-44CF-A07E-BCBFF3EA8618}" type="presOf" srcId="{AADF5317-A35F-446C-80FA-E1DAC119A518}" destId="{343DA375-66A8-4CD5-9562-C0F5EA075847}" srcOrd="0" destOrd="0" presId="urn:microsoft.com/office/officeart/2005/8/layout/process3"/>
    <dgm:cxn modelId="{48D7E82E-9E75-498A-BC8F-5F0B72F5D85D}" type="presOf" srcId="{9F7B0094-0A8F-42F4-9D09-3A1F0A7179DC}" destId="{A1AC9EB4-C4C1-48FD-A8CB-BE2498259465}" srcOrd="1" destOrd="0" presId="urn:microsoft.com/office/officeart/2005/8/layout/process3"/>
    <dgm:cxn modelId="{065DF137-2E45-4047-9264-1E7D99B6FF0D}" type="presOf" srcId="{4749DF4D-4C07-46D8-836D-FFD81BC1AF0A}" destId="{585F4729-C626-4DED-9145-9CB7CEA2D177}" srcOrd="0" destOrd="0" presId="urn:microsoft.com/office/officeart/2005/8/layout/process3"/>
    <dgm:cxn modelId="{5B46CB5E-F0FE-4B80-A57C-A90D15F9F372}" srcId="{AAC312E2-3A1D-4225-B73B-57393D1B7E07}" destId="{9F7B0094-0A8F-42F4-9D09-3A1F0A7179DC}" srcOrd="0" destOrd="0" parTransId="{7B08C34C-6008-4683-B31A-17C350E8F1AB}" sibTransId="{33FEB7BE-87C7-4362-ABBC-258E1CC4899A}"/>
    <dgm:cxn modelId="{98D0565F-7013-486B-8758-C2E52BAE7698}" srcId="{9CED67F1-C3A7-48DA-ADDD-4C3800DAA767}" destId="{819A6E7B-70D8-47B2-8A66-45517E280FB0}" srcOrd="1" destOrd="0" parTransId="{369BE201-FF71-4E1B-A16A-75CED2880619}" sibTransId="{AF5DF76D-0D2A-4340-AC76-521868BAAF84}"/>
    <dgm:cxn modelId="{F2359E45-2F80-448F-A072-F00F069D30CE}" srcId="{9CED67F1-C3A7-48DA-ADDD-4C3800DAA767}" destId="{5067CBDA-B749-40F6-BE9D-E952B0A70E9C}" srcOrd="4" destOrd="0" parTransId="{195DB47B-95A9-4CCD-A0CF-17EEBB71601E}" sibTransId="{6EEE6F4A-6EA5-4013-B64E-8DFACDF4900D}"/>
    <dgm:cxn modelId="{9E928647-C9F5-4273-B8C4-0DD7DBEBC04F}" type="presOf" srcId="{9CED67F1-C3A7-48DA-ADDD-4C3800DAA767}" destId="{A6851B74-F217-4476-B11C-4F22A5ABE7DC}" srcOrd="0" destOrd="0" presId="urn:microsoft.com/office/officeart/2005/8/layout/process3"/>
    <dgm:cxn modelId="{138EAF50-CE47-4A7A-B4A4-4E67577C3720}" srcId="{9F7B0094-0A8F-42F4-9D09-3A1F0A7179DC}" destId="{AADF5317-A35F-446C-80FA-E1DAC119A518}" srcOrd="0" destOrd="0" parTransId="{8334702B-B0FF-4F47-BEB3-03A62FAB3E2F}" sibTransId="{595A7BE4-BDE6-4190-B849-4783F5C8AA5A}"/>
    <dgm:cxn modelId="{0DFCC971-A89D-40E3-88F8-B51F55A6116E}" srcId="{AADF5317-A35F-446C-80FA-E1DAC119A518}" destId="{9397A93D-EE8E-42DC-BA98-A18E887050DC}" srcOrd="0" destOrd="0" parTransId="{F05F2C30-678C-4319-ABF6-4DF34392A522}" sibTransId="{041886DA-B4A0-4F8E-8832-6904C5F8336E}"/>
    <dgm:cxn modelId="{6B32F57D-BC34-42B5-9010-7FFEB0C20E92}" srcId="{AADF5317-A35F-446C-80FA-E1DAC119A518}" destId="{15FAFE73-15BE-4AA5-A77E-E4403FBB36E5}" srcOrd="1" destOrd="0" parTransId="{964C5DA1-F239-434F-A130-D01021866B8E}" sibTransId="{EF5B08A9-802D-41A8-AB34-046E52B930C1}"/>
    <dgm:cxn modelId="{70E67081-7A3D-4509-BE03-5D6BACA1AEBD}" type="presOf" srcId="{7C603E74-95C1-4039-A226-438F9AA1AC05}" destId="{343DA375-66A8-4CD5-9562-C0F5EA075847}" srcOrd="0" destOrd="3" presId="urn:microsoft.com/office/officeart/2005/8/layout/process3"/>
    <dgm:cxn modelId="{E3634084-1A16-4E27-AB63-2A61A6A8D584}" srcId="{4749DF4D-4C07-46D8-836D-FFD81BC1AF0A}" destId="{05CAD295-7E93-40CD-B00B-D3242280DBE2}" srcOrd="0" destOrd="0" parTransId="{3FCA9F7F-90F1-4C8F-BCB4-CE4B0F804555}" sibTransId="{0885FCE6-D0EE-4D19-B22D-95BCB8910450}"/>
    <dgm:cxn modelId="{94534E84-405C-457C-9DA1-F2A58EA2F6BC}" srcId="{9CED67F1-C3A7-48DA-ADDD-4C3800DAA767}" destId="{F87C9F3E-2AD3-4C34-88F5-C0292DDB20EF}" srcOrd="0" destOrd="0" parTransId="{6C4C1C01-D555-4D19-AA0D-59929F52E445}" sibTransId="{9BA611DE-61C6-4A97-8FA0-606BE99141B1}"/>
    <dgm:cxn modelId="{FEF0BA8A-B0CB-4A30-A084-34E0B6629135}" srcId="{AADF5317-A35F-446C-80FA-E1DAC119A518}" destId="{7C603E74-95C1-4039-A226-438F9AA1AC05}" srcOrd="2" destOrd="0" parTransId="{F512C032-311F-413B-80EA-437E6771C85D}" sibTransId="{6CE89751-210B-43B6-B43F-026129840283}"/>
    <dgm:cxn modelId="{8004FC93-8CAB-4C98-8C78-5AD05E748EA1}" type="presOf" srcId="{9CED67F1-C3A7-48DA-ADDD-4C3800DAA767}" destId="{BF813002-93CA-416A-A218-4EA0D0745015}" srcOrd="1" destOrd="0" presId="urn:microsoft.com/office/officeart/2005/8/layout/process3"/>
    <dgm:cxn modelId="{DF57CA9D-371C-47A6-A539-0341451549FA}" type="presOf" srcId="{DA78B5BC-9244-4AF1-BD5B-CDCDFFA3C1A3}" destId="{965486FB-2C44-49DB-8458-41BA43A56753}" srcOrd="1" destOrd="0" presId="urn:microsoft.com/office/officeart/2005/8/layout/process3"/>
    <dgm:cxn modelId="{7E525C9E-E19D-49E0-AFD8-2E39708C1824}" type="presOf" srcId="{4749DF4D-4C07-46D8-836D-FFD81BC1AF0A}" destId="{27621978-DFE4-4C13-B263-BCA74614EABD}" srcOrd="1" destOrd="0" presId="urn:microsoft.com/office/officeart/2005/8/layout/process3"/>
    <dgm:cxn modelId="{A73B0CA3-EE07-414D-B127-FAB6D1162883}" type="presOf" srcId="{05CAD295-7E93-40CD-B00B-D3242280DBE2}" destId="{CD9C9CCC-AFED-4252-814C-B3B0C0C33F23}" srcOrd="0" destOrd="0" presId="urn:microsoft.com/office/officeart/2005/8/layout/process3"/>
    <dgm:cxn modelId="{F70CCCA5-3058-42DB-9B2F-16DD472B88BE}" type="presOf" srcId="{9F7B0094-0A8F-42F4-9D09-3A1F0A7179DC}" destId="{981559B4-72B3-4C0A-A19C-83468F697D6E}" srcOrd="0" destOrd="0" presId="urn:microsoft.com/office/officeart/2005/8/layout/process3"/>
    <dgm:cxn modelId="{0523E1A6-615A-469E-807E-12AF03BDD432}" srcId="{9CED67F1-C3A7-48DA-ADDD-4C3800DAA767}" destId="{9E78DD43-2B93-4E82-B3DA-4D881E74C68F}" srcOrd="3" destOrd="0" parTransId="{8A384A1B-87FC-4545-AD05-731A3B583F46}" sibTransId="{583CE47F-BB4B-428C-A336-AE4562F0E439}"/>
    <dgm:cxn modelId="{25D7B1AB-5D46-402C-B732-550F3E83A355}" type="presOf" srcId="{9397A93D-EE8E-42DC-BA98-A18E887050DC}" destId="{343DA375-66A8-4CD5-9562-C0F5EA075847}" srcOrd="0" destOrd="1" presId="urn:microsoft.com/office/officeart/2005/8/layout/process3"/>
    <dgm:cxn modelId="{8F16E2BE-8742-42D1-A2FE-40AFAA8954DD}" type="presOf" srcId="{5067CBDA-B749-40F6-BE9D-E952B0A70E9C}" destId="{6D08E341-01DC-4590-9C4F-FBE1455E2C1C}" srcOrd="0" destOrd="4" presId="urn:microsoft.com/office/officeart/2005/8/layout/process3"/>
    <dgm:cxn modelId="{06F8CFC0-A7C8-4EB8-AD1F-C969395A9833}" type="presOf" srcId="{F87C9F3E-2AD3-4C34-88F5-C0292DDB20EF}" destId="{6D08E341-01DC-4590-9C4F-FBE1455E2C1C}" srcOrd="0" destOrd="0" presId="urn:microsoft.com/office/officeart/2005/8/layout/process3"/>
    <dgm:cxn modelId="{1973F2C1-1965-4E18-A7ED-49967F95226F}" type="presOf" srcId="{33FEB7BE-87C7-4362-ABBC-258E1CC4899A}" destId="{F4758437-E859-49C5-AED4-8658F2A169C0}" srcOrd="0" destOrd="0" presId="urn:microsoft.com/office/officeart/2005/8/layout/process3"/>
    <dgm:cxn modelId="{E5D4D0C5-17BC-43BB-897F-E257D9865F80}" type="presOf" srcId="{DA78B5BC-9244-4AF1-BD5B-CDCDFFA3C1A3}" destId="{F7DE85F5-C493-46C7-B6B8-354C80960EED}" srcOrd="0" destOrd="0" presId="urn:microsoft.com/office/officeart/2005/8/layout/process3"/>
    <dgm:cxn modelId="{4C5177CB-9A42-4FD3-AE73-B9CA97BB44BD}" type="presOf" srcId="{15FAFE73-15BE-4AA5-A77E-E4403FBB36E5}" destId="{343DA375-66A8-4CD5-9562-C0F5EA075847}" srcOrd="0" destOrd="2" presId="urn:microsoft.com/office/officeart/2005/8/layout/process3"/>
    <dgm:cxn modelId="{1EC6ECD4-4A20-47F6-8D9D-C95BB8FA3599}" type="presOf" srcId="{819A6E7B-70D8-47B2-8A66-45517E280FB0}" destId="{6D08E341-01DC-4590-9C4F-FBE1455E2C1C}" srcOrd="0" destOrd="1" presId="urn:microsoft.com/office/officeart/2005/8/layout/process3"/>
    <dgm:cxn modelId="{1CA4F1D7-5C78-4B44-870D-38747406D52E}" type="presOf" srcId="{AAC312E2-3A1D-4225-B73B-57393D1B7E07}" destId="{5F31585A-B609-4863-8F77-C0C1B3236149}" srcOrd="0" destOrd="0" presId="urn:microsoft.com/office/officeart/2005/8/layout/process3"/>
    <dgm:cxn modelId="{B5C12BE9-90FA-420A-8111-7AD581C319BE}" type="presOf" srcId="{1D10C19C-D960-4B22-9817-6199067508FE}" destId="{6D08E341-01DC-4590-9C4F-FBE1455E2C1C}" srcOrd="0" destOrd="2" presId="urn:microsoft.com/office/officeart/2005/8/layout/process3"/>
    <dgm:cxn modelId="{E230E9FC-682F-4D37-A9C2-2675B8FC71F3}" srcId="{AAC312E2-3A1D-4225-B73B-57393D1B7E07}" destId="{9CED67F1-C3A7-48DA-ADDD-4C3800DAA767}" srcOrd="1" destOrd="0" parTransId="{9407F0EA-88BE-44C7-B140-1A23C6D5C2E7}" sibTransId="{DA78B5BC-9244-4AF1-BD5B-CDCDFFA3C1A3}"/>
    <dgm:cxn modelId="{DD7CC4FE-17CE-4ED5-8BF7-B83C595C0D6E}" type="presOf" srcId="{9E78DD43-2B93-4E82-B3DA-4D881E74C68F}" destId="{6D08E341-01DC-4590-9C4F-FBE1455E2C1C}" srcOrd="0" destOrd="3" presId="urn:microsoft.com/office/officeart/2005/8/layout/process3"/>
    <dgm:cxn modelId="{6CAB45A9-D18D-4479-B314-138861530A2A}" type="presParOf" srcId="{5F31585A-B609-4863-8F77-C0C1B3236149}" destId="{47095442-FF91-48A3-B00C-99D10A16253A}" srcOrd="0" destOrd="0" presId="urn:microsoft.com/office/officeart/2005/8/layout/process3"/>
    <dgm:cxn modelId="{51E12B51-7CC9-4878-87DC-D965760A05DA}" type="presParOf" srcId="{47095442-FF91-48A3-B00C-99D10A16253A}" destId="{981559B4-72B3-4C0A-A19C-83468F697D6E}" srcOrd="0" destOrd="0" presId="urn:microsoft.com/office/officeart/2005/8/layout/process3"/>
    <dgm:cxn modelId="{B7446058-362E-46B4-9683-7B88340EC471}" type="presParOf" srcId="{47095442-FF91-48A3-B00C-99D10A16253A}" destId="{A1AC9EB4-C4C1-48FD-A8CB-BE2498259465}" srcOrd="1" destOrd="0" presId="urn:microsoft.com/office/officeart/2005/8/layout/process3"/>
    <dgm:cxn modelId="{4CDFA27B-C784-489C-9E05-4C44759955B5}" type="presParOf" srcId="{47095442-FF91-48A3-B00C-99D10A16253A}" destId="{343DA375-66A8-4CD5-9562-C0F5EA075847}" srcOrd="2" destOrd="0" presId="urn:microsoft.com/office/officeart/2005/8/layout/process3"/>
    <dgm:cxn modelId="{D8C62442-6233-4F32-BF5A-7B3D213F3732}" type="presParOf" srcId="{5F31585A-B609-4863-8F77-C0C1B3236149}" destId="{F4758437-E859-49C5-AED4-8658F2A169C0}" srcOrd="1" destOrd="0" presId="urn:microsoft.com/office/officeart/2005/8/layout/process3"/>
    <dgm:cxn modelId="{B70CAA48-E9E4-4DD6-A19B-4F793844F0B6}" type="presParOf" srcId="{F4758437-E859-49C5-AED4-8658F2A169C0}" destId="{C80BA264-EA99-4250-BD88-B5129420C506}" srcOrd="0" destOrd="0" presId="urn:microsoft.com/office/officeart/2005/8/layout/process3"/>
    <dgm:cxn modelId="{B7B2E0DF-3248-4F0A-8D92-56CA1063D2D8}" type="presParOf" srcId="{5F31585A-B609-4863-8F77-C0C1B3236149}" destId="{B67FDB0F-37E9-4EC7-8AAF-1E5A1DB6BB10}" srcOrd="2" destOrd="0" presId="urn:microsoft.com/office/officeart/2005/8/layout/process3"/>
    <dgm:cxn modelId="{2E4A4D1F-B77F-4CB9-BB23-63C1F07CB346}" type="presParOf" srcId="{B67FDB0F-37E9-4EC7-8AAF-1E5A1DB6BB10}" destId="{A6851B74-F217-4476-B11C-4F22A5ABE7DC}" srcOrd="0" destOrd="0" presId="urn:microsoft.com/office/officeart/2005/8/layout/process3"/>
    <dgm:cxn modelId="{176DCDCF-AFEF-49E7-AE07-31FE19427FBF}" type="presParOf" srcId="{B67FDB0F-37E9-4EC7-8AAF-1E5A1DB6BB10}" destId="{BF813002-93CA-416A-A218-4EA0D0745015}" srcOrd="1" destOrd="0" presId="urn:microsoft.com/office/officeart/2005/8/layout/process3"/>
    <dgm:cxn modelId="{93D01386-4837-4998-8E58-35FFF9CE49EB}" type="presParOf" srcId="{B67FDB0F-37E9-4EC7-8AAF-1E5A1DB6BB10}" destId="{6D08E341-01DC-4590-9C4F-FBE1455E2C1C}" srcOrd="2" destOrd="0" presId="urn:microsoft.com/office/officeart/2005/8/layout/process3"/>
    <dgm:cxn modelId="{20115046-09BA-4D71-A9FA-60C1642DF470}" type="presParOf" srcId="{5F31585A-B609-4863-8F77-C0C1B3236149}" destId="{F7DE85F5-C493-46C7-B6B8-354C80960EED}" srcOrd="3" destOrd="0" presId="urn:microsoft.com/office/officeart/2005/8/layout/process3"/>
    <dgm:cxn modelId="{B6FD25B9-8227-4735-982B-69C7BCBCCDB3}" type="presParOf" srcId="{F7DE85F5-C493-46C7-B6B8-354C80960EED}" destId="{965486FB-2C44-49DB-8458-41BA43A56753}" srcOrd="0" destOrd="0" presId="urn:microsoft.com/office/officeart/2005/8/layout/process3"/>
    <dgm:cxn modelId="{4F9FEC54-B67C-4FA1-BDE5-DD9A2154C0B8}" type="presParOf" srcId="{5F31585A-B609-4863-8F77-C0C1B3236149}" destId="{7B5DE0B1-DAD5-48EC-A188-8B2F7AFBC92C}" srcOrd="4" destOrd="0" presId="urn:microsoft.com/office/officeart/2005/8/layout/process3"/>
    <dgm:cxn modelId="{BD92570E-D101-464A-858E-5A08912C3633}" type="presParOf" srcId="{7B5DE0B1-DAD5-48EC-A188-8B2F7AFBC92C}" destId="{585F4729-C626-4DED-9145-9CB7CEA2D177}" srcOrd="0" destOrd="0" presId="urn:microsoft.com/office/officeart/2005/8/layout/process3"/>
    <dgm:cxn modelId="{A7F08B6F-97B5-4B0B-B0CA-513AC876E7BF}" type="presParOf" srcId="{7B5DE0B1-DAD5-48EC-A188-8B2F7AFBC92C}" destId="{27621978-DFE4-4C13-B263-BCA74614EABD}" srcOrd="1" destOrd="0" presId="urn:microsoft.com/office/officeart/2005/8/layout/process3"/>
    <dgm:cxn modelId="{D4BE8B9A-F0B4-4496-8CE3-C86FEF66ED29}" type="presParOf" srcId="{7B5DE0B1-DAD5-48EC-A188-8B2F7AFBC92C}" destId="{CD9C9CCC-AFED-4252-814C-B3B0C0C33F23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584A21-7579-4129-B109-792F6AE0EAE5}" type="doc">
      <dgm:prSet loTypeId="urn:microsoft.com/office/officeart/2008/layout/AlternatingPictureBlock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B6B09EF-48A2-4983-86F4-E900260D907A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900" b="1" i="0" u="none"/>
            <a:t>Time-Sensitive Insights:</a:t>
          </a:r>
          <a:br>
            <a:rPr lang="en-US" sz="900" b="1" i="0" u="none"/>
          </a:br>
          <a:r>
            <a:rPr lang="en-US" sz="900" b="0" i="0" u="none"/>
            <a:t>Unlike logistic regression, the Cox model doesn’t just say </a:t>
          </a:r>
          <a:r>
            <a:rPr lang="en-US" sz="900" b="0" i="1" u="none"/>
            <a:t>if</a:t>
          </a:r>
          <a:r>
            <a:rPr lang="en-US" sz="900" b="0" i="0" u="none"/>
            <a:t> churn will happen—it shows </a:t>
          </a:r>
          <a:r>
            <a:rPr lang="en-US" sz="900" b="0" i="1" u="none"/>
            <a:t>when</a:t>
          </a:r>
          <a:r>
            <a:rPr lang="en-US" sz="900" b="0" i="0" u="none"/>
            <a:t> it’s most likely, allowing for timely intervention.</a:t>
          </a:r>
          <a:br>
            <a:rPr lang="en-US" sz="900" b="0" i="0" u="none"/>
          </a:br>
          <a:br>
            <a:rPr lang="en-US" sz="900" b="0" i="0" u="none"/>
          </a:br>
          <a:endParaRPr lang="en-IN" sz="900"/>
        </a:p>
      </dgm:t>
    </dgm:pt>
    <dgm:pt modelId="{264FFE1B-7852-4E5E-BFA3-1270175A7473}" type="parTrans" cxnId="{299ADC61-CE57-4B0E-A03B-31624746F0DB}">
      <dgm:prSet/>
      <dgm:spPr/>
      <dgm:t>
        <a:bodyPr/>
        <a:lstStyle/>
        <a:p>
          <a:endParaRPr lang="en-IN"/>
        </a:p>
      </dgm:t>
    </dgm:pt>
    <dgm:pt modelId="{007532A0-4522-422F-ADC1-8159A2814F1E}" type="sibTrans" cxnId="{299ADC61-CE57-4B0E-A03B-31624746F0DB}">
      <dgm:prSet/>
      <dgm:spPr/>
      <dgm:t>
        <a:bodyPr/>
        <a:lstStyle/>
        <a:p>
          <a:endParaRPr lang="en-IN"/>
        </a:p>
      </dgm:t>
    </dgm:pt>
    <dgm:pt modelId="{F514DEE8-45A6-4DE3-9411-6D7C935EA7AB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900" b="1" i="0" u="none"/>
            <a:t>                                                              No Need for Distribution Assumptions:</a:t>
          </a:r>
          <a:br>
            <a:rPr lang="en-US" sz="900" b="1" i="0" u="none"/>
          </a:br>
          <a:r>
            <a:rPr lang="en-US" sz="900" b="0" i="0" u="none"/>
            <a:t>It doesn’t require assuming a specific statistical distribution for customer behavior, making it more flexible and accurate in messy, real-world data.</a:t>
          </a:r>
          <a:br>
            <a:rPr lang="en-US" sz="900" b="0" i="0" u="none"/>
          </a:br>
          <a:br>
            <a:rPr lang="en-US" sz="900" b="0" i="0" u="none"/>
          </a:br>
          <a:endParaRPr lang="en-IN" sz="900"/>
        </a:p>
      </dgm:t>
    </dgm:pt>
    <dgm:pt modelId="{F2C4668B-D65E-4A3E-A293-8634D1F481F1}" type="parTrans" cxnId="{42960C7E-4885-4212-968D-1268678DD0E2}">
      <dgm:prSet/>
      <dgm:spPr/>
      <dgm:t>
        <a:bodyPr/>
        <a:lstStyle/>
        <a:p>
          <a:endParaRPr lang="en-IN"/>
        </a:p>
      </dgm:t>
    </dgm:pt>
    <dgm:pt modelId="{1DB84E25-417C-4F40-A1AF-3C14856A066D}" type="sibTrans" cxnId="{42960C7E-4885-4212-968D-1268678DD0E2}">
      <dgm:prSet/>
      <dgm:spPr/>
      <dgm:t>
        <a:bodyPr/>
        <a:lstStyle/>
        <a:p>
          <a:endParaRPr lang="en-IN"/>
        </a:p>
      </dgm:t>
    </dgm:pt>
    <dgm:pt modelId="{7937E314-F0DA-4BE7-A9C7-C7CBB190747B}">
      <dgm:prSet phldrT="[Text]" custT="1"/>
      <dgm:spPr/>
      <dgm:t>
        <a:bodyPr/>
        <a:lstStyle/>
        <a:p>
          <a:pPr>
            <a:buNone/>
          </a:pPr>
          <a:r>
            <a:rPr lang="en-US" sz="900" b="1" i="0" u="none"/>
            <a:t>Works Well with Censored Data:</a:t>
          </a:r>
          <a:br>
            <a:rPr lang="en-US" sz="900" b="1" i="0" u="none"/>
          </a:br>
          <a:r>
            <a:rPr lang="en-US" sz="900" b="0" i="0" u="none"/>
            <a:t>Customers who haven't churned yet (i.e., still active) are still usable in the model—this improves learning without biasing results.</a:t>
          </a:r>
          <a:br>
            <a:rPr lang="en-US" sz="900" b="0" i="0" u="none"/>
          </a:br>
          <a:endParaRPr lang="en-IN" sz="900"/>
        </a:p>
      </dgm:t>
    </dgm:pt>
    <dgm:pt modelId="{35B3435D-C76B-4789-AF52-66562CDAEB17}" type="parTrans" cxnId="{9FAF837F-7F27-45E1-931B-F0962D03347F}">
      <dgm:prSet/>
      <dgm:spPr/>
      <dgm:t>
        <a:bodyPr/>
        <a:lstStyle/>
        <a:p>
          <a:endParaRPr lang="en-IN"/>
        </a:p>
      </dgm:t>
    </dgm:pt>
    <dgm:pt modelId="{7FCE7B75-9D70-482F-9272-C0BE231159C6}" type="sibTrans" cxnId="{9FAF837F-7F27-45E1-931B-F0962D03347F}">
      <dgm:prSet/>
      <dgm:spPr/>
      <dgm:t>
        <a:bodyPr/>
        <a:lstStyle/>
        <a:p>
          <a:endParaRPr lang="en-IN"/>
        </a:p>
      </dgm:t>
    </dgm:pt>
    <dgm:pt modelId="{E25841D6-A5E8-4D04-B320-5B051889A8EE}">
      <dgm:prSet phldrT="[Text]" custT="1"/>
      <dgm:spPr/>
      <dgm:t>
        <a:bodyPr/>
        <a:lstStyle/>
        <a:p>
          <a:pPr>
            <a:buFont typeface="+mj-lt"/>
            <a:buNone/>
          </a:pPr>
          <a:r>
            <a:rPr lang="en-US" sz="900" b="1" i="0" u="none"/>
            <a:t>Scalable to Large Customer Sets:</a:t>
          </a:r>
          <a:br>
            <a:rPr lang="en-US" sz="900" b="1" i="0" u="none"/>
          </a:br>
          <a:r>
            <a:rPr lang="en-US" sz="900" b="0" i="0" u="none"/>
            <a:t>Efficiently handles hundreds or thousands of customer timelines, as seen in your 1300+ account analysis.</a:t>
          </a:r>
          <a:br>
            <a:rPr lang="en-US" sz="900" b="0" i="0" u="none"/>
          </a:br>
          <a:endParaRPr lang="en-IN" sz="900"/>
        </a:p>
      </dgm:t>
    </dgm:pt>
    <dgm:pt modelId="{83593235-0B20-4BD1-B794-B39E3C10155A}" type="parTrans" cxnId="{6DC973F7-7E8A-4704-9917-7677D00FC058}">
      <dgm:prSet/>
      <dgm:spPr/>
      <dgm:t>
        <a:bodyPr/>
        <a:lstStyle/>
        <a:p>
          <a:endParaRPr lang="en-IN"/>
        </a:p>
      </dgm:t>
    </dgm:pt>
    <dgm:pt modelId="{7B3AD5C2-5BC5-462A-ACE4-A10D46CDF433}" type="sibTrans" cxnId="{6DC973F7-7E8A-4704-9917-7677D00FC058}">
      <dgm:prSet/>
      <dgm:spPr/>
      <dgm:t>
        <a:bodyPr/>
        <a:lstStyle/>
        <a:p>
          <a:endParaRPr lang="en-IN"/>
        </a:p>
      </dgm:t>
    </dgm:pt>
    <dgm:pt modelId="{88EB2421-8CCB-4D88-8F13-21058551A6C8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900" b="1" i="0" u="none"/>
            <a:t>                                                                                       Improves Targeting Efficiency:</a:t>
          </a:r>
          <a:br>
            <a:rPr lang="en-US" sz="900" b="1" i="0" u="none"/>
          </a:br>
          <a:r>
            <a:rPr lang="en-US" sz="900" b="0" i="0" u="none"/>
            <a:t>By converting raw behavior data into interpretable hazard ratios, it helps the sales team </a:t>
          </a:r>
          <a:r>
            <a:rPr lang="en-US" sz="900" b="1" i="0" u="none"/>
            <a:t>prioritize the right accounts with higher ROI.</a:t>
          </a:r>
          <a:br>
            <a:rPr lang="en-US" sz="900" b="1" i="0" u="none"/>
          </a:br>
          <a:br>
            <a:rPr lang="en-US" sz="900" b="1" i="0" u="none"/>
          </a:br>
          <a:br>
            <a:rPr lang="en-US" sz="900" b="0" i="0" u="none"/>
          </a:br>
          <a:endParaRPr lang="en-IN" sz="900"/>
        </a:p>
      </dgm:t>
    </dgm:pt>
    <dgm:pt modelId="{4C4EAB84-73AC-442A-B2F3-5EBCEAE1F0A1}" type="sibTrans" cxnId="{DFAC098C-FE8B-476A-BB8A-CF5B22C00888}">
      <dgm:prSet/>
      <dgm:spPr/>
      <dgm:t>
        <a:bodyPr/>
        <a:lstStyle/>
        <a:p>
          <a:endParaRPr lang="en-IN"/>
        </a:p>
      </dgm:t>
    </dgm:pt>
    <dgm:pt modelId="{4735E71B-F757-4DAF-B69E-C3DD556FBE09}" type="parTrans" cxnId="{DFAC098C-FE8B-476A-BB8A-CF5B22C00888}">
      <dgm:prSet/>
      <dgm:spPr/>
      <dgm:t>
        <a:bodyPr/>
        <a:lstStyle/>
        <a:p>
          <a:endParaRPr lang="en-IN"/>
        </a:p>
      </dgm:t>
    </dgm:pt>
    <dgm:pt modelId="{EE8470E2-4722-47CD-8B5D-01B109F43678}" type="pres">
      <dgm:prSet presAssocID="{07584A21-7579-4129-B109-792F6AE0EAE5}" presName="linearFlow" presStyleCnt="0">
        <dgm:presLayoutVars>
          <dgm:dir/>
          <dgm:resizeHandles val="exact"/>
        </dgm:presLayoutVars>
      </dgm:prSet>
      <dgm:spPr/>
    </dgm:pt>
    <dgm:pt modelId="{687A5E50-8AEC-4189-9814-A967940AAE2B}" type="pres">
      <dgm:prSet presAssocID="{DB6B09EF-48A2-4983-86F4-E900260D907A}" presName="comp" presStyleCnt="0"/>
      <dgm:spPr/>
    </dgm:pt>
    <dgm:pt modelId="{A9E4DAED-50E8-476B-BB01-0C8B7DFC5665}" type="pres">
      <dgm:prSet presAssocID="{DB6B09EF-48A2-4983-86F4-E900260D907A}" presName="rect2" presStyleLbl="node1" presStyleIdx="0" presStyleCnt="5">
        <dgm:presLayoutVars>
          <dgm:bulletEnabled val="1"/>
        </dgm:presLayoutVars>
      </dgm:prSet>
      <dgm:spPr/>
    </dgm:pt>
    <dgm:pt modelId="{3F0C589D-EA92-4C45-8941-E918DA133D55}" type="pres">
      <dgm:prSet presAssocID="{DB6B09EF-48A2-4983-86F4-E900260D907A}" presName="rect1" presStyleLbl="lnNode1" presStyleIdx="0" presStyleCnt="5" custScaleX="84757" custScaleY="79806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Hourglass 60% with solid fill"/>
        </a:ext>
      </dgm:extLst>
    </dgm:pt>
    <dgm:pt modelId="{D7D30FB8-A3EB-4A5D-B0BD-538DD8D8ED29}" type="pres">
      <dgm:prSet presAssocID="{007532A0-4522-422F-ADC1-8159A2814F1E}" presName="sibTrans" presStyleCnt="0"/>
      <dgm:spPr/>
    </dgm:pt>
    <dgm:pt modelId="{0553FF5D-AD65-4D25-9221-F2A35000DA17}" type="pres">
      <dgm:prSet presAssocID="{F514DEE8-45A6-4DE3-9411-6D7C935EA7AB}" presName="comp" presStyleCnt="0"/>
      <dgm:spPr/>
    </dgm:pt>
    <dgm:pt modelId="{5AB842EC-327D-4FC2-BCA4-03F9EE07ABFA}" type="pres">
      <dgm:prSet presAssocID="{F514DEE8-45A6-4DE3-9411-6D7C935EA7AB}" presName="rect2" presStyleLbl="node1" presStyleIdx="1" presStyleCnt="5">
        <dgm:presLayoutVars>
          <dgm:bulletEnabled val="1"/>
        </dgm:presLayoutVars>
      </dgm:prSet>
      <dgm:spPr/>
    </dgm:pt>
    <dgm:pt modelId="{D9F2A382-6861-4735-90E8-4F908AF39ECC}" type="pres">
      <dgm:prSet presAssocID="{F514DEE8-45A6-4DE3-9411-6D7C935EA7AB}" presName="rect1" presStyleLbl="ln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</dgm:spPr>
    </dgm:pt>
    <dgm:pt modelId="{4436F1ED-93E7-4172-97AC-451C3ED235D6}" type="pres">
      <dgm:prSet presAssocID="{1DB84E25-417C-4F40-A1AF-3C14856A066D}" presName="sibTrans" presStyleCnt="0"/>
      <dgm:spPr/>
    </dgm:pt>
    <dgm:pt modelId="{6CB23534-0C75-499D-98EE-2541073AD2AC}" type="pres">
      <dgm:prSet presAssocID="{7937E314-F0DA-4BE7-A9C7-C7CBB190747B}" presName="comp" presStyleCnt="0"/>
      <dgm:spPr/>
    </dgm:pt>
    <dgm:pt modelId="{C02B0135-413F-4B16-AE76-BA1960F87683}" type="pres">
      <dgm:prSet presAssocID="{7937E314-F0DA-4BE7-A9C7-C7CBB190747B}" presName="rect2" presStyleLbl="node1" presStyleIdx="2" presStyleCnt="5">
        <dgm:presLayoutVars>
          <dgm:bulletEnabled val="1"/>
        </dgm:presLayoutVars>
      </dgm:prSet>
      <dgm:spPr/>
    </dgm:pt>
    <dgm:pt modelId="{1F3C7214-0251-48D4-B3A8-183CC0B94C67}" type="pres">
      <dgm:prSet presAssocID="{7937E314-F0DA-4BE7-A9C7-C7CBB190747B}" presName="rect1" presStyleLbl="ln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54A6CAB9-A0E0-4E63-96F8-EB2152224C64}" type="pres">
      <dgm:prSet presAssocID="{7FCE7B75-9D70-482F-9272-C0BE231159C6}" presName="sibTrans" presStyleCnt="0"/>
      <dgm:spPr/>
    </dgm:pt>
    <dgm:pt modelId="{5E48CAE4-9A02-4AEF-93D7-E10D3E19F792}" type="pres">
      <dgm:prSet presAssocID="{E25841D6-A5E8-4D04-B320-5B051889A8EE}" presName="comp" presStyleCnt="0"/>
      <dgm:spPr/>
    </dgm:pt>
    <dgm:pt modelId="{B3969FE1-BFB5-4CE8-8994-91FD94BC9D14}" type="pres">
      <dgm:prSet presAssocID="{E25841D6-A5E8-4D04-B320-5B051889A8EE}" presName="rect2" presStyleLbl="node1" presStyleIdx="3" presStyleCnt="5">
        <dgm:presLayoutVars>
          <dgm:bulletEnabled val="1"/>
        </dgm:presLayoutVars>
      </dgm:prSet>
      <dgm:spPr/>
    </dgm:pt>
    <dgm:pt modelId="{033EB8BA-682F-423A-9B40-FD7B8E2936F9}" type="pres">
      <dgm:prSet presAssocID="{E25841D6-A5E8-4D04-B320-5B051889A8EE}" presName="rect1" presStyleLbl="lnNode1" presStyleIdx="3" presStyleCnt="5" custScaleX="109652" custScaleY="99353" custLinFactNeighborX="12937" custLinFactNeighborY="-3202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5000" b="-5000"/>
          </a:stretch>
        </a:blipFill>
      </dgm:spPr>
      <dgm:extLst>
        <a:ext uri="{E40237B7-FDA0-4F09-8148-C483321AD2D9}">
          <dgm14:cNvPr xmlns:dgm14="http://schemas.microsoft.com/office/drawing/2010/diagram" id="0" name="" descr="Business Growth with solid fill"/>
        </a:ext>
      </dgm:extLst>
    </dgm:pt>
    <dgm:pt modelId="{194F2B09-09E3-4AA0-AD7B-82D8F0F4A35F}" type="pres">
      <dgm:prSet presAssocID="{7B3AD5C2-5BC5-462A-ACE4-A10D46CDF433}" presName="sibTrans" presStyleCnt="0"/>
      <dgm:spPr/>
    </dgm:pt>
    <dgm:pt modelId="{4C86C25B-0A9B-4959-9D1B-D70490F36641}" type="pres">
      <dgm:prSet presAssocID="{88EB2421-8CCB-4D88-8F13-21058551A6C8}" presName="comp" presStyleCnt="0"/>
      <dgm:spPr/>
    </dgm:pt>
    <dgm:pt modelId="{82798822-7E43-470E-919D-851E9A518B71}" type="pres">
      <dgm:prSet presAssocID="{88EB2421-8CCB-4D88-8F13-21058551A6C8}" presName="rect2" presStyleLbl="node1" presStyleIdx="4" presStyleCnt="5">
        <dgm:presLayoutVars>
          <dgm:bulletEnabled val="1"/>
        </dgm:presLayoutVars>
      </dgm:prSet>
      <dgm:spPr/>
    </dgm:pt>
    <dgm:pt modelId="{713BFD8E-448C-45E7-B380-34A1B74DAAE5}" type="pres">
      <dgm:prSet presAssocID="{88EB2421-8CCB-4D88-8F13-21058551A6C8}" presName="rect1" presStyleLbl="ln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l="-1000" r="-1000"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</dgm:ptLst>
  <dgm:cxnLst>
    <dgm:cxn modelId="{09166D1F-C674-4886-AA3E-39F03D937B53}" type="presOf" srcId="{F514DEE8-45A6-4DE3-9411-6D7C935EA7AB}" destId="{5AB842EC-327D-4FC2-BCA4-03F9EE07ABFA}" srcOrd="0" destOrd="0" presId="urn:microsoft.com/office/officeart/2008/layout/AlternatingPictureBlocks"/>
    <dgm:cxn modelId="{849B8D5C-A2BE-4677-A15B-86AB944A5835}" type="presOf" srcId="{DB6B09EF-48A2-4983-86F4-E900260D907A}" destId="{A9E4DAED-50E8-476B-BB01-0C8B7DFC5665}" srcOrd="0" destOrd="0" presId="urn:microsoft.com/office/officeart/2008/layout/AlternatingPictureBlocks"/>
    <dgm:cxn modelId="{299ADC61-CE57-4B0E-A03B-31624746F0DB}" srcId="{07584A21-7579-4129-B109-792F6AE0EAE5}" destId="{DB6B09EF-48A2-4983-86F4-E900260D907A}" srcOrd="0" destOrd="0" parTransId="{264FFE1B-7852-4E5E-BFA3-1270175A7473}" sibTransId="{007532A0-4522-422F-ADC1-8159A2814F1E}"/>
    <dgm:cxn modelId="{42960C7E-4885-4212-968D-1268678DD0E2}" srcId="{07584A21-7579-4129-B109-792F6AE0EAE5}" destId="{F514DEE8-45A6-4DE3-9411-6D7C935EA7AB}" srcOrd="1" destOrd="0" parTransId="{F2C4668B-D65E-4A3E-A293-8634D1F481F1}" sibTransId="{1DB84E25-417C-4F40-A1AF-3C14856A066D}"/>
    <dgm:cxn modelId="{9FAF837F-7F27-45E1-931B-F0962D03347F}" srcId="{07584A21-7579-4129-B109-792F6AE0EAE5}" destId="{7937E314-F0DA-4BE7-A9C7-C7CBB190747B}" srcOrd="2" destOrd="0" parTransId="{35B3435D-C76B-4789-AF52-66562CDAEB17}" sibTransId="{7FCE7B75-9D70-482F-9272-C0BE231159C6}"/>
    <dgm:cxn modelId="{DFAC098C-FE8B-476A-BB8A-CF5B22C00888}" srcId="{07584A21-7579-4129-B109-792F6AE0EAE5}" destId="{88EB2421-8CCB-4D88-8F13-21058551A6C8}" srcOrd="4" destOrd="0" parTransId="{4735E71B-F757-4DAF-B69E-C3DD556FBE09}" sibTransId="{4C4EAB84-73AC-442A-B2F3-5EBCEAE1F0A1}"/>
    <dgm:cxn modelId="{C1A47C9B-8C39-485D-B3F6-914559A59941}" type="presOf" srcId="{07584A21-7579-4129-B109-792F6AE0EAE5}" destId="{EE8470E2-4722-47CD-8B5D-01B109F43678}" srcOrd="0" destOrd="0" presId="urn:microsoft.com/office/officeart/2008/layout/AlternatingPictureBlocks"/>
    <dgm:cxn modelId="{0220F59F-1597-4E0E-881C-881E0E469B2A}" type="presOf" srcId="{E25841D6-A5E8-4D04-B320-5B051889A8EE}" destId="{B3969FE1-BFB5-4CE8-8994-91FD94BC9D14}" srcOrd="0" destOrd="0" presId="urn:microsoft.com/office/officeart/2008/layout/AlternatingPictureBlocks"/>
    <dgm:cxn modelId="{B0442ED0-FD31-48A1-81DE-37C678247044}" type="presOf" srcId="{88EB2421-8CCB-4D88-8F13-21058551A6C8}" destId="{82798822-7E43-470E-919D-851E9A518B71}" srcOrd="0" destOrd="0" presId="urn:microsoft.com/office/officeart/2008/layout/AlternatingPictureBlocks"/>
    <dgm:cxn modelId="{E63FE0D4-959C-4B62-B2E9-896D1676A2E0}" type="presOf" srcId="{7937E314-F0DA-4BE7-A9C7-C7CBB190747B}" destId="{C02B0135-413F-4B16-AE76-BA1960F87683}" srcOrd="0" destOrd="0" presId="urn:microsoft.com/office/officeart/2008/layout/AlternatingPictureBlocks"/>
    <dgm:cxn modelId="{6DC973F7-7E8A-4704-9917-7677D00FC058}" srcId="{07584A21-7579-4129-B109-792F6AE0EAE5}" destId="{E25841D6-A5E8-4D04-B320-5B051889A8EE}" srcOrd="3" destOrd="0" parTransId="{83593235-0B20-4BD1-B794-B39E3C10155A}" sibTransId="{7B3AD5C2-5BC5-462A-ACE4-A10D46CDF433}"/>
    <dgm:cxn modelId="{1B3D59A0-6810-4C2E-8BF3-930D617CA969}" type="presParOf" srcId="{EE8470E2-4722-47CD-8B5D-01B109F43678}" destId="{687A5E50-8AEC-4189-9814-A967940AAE2B}" srcOrd="0" destOrd="0" presId="urn:microsoft.com/office/officeart/2008/layout/AlternatingPictureBlocks"/>
    <dgm:cxn modelId="{255CEA3F-A8A5-4F45-AAF8-1F2F54B24773}" type="presParOf" srcId="{687A5E50-8AEC-4189-9814-A967940AAE2B}" destId="{A9E4DAED-50E8-476B-BB01-0C8B7DFC5665}" srcOrd="0" destOrd="0" presId="urn:microsoft.com/office/officeart/2008/layout/AlternatingPictureBlocks"/>
    <dgm:cxn modelId="{FCED0718-034C-47A0-8502-041E7E492578}" type="presParOf" srcId="{687A5E50-8AEC-4189-9814-A967940AAE2B}" destId="{3F0C589D-EA92-4C45-8941-E918DA133D55}" srcOrd="1" destOrd="0" presId="urn:microsoft.com/office/officeart/2008/layout/AlternatingPictureBlocks"/>
    <dgm:cxn modelId="{0737CFF9-942D-4DEE-B312-0129E49928E5}" type="presParOf" srcId="{EE8470E2-4722-47CD-8B5D-01B109F43678}" destId="{D7D30FB8-A3EB-4A5D-B0BD-538DD8D8ED29}" srcOrd="1" destOrd="0" presId="urn:microsoft.com/office/officeart/2008/layout/AlternatingPictureBlocks"/>
    <dgm:cxn modelId="{9DAA5091-5A4F-4A85-ABE4-3A79DCC85E9B}" type="presParOf" srcId="{EE8470E2-4722-47CD-8B5D-01B109F43678}" destId="{0553FF5D-AD65-4D25-9221-F2A35000DA17}" srcOrd="2" destOrd="0" presId="urn:microsoft.com/office/officeart/2008/layout/AlternatingPictureBlocks"/>
    <dgm:cxn modelId="{20EBF742-7057-4D9A-BED1-26720D9341EE}" type="presParOf" srcId="{0553FF5D-AD65-4D25-9221-F2A35000DA17}" destId="{5AB842EC-327D-4FC2-BCA4-03F9EE07ABFA}" srcOrd="0" destOrd="0" presId="urn:microsoft.com/office/officeart/2008/layout/AlternatingPictureBlocks"/>
    <dgm:cxn modelId="{E504B212-EF4C-4782-A2AD-7C4D55AB4BF8}" type="presParOf" srcId="{0553FF5D-AD65-4D25-9221-F2A35000DA17}" destId="{D9F2A382-6861-4735-90E8-4F908AF39ECC}" srcOrd="1" destOrd="0" presId="urn:microsoft.com/office/officeart/2008/layout/AlternatingPictureBlocks"/>
    <dgm:cxn modelId="{20BE1AD5-6ACF-4BDE-9923-B53CB0ED5E8E}" type="presParOf" srcId="{EE8470E2-4722-47CD-8B5D-01B109F43678}" destId="{4436F1ED-93E7-4172-97AC-451C3ED235D6}" srcOrd="3" destOrd="0" presId="urn:microsoft.com/office/officeart/2008/layout/AlternatingPictureBlocks"/>
    <dgm:cxn modelId="{EE9DF00F-4F18-435C-9BD9-7A363DA1CFA3}" type="presParOf" srcId="{EE8470E2-4722-47CD-8B5D-01B109F43678}" destId="{6CB23534-0C75-499D-98EE-2541073AD2AC}" srcOrd="4" destOrd="0" presId="urn:microsoft.com/office/officeart/2008/layout/AlternatingPictureBlocks"/>
    <dgm:cxn modelId="{C3444110-6AB7-4FC7-826A-13222080309D}" type="presParOf" srcId="{6CB23534-0C75-499D-98EE-2541073AD2AC}" destId="{C02B0135-413F-4B16-AE76-BA1960F87683}" srcOrd="0" destOrd="0" presId="urn:microsoft.com/office/officeart/2008/layout/AlternatingPictureBlocks"/>
    <dgm:cxn modelId="{EAA8F885-2190-4DDD-A39F-50F25ED9C2CE}" type="presParOf" srcId="{6CB23534-0C75-499D-98EE-2541073AD2AC}" destId="{1F3C7214-0251-48D4-B3A8-183CC0B94C67}" srcOrd="1" destOrd="0" presId="urn:microsoft.com/office/officeart/2008/layout/AlternatingPictureBlocks"/>
    <dgm:cxn modelId="{1D458E04-EE5C-432C-8C19-35D5112327E4}" type="presParOf" srcId="{EE8470E2-4722-47CD-8B5D-01B109F43678}" destId="{54A6CAB9-A0E0-4E63-96F8-EB2152224C64}" srcOrd="5" destOrd="0" presId="urn:microsoft.com/office/officeart/2008/layout/AlternatingPictureBlocks"/>
    <dgm:cxn modelId="{5A6495EF-F6F9-429B-BF59-E36D418AAA57}" type="presParOf" srcId="{EE8470E2-4722-47CD-8B5D-01B109F43678}" destId="{5E48CAE4-9A02-4AEF-93D7-E10D3E19F792}" srcOrd="6" destOrd="0" presId="urn:microsoft.com/office/officeart/2008/layout/AlternatingPictureBlocks"/>
    <dgm:cxn modelId="{BD88CE0F-182D-4125-962F-70F45716F8E3}" type="presParOf" srcId="{5E48CAE4-9A02-4AEF-93D7-E10D3E19F792}" destId="{B3969FE1-BFB5-4CE8-8994-91FD94BC9D14}" srcOrd="0" destOrd="0" presId="urn:microsoft.com/office/officeart/2008/layout/AlternatingPictureBlocks"/>
    <dgm:cxn modelId="{125CDB0D-250E-42B8-A344-FC023C988DB8}" type="presParOf" srcId="{5E48CAE4-9A02-4AEF-93D7-E10D3E19F792}" destId="{033EB8BA-682F-423A-9B40-FD7B8E2936F9}" srcOrd="1" destOrd="0" presId="urn:microsoft.com/office/officeart/2008/layout/AlternatingPictureBlocks"/>
    <dgm:cxn modelId="{76808DD8-18FB-41CE-9657-A7E4A463B66A}" type="presParOf" srcId="{EE8470E2-4722-47CD-8B5D-01B109F43678}" destId="{194F2B09-09E3-4AA0-AD7B-82D8F0F4A35F}" srcOrd="7" destOrd="0" presId="urn:microsoft.com/office/officeart/2008/layout/AlternatingPictureBlocks"/>
    <dgm:cxn modelId="{C1172FFA-E7C6-40C8-9DD2-5F69E3AEA862}" type="presParOf" srcId="{EE8470E2-4722-47CD-8B5D-01B109F43678}" destId="{4C86C25B-0A9B-4959-9D1B-D70490F36641}" srcOrd="8" destOrd="0" presId="urn:microsoft.com/office/officeart/2008/layout/AlternatingPictureBlocks"/>
    <dgm:cxn modelId="{70E73657-D8F5-4181-A7F0-28F8858D1E15}" type="presParOf" srcId="{4C86C25B-0A9B-4959-9D1B-D70490F36641}" destId="{82798822-7E43-470E-919D-851E9A518B71}" srcOrd="0" destOrd="0" presId="urn:microsoft.com/office/officeart/2008/layout/AlternatingPictureBlocks"/>
    <dgm:cxn modelId="{1BA494D4-363F-4621-8377-C3F501B76CA7}" type="presParOf" srcId="{4C86C25B-0A9B-4959-9D1B-D70490F36641}" destId="{713BFD8E-448C-45E7-B380-34A1B74DAAE5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9025F07-3836-4A22-B754-E537C0ADCE1B}" type="doc">
      <dgm:prSet loTypeId="urn:microsoft.com/office/officeart/2008/layout/AscendingPictureAccentProcess" loCatId="process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FAF26CCE-73EA-4E9D-89C2-30772F6AF1AE}">
      <dgm:prSet phldrT="[Text]"/>
      <dgm:spPr/>
      <dgm:t>
        <a:bodyPr/>
        <a:lstStyle/>
        <a:p>
          <a:pPr>
            <a:buClrTx/>
            <a:buSzTx/>
            <a:buFontTx/>
            <a:buNone/>
          </a:pPr>
          <a:r>
            <a:rPr kumimoji="0" lang="en-US" altLang="en-US" sz="1400" b="1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Priority-Driven Engagement Programs:</a:t>
          </a:r>
          <a:endParaRPr lang="en-IN" sz="1400"/>
        </a:p>
      </dgm:t>
    </dgm:pt>
    <dgm:pt modelId="{BA26727C-AC6A-418D-B0C2-2F8CDD8F446C}" type="parTrans" cxnId="{DD9C4819-17F9-4599-AE05-463421C6E2CA}">
      <dgm:prSet/>
      <dgm:spPr/>
      <dgm:t>
        <a:bodyPr/>
        <a:lstStyle/>
        <a:p>
          <a:endParaRPr lang="en-IN"/>
        </a:p>
      </dgm:t>
    </dgm:pt>
    <dgm:pt modelId="{179141EE-51FC-43EC-A7DD-0F10576573AC}" type="sibTrans" cxnId="{DD9C4819-17F9-4599-AE05-463421C6E2CA}">
      <dgm:prSet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</dgm:pt>
    <dgm:pt modelId="{E1A827F8-031E-4CDD-B6C4-25A23313E8F7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kumimoji="0" lang="en-US" altLang="en-US" sz="1800" b="1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Problem-Centric Growth Strategies:</a:t>
          </a:r>
          <a:endParaRPr lang="en-IN" sz="1800"/>
        </a:p>
      </dgm:t>
    </dgm:pt>
    <dgm:pt modelId="{25E66485-2C39-4A8B-AE08-7A778A6D2C90}" type="parTrans" cxnId="{0162C47A-7E7F-4008-B664-71A1E3AE58B2}">
      <dgm:prSet/>
      <dgm:spPr/>
      <dgm:t>
        <a:bodyPr/>
        <a:lstStyle/>
        <a:p>
          <a:endParaRPr lang="en-IN"/>
        </a:p>
      </dgm:t>
    </dgm:pt>
    <dgm:pt modelId="{EB4C1371-F1B9-4923-9BAE-CB3C845D00D1}" type="sibTrans" cxnId="{0162C47A-7E7F-4008-B664-71A1E3AE58B2}">
      <dgm:prSet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Brainstorm outline"/>
        </a:ext>
      </dgm:extLst>
    </dgm:pt>
    <dgm:pt modelId="{0C3FBB7E-8AAF-4300-8518-E0CD33B1675D}">
      <dgm:prSet custT="1"/>
      <dgm:spPr/>
      <dgm:t>
        <a:bodyPr/>
        <a:lstStyle/>
        <a:p>
          <a:r>
            <a:rPr kumimoji="0" lang="en-US" altLang="en-US" sz="1200" b="0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This means prioritizing our efforts and resources towards customer segments offering the highest potential for immediate returns and sales conversion</a:t>
          </a:r>
        </a:p>
      </dgm:t>
    </dgm:pt>
    <dgm:pt modelId="{813C2DDD-7577-437B-9FF2-0559676D72F0}" type="parTrans" cxnId="{80FB9B80-C56B-48CD-8148-121B7C9FFEED}">
      <dgm:prSet/>
      <dgm:spPr/>
      <dgm:t>
        <a:bodyPr/>
        <a:lstStyle/>
        <a:p>
          <a:endParaRPr lang="en-IN"/>
        </a:p>
      </dgm:t>
    </dgm:pt>
    <dgm:pt modelId="{16E59211-F7CA-4C69-B887-810DA303426D}" type="sibTrans" cxnId="{80FB9B80-C56B-48CD-8148-121B7C9FFEED}">
      <dgm:prSet/>
      <dgm:spPr/>
      <dgm:t>
        <a:bodyPr/>
        <a:lstStyle/>
        <a:p>
          <a:endParaRPr lang="en-IN"/>
        </a:p>
      </dgm:t>
    </dgm:pt>
    <dgm:pt modelId="{785A210F-4C7E-4A74-A7E8-7A32C2F676B4}">
      <dgm:prSet custT="1"/>
      <dgm:spPr/>
      <dgm:t>
        <a:bodyPr/>
        <a:lstStyle/>
        <a:p>
          <a:r>
            <a:rPr kumimoji="0" lang="en-US" altLang="en-US" sz="1200" b="0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Resolving Credit Accessibility and </a:t>
          </a:r>
          <a:r>
            <a:rPr kumimoji="0" lang="en-US" altLang="en-US" sz="1200" b="0" i="0" u="none" strike="noStrike" cap="none" normalizeH="0" baseline="0" err="1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sctivating</a:t>
          </a:r>
          <a:r>
            <a:rPr kumimoji="0" lang="en-US" altLang="en-US" sz="1200" b="0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Untapped Markets and issues related to P-same brands</a:t>
          </a:r>
        </a:p>
      </dgm:t>
    </dgm:pt>
    <dgm:pt modelId="{F55B638C-3ECA-4FE1-926A-7BD62B22F794}" type="parTrans" cxnId="{A2A60471-C8FA-4325-9148-40AD102F1B5E}">
      <dgm:prSet/>
      <dgm:spPr/>
      <dgm:t>
        <a:bodyPr/>
        <a:lstStyle/>
        <a:p>
          <a:endParaRPr lang="en-IN"/>
        </a:p>
      </dgm:t>
    </dgm:pt>
    <dgm:pt modelId="{7FBEFA42-7956-4CF3-AE7B-9A8A3758CDA8}" type="sibTrans" cxnId="{A2A60471-C8FA-4325-9148-40AD102F1B5E}">
      <dgm:prSet/>
      <dgm:spPr/>
      <dgm:t>
        <a:bodyPr/>
        <a:lstStyle/>
        <a:p>
          <a:endParaRPr lang="en-IN"/>
        </a:p>
      </dgm:t>
    </dgm:pt>
    <dgm:pt modelId="{D60A8CD4-FDD6-4D05-AE50-F5BA37152D24}">
      <dgm:prSet custT="1"/>
      <dgm:spPr/>
      <dgm:t>
        <a:bodyPr/>
        <a:lstStyle/>
        <a:p>
          <a:r>
            <a:rPr kumimoji="0" lang="en-US" altLang="en-US" sz="1800" b="1" i="0" u="none" strike="noStrike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Increment of sales productivity</a:t>
          </a:r>
        </a:p>
      </dgm:t>
    </dgm:pt>
    <dgm:pt modelId="{5BFA722C-B126-4CDF-8BEB-832789ADBB18}" type="sibTrans" cxnId="{5D1018E2-4E26-4EC1-87BA-91AA896BB107}">
      <dgm:prSet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IN"/>
        </a:p>
      </dgm:t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4DC7B0B2-A744-479B-9A96-F0F7B17EA6AE}" type="parTrans" cxnId="{5D1018E2-4E26-4EC1-87BA-91AA896BB107}">
      <dgm:prSet/>
      <dgm:spPr/>
      <dgm:t>
        <a:bodyPr/>
        <a:lstStyle/>
        <a:p>
          <a:endParaRPr lang="en-IN"/>
        </a:p>
      </dgm:t>
    </dgm:pt>
    <dgm:pt modelId="{BE37B5FF-1C46-4CAF-81B9-A4E39E40DD60}" type="pres">
      <dgm:prSet presAssocID="{99025F07-3836-4A22-B754-E537C0ADCE1B}" presName="Name0" presStyleCnt="0">
        <dgm:presLayoutVars>
          <dgm:chMax val="7"/>
          <dgm:chPref val="7"/>
          <dgm:dir/>
        </dgm:presLayoutVars>
      </dgm:prSet>
      <dgm:spPr/>
    </dgm:pt>
    <dgm:pt modelId="{7608A403-C48C-4445-8199-C5A9F687E098}" type="pres">
      <dgm:prSet presAssocID="{99025F07-3836-4A22-B754-E537C0ADCE1B}" presName="dot1" presStyleLbl="alignNode1" presStyleIdx="0" presStyleCnt="12"/>
      <dgm:spPr/>
    </dgm:pt>
    <dgm:pt modelId="{E2A1E59B-E231-4D3D-8DAB-27F5F8E88006}" type="pres">
      <dgm:prSet presAssocID="{99025F07-3836-4A22-B754-E537C0ADCE1B}" presName="dot2" presStyleLbl="alignNode1" presStyleIdx="1" presStyleCnt="12"/>
      <dgm:spPr/>
    </dgm:pt>
    <dgm:pt modelId="{48F48197-D417-4F0A-9FCE-2B22C5CA7D1A}" type="pres">
      <dgm:prSet presAssocID="{99025F07-3836-4A22-B754-E537C0ADCE1B}" presName="dot3" presStyleLbl="alignNode1" presStyleIdx="2" presStyleCnt="12"/>
      <dgm:spPr/>
    </dgm:pt>
    <dgm:pt modelId="{32FF086D-57B7-4F95-B909-FC45CF0A060A}" type="pres">
      <dgm:prSet presAssocID="{99025F07-3836-4A22-B754-E537C0ADCE1B}" presName="dot4" presStyleLbl="alignNode1" presStyleIdx="3" presStyleCnt="12"/>
      <dgm:spPr/>
    </dgm:pt>
    <dgm:pt modelId="{5D996022-3B9C-4E0A-9A82-4B0207F05095}" type="pres">
      <dgm:prSet presAssocID="{99025F07-3836-4A22-B754-E537C0ADCE1B}" presName="dot5" presStyleLbl="alignNode1" presStyleIdx="4" presStyleCnt="12"/>
      <dgm:spPr/>
    </dgm:pt>
    <dgm:pt modelId="{7B192C55-F73E-4EAC-AAAC-93A524861190}" type="pres">
      <dgm:prSet presAssocID="{99025F07-3836-4A22-B754-E537C0ADCE1B}" presName="dotArrow1" presStyleLbl="alignNode1" presStyleIdx="5" presStyleCnt="12"/>
      <dgm:spPr/>
    </dgm:pt>
    <dgm:pt modelId="{8F90B34F-8D80-445A-8130-2E1E780F8A37}" type="pres">
      <dgm:prSet presAssocID="{99025F07-3836-4A22-B754-E537C0ADCE1B}" presName="dotArrow2" presStyleLbl="alignNode1" presStyleIdx="6" presStyleCnt="12"/>
      <dgm:spPr/>
    </dgm:pt>
    <dgm:pt modelId="{9771AD5B-5900-4FAD-875E-3FD2827CDAF6}" type="pres">
      <dgm:prSet presAssocID="{99025F07-3836-4A22-B754-E537C0ADCE1B}" presName="dotArrow3" presStyleLbl="alignNode1" presStyleIdx="7" presStyleCnt="12"/>
      <dgm:spPr/>
    </dgm:pt>
    <dgm:pt modelId="{0635F296-4AFC-4AFC-ADF9-C06486BDE3BB}" type="pres">
      <dgm:prSet presAssocID="{99025F07-3836-4A22-B754-E537C0ADCE1B}" presName="dotArrow4" presStyleLbl="alignNode1" presStyleIdx="8" presStyleCnt="12"/>
      <dgm:spPr/>
    </dgm:pt>
    <dgm:pt modelId="{A4409E6D-0D44-4BC9-A0F7-00193278D7E3}" type="pres">
      <dgm:prSet presAssocID="{99025F07-3836-4A22-B754-E537C0ADCE1B}" presName="dotArrow5" presStyleLbl="alignNode1" presStyleIdx="9" presStyleCnt="12"/>
      <dgm:spPr/>
    </dgm:pt>
    <dgm:pt modelId="{6B78A3F7-E449-4CD1-8605-E9A772D61EA3}" type="pres">
      <dgm:prSet presAssocID="{99025F07-3836-4A22-B754-E537C0ADCE1B}" presName="dotArrow6" presStyleLbl="alignNode1" presStyleIdx="10" presStyleCnt="12"/>
      <dgm:spPr/>
    </dgm:pt>
    <dgm:pt modelId="{46D35E8A-37D7-424E-ABCF-9DE461C02C58}" type="pres">
      <dgm:prSet presAssocID="{99025F07-3836-4A22-B754-E537C0ADCE1B}" presName="dotArrow7" presStyleLbl="alignNode1" presStyleIdx="11" presStyleCnt="12"/>
      <dgm:spPr/>
    </dgm:pt>
    <dgm:pt modelId="{35B7067A-BA11-44B2-9305-DA1D4D9DC3ED}" type="pres">
      <dgm:prSet presAssocID="{FAF26CCE-73EA-4E9D-89C2-30772F6AF1AE}" presName="parTx1" presStyleLbl="node1" presStyleIdx="0" presStyleCnt="3"/>
      <dgm:spPr/>
    </dgm:pt>
    <dgm:pt modelId="{8CCAEC8D-11F9-4FBF-A289-68060E4A0707}" type="pres">
      <dgm:prSet presAssocID="{FAF26CCE-73EA-4E9D-89C2-30772F6AF1AE}" presName="desTx1" presStyleLbl="revTx" presStyleIdx="0" presStyleCnt="2">
        <dgm:presLayoutVars>
          <dgm:bulletEnabled val="1"/>
        </dgm:presLayoutVars>
      </dgm:prSet>
      <dgm:spPr/>
    </dgm:pt>
    <dgm:pt modelId="{E45B2FF4-5558-44B6-A7F1-24AA8983A831}" type="pres">
      <dgm:prSet presAssocID="{179141EE-51FC-43EC-A7DD-0F10576573AC}" presName="picture1" presStyleCnt="0"/>
      <dgm:spPr/>
    </dgm:pt>
    <dgm:pt modelId="{FF6605AF-6535-427D-8348-A0FCB51F5C7A}" type="pres">
      <dgm:prSet presAssocID="{179141EE-51FC-43EC-A7DD-0F10576573AC}" presName="imageRepeatNode" presStyleLbl="fgImgPlace1" presStyleIdx="0" presStyleCnt="3" custLinFactNeighborX="-17686" custLinFactNeighborY="9359"/>
      <dgm:spPr/>
    </dgm:pt>
    <dgm:pt modelId="{6AFF448E-156C-449D-B79F-FE0727A8D558}" type="pres">
      <dgm:prSet presAssocID="{E1A827F8-031E-4CDD-B6C4-25A23313E8F7}" presName="parTx2" presStyleLbl="node1" presStyleIdx="1" presStyleCnt="3"/>
      <dgm:spPr/>
    </dgm:pt>
    <dgm:pt modelId="{F92E648B-F64C-4283-A876-DF9624EA6E9D}" type="pres">
      <dgm:prSet presAssocID="{E1A827F8-031E-4CDD-B6C4-25A23313E8F7}" presName="desTx2" presStyleLbl="revTx" presStyleIdx="1" presStyleCnt="2">
        <dgm:presLayoutVars>
          <dgm:bulletEnabled val="1"/>
        </dgm:presLayoutVars>
      </dgm:prSet>
      <dgm:spPr/>
    </dgm:pt>
    <dgm:pt modelId="{04EA0FE9-F168-4BDC-BB7C-07BE909D8199}" type="pres">
      <dgm:prSet presAssocID="{EB4C1371-F1B9-4923-9BAE-CB3C845D00D1}" presName="picture2" presStyleCnt="0"/>
      <dgm:spPr/>
    </dgm:pt>
    <dgm:pt modelId="{EBB626BC-894F-4992-8E17-379B9BC22654}" type="pres">
      <dgm:prSet presAssocID="{EB4C1371-F1B9-4923-9BAE-CB3C845D00D1}" presName="imageRepeatNode" presStyleLbl="fgImgPlace1" presStyleIdx="1" presStyleCnt="3" custLinFactNeighborX="4602" custLinFactNeighborY="6768"/>
      <dgm:spPr/>
    </dgm:pt>
    <dgm:pt modelId="{86937FD0-4EB1-4F9E-8009-1F8DBAE1E575}" type="pres">
      <dgm:prSet presAssocID="{D60A8CD4-FDD6-4D05-AE50-F5BA37152D24}" presName="parTx3" presStyleLbl="node1" presStyleIdx="2" presStyleCnt="3"/>
      <dgm:spPr/>
    </dgm:pt>
    <dgm:pt modelId="{B00B4D19-C48A-4797-8A2C-3FEFB11FAB60}" type="pres">
      <dgm:prSet presAssocID="{5BFA722C-B126-4CDF-8BEB-832789ADBB18}" presName="picture3" presStyleCnt="0"/>
      <dgm:spPr/>
    </dgm:pt>
    <dgm:pt modelId="{7A0517AD-5494-415B-BA32-7C00641754D4}" type="pres">
      <dgm:prSet presAssocID="{5BFA722C-B126-4CDF-8BEB-832789ADBB18}" presName="imageRepeatNode" presStyleLbl="fgImgPlace1" presStyleIdx="2" presStyleCnt="3" custLinFactNeighborX="6800" custLinFactNeighborY="-4503"/>
      <dgm:spPr/>
    </dgm:pt>
  </dgm:ptLst>
  <dgm:cxnLst>
    <dgm:cxn modelId="{DD9C4819-17F9-4599-AE05-463421C6E2CA}" srcId="{99025F07-3836-4A22-B754-E537C0ADCE1B}" destId="{FAF26CCE-73EA-4E9D-89C2-30772F6AF1AE}" srcOrd="0" destOrd="0" parTransId="{BA26727C-AC6A-418D-B0C2-2F8CDD8F446C}" sibTransId="{179141EE-51FC-43EC-A7DD-0F10576573AC}"/>
    <dgm:cxn modelId="{1FB7F93E-6143-40B4-9F55-CDFDB00E626E}" type="presOf" srcId="{D60A8CD4-FDD6-4D05-AE50-F5BA37152D24}" destId="{86937FD0-4EB1-4F9E-8009-1F8DBAE1E575}" srcOrd="0" destOrd="0" presId="urn:microsoft.com/office/officeart/2008/layout/AscendingPictureAccentProcess"/>
    <dgm:cxn modelId="{6A7D375E-BF16-4A55-AD2D-16D65759D6A6}" type="presOf" srcId="{FAF26CCE-73EA-4E9D-89C2-30772F6AF1AE}" destId="{35B7067A-BA11-44B2-9305-DA1D4D9DC3ED}" srcOrd="0" destOrd="0" presId="urn:microsoft.com/office/officeart/2008/layout/AscendingPictureAccentProcess"/>
    <dgm:cxn modelId="{A2A60471-C8FA-4325-9148-40AD102F1B5E}" srcId="{E1A827F8-031E-4CDD-B6C4-25A23313E8F7}" destId="{785A210F-4C7E-4A74-A7E8-7A32C2F676B4}" srcOrd="0" destOrd="0" parTransId="{F55B638C-3ECA-4FE1-926A-7BD62B22F794}" sibTransId="{7FBEFA42-7956-4CF3-AE7B-9A8A3758CDA8}"/>
    <dgm:cxn modelId="{7C75A774-4649-421A-9D3C-D6CBE4CA05D2}" type="presOf" srcId="{E1A827F8-031E-4CDD-B6C4-25A23313E8F7}" destId="{6AFF448E-156C-449D-B79F-FE0727A8D558}" srcOrd="0" destOrd="0" presId="urn:microsoft.com/office/officeart/2008/layout/AscendingPictureAccentProcess"/>
    <dgm:cxn modelId="{0162C47A-7E7F-4008-B664-71A1E3AE58B2}" srcId="{99025F07-3836-4A22-B754-E537C0ADCE1B}" destId="{E1A827F8-031E-4CDD-B6C4-25A23313E8F7}" srcOrd="1" destOrd="0" parTransId="{25E66485-2C39-4A8B-AE08-7A778A6D2C90}" sibTransId="{EB4C1371-F1B9-4923-9BAE-CB3C845D00D1}"/>
    <dgm:cxn modelId="{80FB9B80-C56B-48CD-8148-121B7C9FFEED}" srcId="{FAF26CCE-73EA-4E9D-89C2-30772F6AF1AE}" destId="{0C3FBB7E-8AAF-4300-8518-E0CD33B1675D}" srcOrd="0" destOrd="0" parTransId="{813C2DDD-7577-437B-9FF2-0559676D72F0}" sibTransId="{16E59211-F7CA-4C69-B887-810DA303426D}"/>
    <dgm:cxn modelId="{5C09C481-C33C-4095-B80A-E2DA62FF8487}" type="presOf" srcId="{EB4C1371-F1B9-4923-9BAE-CB3C845D00D1}" destId="{EBB626BC-894F-4992-8E17-379B9BC22654}" srcOrd="0" destOrd="0" presId="urn:microsoft.com/office/officeart/2008/layout/AscendingPictureAccentProcess"/>
    <dgm:cxn modelId="{43ED138B-0BFB-444E-891E-0F5D971E1C1F}" type="presOf" srcId="{179141EE-51FC-43EC-A7DD-0F10576573AC}" destId="{FF6605AF-6535-427D-8348-A0FCB51F5C7A}" srcOrd="0" destOrd="0" presId="urn:microsoft.com/office/officeart/2008/layout/AscendingPictureAccentProcess"/>
    <dgm:cxn modelId="{2B2F2AA4-533D-4D28-95C0-44A138E8A69B}" type="presOf" srcId="{99025F07-3836-4A22-B754-E537C0ADCE1B}" destId="{BE37B5FF-1C46-4CAF-81B9-A4E39E40DD60}" srcOrd="0" destOrd="0" presId="urn:microsoft.com/office/officeart/2008/layout/AscendingPictureAccentProcess"/>
    <dgm:cxn modelId="{BA73AABB-E3E3-4619-A481-DD86D1A3A815}" type="presOf" srcId="{5BFA722C-B126-4CDF-8BEB-832789ADBB18}" destId="{7A0517AD-5494-415B-BA32-7C00641754D4}" srcOrd="0" destOrd="0" presId="urn:microsoft.com/office/officeart/2008/layout/AscendingPictureAccentProcess"/>
    <dgm:cxn modelId="{5D1018E2-4E26-4EC1-87BA-91AA896BB107}" srcId="{99025F07-3836-4A22-B754-E537C0ADCE1B}" destId="{D60A8CD4-FDD6-4D05-AE50-F5BA37152D24}" srcOrd="2" destOrd="0" parTransId="{4DC7B0B2-A744-479B-9A96-F0F7B17EA6AE}" sibTransId="{5BFA722C-B126-4CDF-8BEB-832789ADBB18}"/>
    <dgm:cxn modelId="{1A3BE6ED-0732-4885-ADC9-5B2FFDAD5260}" type="presOf" srcId="{0C3FBB7E-8AAF-4300-8518-E0CD33B1675D}" destId="{8CCAEC8D-11F9-4FBF-A289-68060E4A0707}" srcOrd="0" destOrd="0" presId="urn:microsoft.com/office/officeart/2008/layout/AscendingPictureAccentProcess"/>
    <dgm:cxn modelId="{241749F0-BBFE-4C1D-9DB4-F4E9E7246A52}" type="presOf" srcId="{785A210F-4C7E-4A74-A7E8-7A32C2F676B4}" destId="{F92E648B-F64C-4283-A876-DF9624EA6E9D}" srcOrd="0" destOrd="0" presId="urn:microsoft.com/office/officeart/2008/layout/AscendingPictureAccentProcess"/>
    <dgm:cxn modelId="{5C1D5314-86F4-4E00-8BF5-C64AF2E7C04C}" type="presParOf" srcId="{BE37B5FF-1C46-4CAF-81B9-A4E39E40DD60}" destId="{7608A403-C48C-4445-8199-C5A9F687E098}" srcOrd="0" destOrd="0" presId="urn:microsoft.com/office/officeart/2008/layout/AscendingPictureAccentProcess"/>
    <dgm:cxn modelId="{FA121EEF-2FB4-4931-9918-7C5B7E1C0F53}" type="presParOf" srcId="{BE37B5FF-1C46-4CAF-81B9-A4E39E40DD60}" destId="{E2A1E59B-E231-4D3D-8DAB-27F5F8E88006}" srcOrd="1" destOrd="0" presId="urn:microsoft.com/office/officeart/2008/layout/AscendingPictureAccentProcess"/>
    <dgm:cxn modelId="{D49D41F5-E44A-4D6F-9D66-9A0301B99FA2}" type="presParOf" srcId="{BE37B5FF-1C46-4CAF-81B9-A4E39E40DD60}" destId="{48F48197-D417-4F0A-9FCE-2B22C5CA7D1A}" srcOrd="2" destOrd="0" presId="urn:microsoft.com/office/officeart/2008/layout/AscendingPictureAccentProcess"/>
    <dgm:cxn modelId="{D134D897-6B3F-4282-A364-A51EAA887299}" type="presParOf" srcId="{BE37B5FF-1C46-4CAF-81B9-A4E39E40DD60}" destId="{32FF086D-57B7-4F95-B909-FC45CF0A060A}" srcOrd="3" destOrd="0" presId="urn:microsoft.com/office/officeart/2008/layout/AscendingPictureAccentProcess"/>
    <dgm:cxn modelId="{A9E96F4C-3DDD-4630-9259-28AE1904BFF4}" type="presParOf" srcId="{BE37B5FF-1C46-4CAF-81B9-A4E39E40DD60}" destId="{5D996022-3B9C-4E0A-9A82-4B0207F05095}" srcOrd="4" destOrd="0" presId="urn:microsoft.com/office/officeart/2008/layout/AscendingPictureAccentProcess"/>
    <dgm:cxn modelId="{7AFF7A51-445E-4F07-8BA9-6FD0526C7696}" type="presParOf" srcId="{BE37B5FF-1C46-4CAF-81B9-A4E39E40DD60}" destId="{7B192C55-F73E-4EAC-AAAC-93A524861190}" srcOrd="5" destOrd="0" presId="urn:microsoft.com/office/officeart/2008/layout/AscendingPictureAccentProcess"/>
    <dgm:cxn modelId="{7267638F-A23F-48BA-AAA8-ACE8506392C9}" type="presParOf" srcId="{BE37B5FF-1C46-4CAF-81B9-A4E39E40DD60}" destId="{8F90B34F-8D80-445A-8130-2E1E780F8A37}" srcOrd="6" destOrd="0" presId="urn:microsoft.com/office/officeart/2008/layout/AscendingPictureAccentProcess"/>
    <dgm:cxn modelId="{CC0FAA9A-06D9-43CB-B51D-A71788BD0408}" type="presParOf" srcId="{BE37B5FF-1C46-4CAF-81B9-A4E39E40DD60}" destId="{9771AD5B-5900-4FAD-875E-3FD2827CDAF6}" srcOrd="7" destOrd="0" presId="urn:microsoft.com/office/officeart/2008/layout/AscendingPictureAccentProcess"/>
    <dgm:cxn modelId="{4D2F2009-BDD8-4C05-96DE-69C0BB033747}" type="presParOf" srcId="{BE37B5FF-1C46-4CAF-81B9-A4E39E40DD60}" destId="{0635F296-4AFC-4AFC-ADF9-C06486BDE3BB}" srcOrd="8" destOrd="0" presId="urn:microsoft.com/office/officeart/2008/layout/AscendingPictureAccentProcess"/>
    <dgm:cxn modelId="{66DD5D6E-6FAD-40DE-B7E6-72E9964F85B7}" type="presParOf" srcId="{BE37B5FF-1C46-4CAF-81B9-A4E39E40DD60}" destId="{A4409E6D-0D44-4BC9-A0F7-00193278D7E3}" srcOrd="9" destOrd="0" presId="urn:microsoft.com/office/officeart/2008/layout/AscendingPictureAccentProcess"/>
    <dgm:cxn modelId="{EF782DC3-9CB2-454D-9A8F-DB27402B6120}" type="presParOf" srcId="{BE37B5FF-1C46-4CAF-81B9-A4E39E40DD60}" destId="{6B78A3F7-E449-4CD1-8605-E9A772D61EA3}" srcOrd="10" destOrd="0" presId="urn:microsoft.com/office/officeart/2008/layout/AscendingPictureAccentProcess"/>
    <dgm:cxn modelId="{8D9CD0D1-6AD6-4413-9859-56C141BCB33D}" type="presParOf" srcId="{BE37B5FF-1C46-4CAF-81B9-A4E39E40DD60}" destId="{46D35E8A-37D7-424E-ABCF-9DE461C02C58}" srcOrd="11" destOrd="0" presId="urn:microsoft.com/office/officeart/2008/layout/AscendingPictureAccentProcess"/>
    <dgm:cxn modelId="{5F57A663-6960-4BB8-91E2-B6D0C17AA8D3}" type="presParOf" srcId="{BE37B5FF-1C46-4CAF-81B9-A4E39E40DD60}" destId="{35B7067A-BA11-44B2-9305-DA1D4D9DC3ED}" srcOrd="12" destOrd="0" presId="urn:microsoft.com/office/officeart/2008/layout/AscendingPictureAccentProcess"/>
    <dgm:cxn modelId="{03E19F71-E726-4A1D-8987-EB7B4E35C1BE}" type="presParOf" srcId="{BE37B5FF-1C46-4CAF-81B9-A4E39E40DD60}" destId="{8CCAEC8D-11F9-4FBF-A289-68060E4A0707}" srcOrd="13" destOrd="0" presId="urn:microsoft.com/office/officeart/2008/layout/AscendingPictureAccentProcess"/>
    <dgm:cxn modelId="{BF48B80C-3A7F-4CD3-9EBE-49E4C7B95C5D}" type="presParOf" srcId="{BE37B5FF-1C46-4CAF-81B9-A4E39E40DD60}" destId="{E45B2FF4-5558-44B6-A7F1-24AA8983A831}" srcOrd="14" destOrd="0" presId="urn:microsoft.com/office/officeart/2008/layout/AscendingPictureAccentProcess"/>
    <dgm:cxn modelId="{07A24D3D-D7C7-45D8-8A32-679C03EC7C4A}" type="presParOf" srcId="{E45B2FF4-5558-44B6-A7F1-24AA8983A831}" destId="{FF6605AF-6535-427D-8348-A0FCB51F5C7A}" srcOrd="0" destOrd="0" presId="urn:microsoft.com/office/officeart/2008/layout/AscendingPictureAccentProcess"/>
    <dgm:cxn modelId="{B7A54475-C884-46D2-8B61-69F48C4C3310}" type="presParOf" srcId="{BE37B5FF-1C46-4CAF-81B9-A4E39E40DD60}" destId="{6AFF448E-156C-449D-B79F-FE0727A8D558}" srcOrd="15" destOrd="0" presId="urn:microsoft.com/office/officeart/2008/layout/AscendingPictureAccentProcess"/>
    <dgm:cxn modelId="{A3E4C7B6-EA3F-4A45-996C-8033B107CF92}" type="presParOf" srcId="{BE37B5FF-1C46-4CAF-81B9-A4E39E40DD60}" destId="{F92E648B-F64C-4283-A876-DF9624EA6E9D}" srcOrd="16" destOrd="0" presId="urn:microsoft.com/office/officeart/2008/layout/AscendingPictureAccentProcess"/>
    <dgm:cxn modelId="{C6B29513-C4A3-42E9-B936-1CCC54BCDCF9}" type="presParOf" srcId="{BE37B5FF-1C46-4CAF-81B9-A4E39E40DD60}" destId="{04EA0FE9-F168-4BDC-BB7C-07BE909D8199}" srcOrd="17" destOrd="0" presId="urn:microsoft.com/office/officeart/2008/layout/AscendingPictureAccentProcess"/>
    <dgm:cxn modelId="{5C2939BE-30D6-4853-93B2-9C3F449D051C}" type="presParOf" srcId="{04EA0FE9-F168-4BDC-BB7C-07BE909D8199}" destId="{EBB626BC-894F-4992-8E17-379B9BC22654}" srcOrd="0" destOrd="0" presId="urn:microsoft.com/office/officeart/2008/layout/AscendingPictureAccentProcess"/>
    <dgm:cxn modelId="{B82DF8E7-DB17-45F8-AC32-1E927FBF8528}" type="presParOf" srcId="{BE37B5FF-1C46-4CAF-81B9-A4E39E40DD60}" destId="{86937FD0-4EB1-4F9E-8009-1F8DBAE1E575}" srcOrd="18" destOrd="0" presId="urn:microsoft.com/office/officeart/2008/layout/AscendingPictureAccentProcess"/>
    <dgm:cxn modelId="{CF740E9E-E828-4FD6-851C-8F5A45B5F49B}" type="presParOf" srcId="{BE37B5FF-1C46-4CAF-81B9-A4E39E40DD60}" destId="{B00B4D19-C48A-4797-8A2C-3FEFB11FAB60}" srcOrd="19" destOrd="0" presId="urn:microsoft.com/office/officeart/2008/layout/AscendingPictureAccentProcess"/>
    <dgm:cxn modelId="{8BE8B88C-07A6-4663-8D25-EC241685483C}" type="presParOf" srcId="{B00B4D19-C48A-4797-8A2C-3FEFB11FAB60}" destId="{7A0517AD-5494-415B-BA32-7C00641754D4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C59FDE-DA6B-41B4-B3C3-1D162D5D29F3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E3A91E-8731-4F68-8E31-9E955462E55B}">
      <dgm:prSet phldrT="[Text]" custT="1"/>
      <dgm:spPr/>
      <dgm:t>
        <a:bodyPr/>
        <a:lstStyle/>
        <a:p>
          <a:r>
            <a:rPr lang="en-GB" sz="1600" b="1" i="0">
              <a:latin typeface="Times New Roman" panose="02020603050405020304" pitchFamily="18" charset="0"/>
              <a:cs typeface="Times New Roman" panose="02020603050405020304" pitchFamily="18" charset="0"/>
            </a:rPr>
            <a:t>Credit &amp; Margin Challenges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003FDA-7ABC-4665-8C1D-B70C643A3863}" type="parTrans" cxnId="{8D7A6FE3-D71A-4AAA-81B9-DF794FF1FD71}">
      <dgm:prSet/>
      <dgm:spPr/>
      <dgm:t>
        <a:bodyPr/>
        <a:lstStyle/>
        <a:p>
          <a:endParaRPr lang="en-US"/>
        </a:p>
      </dgm:t>
    </dgm:pt>
    <dgm:pt modelId="{47C6796A-902D-439F-BED5-9262AC023C65}" type="sibTrans" cxnId="{8D7A6FE3-D71A-4AAA-81B9-DF794FF1FD71}">
      <dgm:prSet/>
      <dgm:spPr/>
      <dgm:t>
        <a:bodyPr/>
        <a:lstStyle/>
        <a:p>
          <a:endParaRPr lang="en-US"/>
        </a:p>
      </dgm:t>
    </dgm:pt>
    <dgm:pt modelId="{1F84E67B-7B25-477A-AE5F-E5AA50D8726E}">
      <dgm:prSet phldrT="[Text]"/>
      <dgm:spPr/>
      <dgm:t>
        <a:bodyPr/>
        <a:lstStyle/>
        <a:p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Retailers say JSW offers 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credit with interest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, while competitors often give 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interest-free or dealer-backed rolling credit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 → retailers hesitate to take JSW credit.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297F12-C316-4DC6-AF19-1DE85289860F}" type="parTrans" cxnId="{BADD2A89-7113-4089-A3C7-856A059FDF9F}">
      <dgm:prSet/>
      <dgm:spPr/>
      <dgm:t>
        <a:bodyPr/>
        <a:lstStyle/>
        <a:p>
          <a:endParaRPr lang="en-US"/>
        </a:p>
      </dgm:t>
    </dgm:pt>
    <dgm:pt modelId="{1CF245D2-C268-4E96-8AF4-B016E563A43E}" type="sibTrans" cxnId="{BADD2A89-7113-4089-A3C7-856A059FDF9F}">
      <dgm:prSet/>
      <dgm:spPr/>
      <dgm:t>
        <a:bodyPr/>
        <a:lstStyle/>
        <a:p>
          <a:endParaRPr lang="en-US"/>
        </a:p>
      </dgm:t>
    </dgm:pt>
    <dgm:pt modelId="{C85E0436-C83C-4531-BCBF-730460387222}">
      <dgm:prSet phldrT="[Text]"/>
      <dgm:spPr/>
      <dgm:t>
        <a:bodyPr/>
        <a:lstStyle/>
        <a:p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Typical 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dealer margin only 2–3%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 → not enough to justify switching or pushing JSW vs existing brands.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CD5D09-2317-4283-8B17-F31AA28E4E69}" type="parTrans" cxnId="{2983F962-2254-4055-BF60-DB0EA53AFE7D}">
      <dgm:prSet/>
      <dgm:spPr/>
      <dgm:t>
        <a:bodyPr/>
        <a:lstStyle/>
        <a:p>
          <a:endParaRPr lang="en-US"/>
        </a:p>
      </dgm:t>
    </dgm:pt>
    <dgm:pt modelId="{DFE461C0-4200-426D-9A35-F5498D86955A}" type="sibTrans" cxnId="{2983F962-2254-4055-BF60-DB0EA53AFE7D}">
      <dgm:prSet/>
      <dgm:spPr/>
      <dgm:t>
        <a:bodyPr/>
        <a:lstStyle/>
        <a:p>
          <a:endParaRPr lang="en-US"/>
        </a:p>
      </dgm:t>
    </dgm:pt>
    <dgm:pt modelId="{13ABA5B6-F99D-40E1-BE10-71CC0D74420A}">
      <dgm:prSet phldrT="[Text]" custT="1"/>
      <dgm:spPr/>
      <dgm:t>
        <a:bodyPr/>
        <a:lstStyle/>
        <a:p>
          <a:r>
            <a:rPr lang="en-GB" sz="1600" b="1" i="0">
              <a:latin typeface="Times New Roman" panose="02020603050405020304" pitchFamily="18" charset="0"/>
              <a:cs typeface="Times New Roman" panose="02020603050405020304" pitchFamily="18" charset="0"/>
            </a:rPr>
            <a:t>No Perceived Value Addition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5DFB5A-9A18-468A-AA15-D13C1F1EE1D7}" type="parTrans" cxnId="{9A0E8044-A369-4523-BF88-E68D5F41405C}">
      <dgm:prSet/>
      <dgm:spPr/>
      <dgm:t>
        <a:bodyPr/>
        <a:lstStyle/>
        <a:p>
          <a:endParaRPr lang="en-US"/>
        </a:p>
      </dgm:t>
    </dgm:pt>
    <dgm:pt modelId="{5479FDC0-E663-4EEB-B893-CBD7F71413CA}" type="sibTrans" cxnId="{9A0E8044-A369-4523-BF88-E68D5F41405C}">
      <dgm:prSet/>
      <dgm:spPr/>
      <dgm:t>
        <a:bodyPr/>
        <a:lstStyle/>
        <a:p>
          <a:endParaRPr lang="en-US"/>
        </a:p>
      </dgm:t>
    </dgm:pt>
    <dgm:pt modelId="{102FA377-B079-404E-AEEF-2C930F8BB0A1}">
      <dgm:prSet phldrT="[Text]"/>
      <dgm:spPr/>
      <dgm:t>
        <a:bodyPr/>
        <a:lstStyle/>
        <a:p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Retailers see JSW One as </a:t>
          </a:r>
          <a:r>
            <a:rPr lang="en-GB" b="1" i="0">
              <a:latin typeface="Times New Roman" panose="02020603050405020304" pitchFamily="18" charset="0"/>
              <a:cs typeface="Times New Roman" panose="02020603050405020304" pitchFamily="18" charset="0"/>
            </a:rPr>
            <a:t>just another supplier</a:t>
          </a:r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, lacking unique benefits like loyalty schemes, credit insurance, or marketing support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4724CE-FD35-4DD2-86AC-4FEEE3D4635D}" type="parTrans" cxnId="{FB267898-BAFA-4FA8-A0F7-C3C53A80E8EE}">
      <dgm:prSet/>
      <dgm:spPr/>
      <dgm:t>
        <a:bodyPr/>
        <a:lstStyle/>
        <a:p>
          <a:endParaRPr lang="en-US"/>
        </a:p>
      </dgm:t>
    </dgm:pt>
    <dgm:pt modelId="{CDAFA7DF-3D0C-4359-89DB-1C4C2D0AFCAE}" type="sibTrans" cxnId="{FB267898-BAFA-4FA8-A0F7-C3C53A80E8EE}">
      <dgm:prSet/>
      <dgm:spPr/>
      <dgm:t>
        <a:bodyPr/>
        <a:lstStyle/>
        <a:p>
          <a:endParaRPr lang="en-US"/>
        </a:p>
      </dgm:t>
    </dgm:pt>
    <dgm:pt modelId="{1774E65B-BEDA-4132-B27D-9713B3C15686}">
      <dgm:prSet phldrT="[Text]"/>
      <dgm:spPr/>
      <dgm:t>
        <a:bodyPr/>
        <a:lstStyle/>
        <a:p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Competitors run 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local branding, dealer boards, secondary sales promotions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 (e.g., </a:t>
          </a:r>
          <a:r>
            <a:rPr lang="en-US" b="0" i="0" err="1">
              <a:latin typeface="Times New Roman" panose="02020603050405020304" pitchFamily="18" charset="0"/>
              <a:cs typeface="Times New Roman" panose="02020603050405020304" pitchFamily="18" charset="0"/>
            </a:rPr>
            <a:t>Ultratech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 wall painting, ACC point boards) that JSW doesn’t match yet.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09C1F1-6A4D-41A8-B840-39EEA3AE5B6B}" type="parTrans" cxnId="{4F92AD6A-BA5C-4E26-B9E2-CD0EC1432833}">
      <dgm:prSet/>
      <dgm:spPr/>
      <dgm:t>
        <a:bodyPr/>
        <a:lstStyle/>
        <a:p>
          <a:endParaRPr lang="en-US"/>
        </a:p>
      </dgm:t>
    </dgm:pt>
    <dgm:pt modelId="{FBEEE637-BDC8-49AB-88E0-4234512FEFD0}" type="sibTrans" cxnId="{4F92AD6A-BA5C-4E26-B9E2-CD0EC1432833}">
      <dgm:prSet/>
      <dgm:spPr/>
      <dgm:t>
        <a:bodyPr/>
        <a:lstStyle/>
        <a:p>
          <a:endParaRPr lang="en-US"/>
        </a:p>
      </dgm:t>
    </dgm:pt>
    <dgm:pt modelId="{3068DBCC-8D5C-4795-A440-8F076E0CD307}">
      <dgm:prSet custT="1"/>
      <dgm:spPr/>
      <dgm:t>
        <a:bodyPr/>
        <a:lstStyle/>
        <a:p>
          <a:r>
            <a:rPr lang="en-GB" sz="1600" b="1" i="0">
              <a:latin typeface="Times New Roman" panose="02020603050405020304" pitchFamily="18" charset="0"/>
              <a:cs typeface="Times New Roman" panose="02020603050405020304" pitchFamily="18" charset="0"/>
            </a:rPr>
            <a:t>Process &amp; Delivery Gaps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ADB44C-151E-4437-8611-E7F528776799}" type="parTrans" cxnId="{E1E2922A-AEC5-4FD6-84F6-6C365E286855}">
      <dgm:prSet/>
      <dgm:spPr/>
      <dgm:t>
        <a:bodyPr/>
        <a:lstStyle/>
        <a:p>
          <a:endParaRPr lang="en-US"/>
        </a:p>
      </dgm:t>
    </dgm:pt>
    <dgm:pt modelId="{B390AAC1-5973-4162-8416-AEF3FA3E8BF2}" type="sibTrans" cxnId="{E1E2922A-AEC5-4FD6-84F6-6C365E286855}">
      <dgm:prSet/>
      <dgm:spPr/>
      <dgm:t>
        <a:bodyPr/>
        <a:lstStyle/>
        <a:p>
          <a:endParaRPr lang="en-US"/>
        </a:p>
      </dgm:t>
    </dgm:pt>
    <dgm:pt modelId="{65E03F00-1E4E-4364-9E0C-E9ED299D22CC}">
      <dgm:prSet custT="1"/>
      <dgm:spPr/>
      <dgm:t>
        <a:bodyPr/>
        <a:lstStyle/>
        <a:p>
          <a:r>
            <a:rPr lang="en-GB" sz="1600" b="1" i="0">
              <a:latin typeface="Times New Roman" panose="02020603050405020304" pitchFamily="18" charset="0"/>
              <a:cs typeface="Times New Roman" panose="02020603050405020304" pitchFamily="18" charset="0"/>
            </a:rPr>
            <a:t>Product &amp; Market Fit Issues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9E7E02-8497-4109-89B6-8612D77ED44F}" type="parTrans" cxnId="{8402EA5D-8BA6-4D4A-8EB7-FD9F711B0B61}">
      <dgm:prSet/>
      <dgm:spPr/>
      <dgm:t>
        <a:bodyPr/>
        <a:lstStyle/>
        <a:p>
          <a:endParaRPr lang="en-US"/>
        </a:p>
      </dgm:t>
    </dgm:pt>
    <dgm:pt modelId="{639EC625-2D4B-49F4-856F-0E7B3462FBFB}" type="sibTrans" cxnId="{8402EA5D-8BA6-4D4A-8EB7-FD9F711B0B61}">
      <dgm:prSet/>
      <dgm:spPr/>
      <dgm:t>
        <a:bodyPr/>
        <a:lstStyle/>
        <a:p>
          <a:endParaRPr lang="en-US"/>
        </a:p>
      </dgm:t>
    </dgm:pt>
    <dgm:pt modelId="{13E280D3-E63C-4421-8D1A-1797AB150727}">
      <dgm:prSet custT="1"/>
      <dgm:spPr/>
      <dgm:t>
        <a:bodyPr/>
        <a:lstStyle/>
        <a:p>
          <a:r>
            <a:rPr lang="en-GB" sz="1600" b="1" i="0">
              <a:latin typeface="Times New Roman" panose="02020603050405020304" pitchFamily="18" charset="0"/>
              <a:cs typeface="Times New Roman" panose="02020603050405020304" pitchFamily="18" charset="0"/>
            </a:rPr>
            <a:t>State-Specific Observations</a:t>
          </a:r>
          <a:r>
            <a:rPr lang="en-GB" sz="2400" b="0" i="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A4C37E-81D1-4462-B739-19B7463DA3E4}" type="parTrans" cxnId="{15BBA019-653E-4FD6-9B3F-FCA1BC90E3ED}">
      <dgm:prSet/>
      <dgm:spPr/>
      <dgm:t>
        <a:bodyPr/>
        <a:lstStyle/>
        <a:p>
          <a:endParaRPr lang="en-US"/>
        </a:p>
      </dgm:t>
    </dgm:pt>
    <dgm:pt modelId="{FBF16565-46E3-4035-B361-4E65C7D6FC61}" type="sibTrans" cxnId="{15BBA019-653E-4FD6-9B3F-FCA1BC90E3ED}">
      <dgm:prSet/>
      <dgm:spPr/>
      <dgm:t>
        <a:bodyPr/>
        <a:lstStyle/>
        <a:p>
          <a:endParaRPr lang="en-US"/>
        </a:p>
      </dgm:t>
    </dgm:pt>
    <dgm:pt modelId="{D3050D86-AA13-4443-A5A3-AF5C6F76257F}">
      <dgm:prSet custT="1"/>
      <dgm:spPr/>
      <dgm:t>
        <a:bodyPr/>
        <a:lstStyle/>
        <a:p>
          <a:r>
            <a:rPr lang="en-GB" sz="1600" b="1" i="0">
              <a:latin typeface="Times New Roman" panose="02020603050405020304" pitchFamily="18" charset="0"/>
              <a:cs typeface="Times New Roman" panose="02020603050405020304" pitchFamily="18" charset="0"/>
            </a:rPr>
            <a:t>Retailer Behaviour Patterns</a:t>
          </a:r>
          <a:endParaRPr lang="en-US" sz="16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C604F45-A449-4C17-B3D2-D23220EDFCB1}" type="parTrans" cxnId="{30C99C10-324E-4FC7-A391-05CF540AB2B0}">
      <dgm:prSet/>
      <dgm:spPr/>
      <dgm:t>
        <a:bodyPr/>
        <a:lstStyle/>
        <a:p>
          <a:endParaRPr lang="en-US"/>
        </a:p>
      </dgm:t>
    </dgm:pt>
    <dgm:pt modelId="{10F2C351-90FF-45C9-9AE3-D0EF757D104F}" type="sibTrans" cxnId="{30C99C10-324E-4FC7-A391-05CF540AB2B0}">
      <dgm:prSet/>
      <dgm:spPr/>
      <dgm:t>
        <a:bodyPr/>
        <a:lstStyle/>
        <a:p>
          <a:endParaRPr lang="en-US"/>
        </a:p>
      </dgm:t>
    </dgm:pt>
    <dgm:pt modelId="{91818539-5E4E-42C9-AC45-87F1BB68A427}">
      <dgm:prSet phldrT="[Text]"/>
      <dgm:spPr/>
      <dgm:t>
        <a:bodyPr/>
        <a:lstStyle/>
        <a:p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Order fulfilment timeline: ~48 </a:t>
          </a:r>
          <a:r>
            <a:rPr lang="en-US" b="1" i="0" err="1">
              <a:latin typeface="Times New Roman" panose="02020603050405020304" pitchFamily="18" charset="0"/>
              <a:cs typeface="Times New Roman" panose="02020603050405020304" pitchFamily="18" charset="0"/>
            </a:rPr>
            <a:t>hrs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 vs competitors’ 24 </a:t>
          </a:r>
          <a:r>
            <a:rPr lang="en-US" b="1" i="0" err="1">
              <a:latin typeface="Times New Roman" panose="02020603050405020304" pitchFamily="18" charset="0"/>
              <a:cs typeface="Times New Roman" panose="02020603050405020304" pitchFamily="18" charset="0"/>
            </a:rPr>
            <a:t>hrs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 → slower, affecting conversion.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71294E2-82F6-4163-9524-30C91F0726E5}" type="parTrans" cxnId="{7D8ACD24-8798-46DC-9CE5-0C1B8A10751F}">
      <dgm:prSet/>
      <dgm:spPr/>
      <dgm:t>
        <a:bodyPr/>
        <a:lstStyle/>
        <a:p>
          <a:endParaRPr lang="en-US"/>
        </a:p>
      </dgm:t>
    </dgm:pt>
    <dgm:pt modelId="{BBD0B495-A0AA-4FB1-935F-B1A257A86C06}" type="sibTrans" cxnId="{7D8ACD24-8798-46DC-9CE5-0C1B8A10751F}">
      <dgm:prSet/>
      <dgm:spPr/>
      <dgm:t>
        <a:bodyPr/>
        <a:lstStyle/>
        <a:p>
          <a:endParaRPr lang="en-US"/>
        </a:p>
      </dgm:t>
    </dgm:pt>
    <dgm:pt modelId="{50250677-9263-4E91-9B25-09182B7E4CE5}">
      <dgm:prSet phldrT="[Text]"/>
      <dgm:spPr/>
      <dgm:t>
        <a:bodyPr/>
        <a:lstStyle/>
        <a:p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Field teams still dominate because retailers prefer face-to-face trust &amp; quicker negotiation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.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BCEEDF-970A-4775-88A4-3CC5CCED36D1}" type="parTrans" cxnId="{BAD80697-2CE5-49F4-AEBF-708CAAC5F9A1}">
      <dgm:prSet/>
      <dgm:spPr/>
      <dgm:t>
        <a:bodyPr/>
        <a:lstStyle/>
        <a:p>
          <a:endParaRPr lang="en-US"/>
        </a:p>
      </dgm:t>
    </dgm:pt>
    <dgm:pt modelId="{ED062FEE-35A5-4358-BACB-4D67FEAB104E}" type="sibTrans" cxnId="{BAD80697-2CE5-49F4-AEBF-708CAAC5F9A1}">
      <dgm:prSet/>
      <dgm:spPr/>
      <dgm:t>
        <a:bodyPr/>
        <a:lstStyle/>
        <a:p>
          <a:endParaRPr lang="en-US"/>
        </a:p>
      </dgm:t>
    </dgm:pt>
    <dgm:pt modelId="{721FFACB-8433-42B3-ACA2-E655C38FC48F}">
      <dgm:prSet phldrT="[Text]"/>
      <dgm:spPr/>
      <dgm:t>
        <a:bodyPr/>
        <a:lstStyle/>
        <a:p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Retailers mention "</a:t>
          </a:r>
          <a:r>
            <a:rPr lang="en-GB" b="1" i="0">
              <a:latin typeface="Times New Roman" panose="02020603050405020304" pitchFamily="18" charset="0"/>
              <a:cs typeface="Times New Roman" panose="02020603050405020304" pitchFamily="18" charset="0"/>
            </a:rPr>
            <a:t>P – same brand</a:t>
          </a:r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": even if they like JSW, they get the same brand cheaper from another dealer → price-led churn.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40B2A1-9D66-438C-85D2-E45CC15552EC}" type="parTrans" cxnId="{2777F157-708E-41A9-B98C-0E6B73C95A35}">
      <dgm:prSet/>
      <dgm:spPr/>
      <dgm:t>
        <a:bodyPr/>
        <a:lstStyle/>
        <a:p>
          <a:endParaRPr lang="en-US"/>
        </a:p>
      </dgm:t>
    </dgm:pt>
    <dgm:pt modelId="{6CDDF47D-7624-445B-B555-7A7B5B01006F}" type="sibTrans" cxnId="{2777F157-708E-41A9-B98C-0E6B73C95A35}">
      <dgm:prSet/>
      <dgm:spPr/>
      <dgm:t>
        <a:bodyPr/>
        <a:lstStyle/>
        <a:p>
          <a:endParaRPr lang="en-US"/>
        </a:p>
      </dgm:t>
    </dgm:pt>
    <dgm:pt modelId="{D8908667-C56D-47E4-94BF-D9C1C17554A9}">
      <dgm:prSet phldrT="[Text]"/>
      <dgm:spPr/>
      <dgm:t>
        <a:bodyPr/>
        <a:lstStyle/>
        <a:p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JSW portfolio limited in SKUs; some ask for 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more variety, higher margin SKUs, or smaller packs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 for rural markets.</a:t>
          </a:r>
          <a:r>
            <a:rPr lang="en-US" b="0" i="0"/>
            <a:t>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54B8523-D288-4AC5-BBAD-91B7621FA015}" type="parTrans" cxnId="{A86C17FB-8620-4FBC-94A5-1CFA4DEE5114}">
      <dgm:prSet/>
      <dgm:spPr/>
      <dgm:t>
        <a:bodyPr/>
        <a:lstStyle/>
        <a:p>
          <a:endParaRPr lang="en-US"/>
        </a:p>
      </dgm:t>
    </dgm:pt>
    <dgm:pt modelId="{7239F806-FEC6-46FB-BB70-245DE05C468D}" type="sibTrans" cxnId="{A86C17FB-8620-4FBC-94A5-1CFA4DEE5114}">
      <dgm:prSet/>
      <dgm:spPr/>
      <dgm:t>
        <a:bodyPr/>
        <a:lstStyle/>
        <a:p>
          <a:endParaRPr lang="en-US"/>
        </a:p>
      </dgm:t>
    </dgm:pt>
    <dgm:pt modelId="{C901AABB-59CF-4E4C-B8AB-2CDFB4777A99}">
      <dgm:prSet phldrT="[Text]"/>
      <dgm:spPr/>
      <dgm:t>
        <a:bodyPr/>
        <a:lstStyle/>
        <a:p>
          <a:r>
            <a:rPr lang="en-GB" b="1" i="0">
              <a:latin typeface="Times New Roman" panose="02020603050405020304" pitchFamily="18" charset="0"/>
              <a:cs typeface="Times New Roman" panose="02020603050405020304" pitchFamily="18" charset="0"/>
            </a:rPr>
            <a:t>KA:</a:t>
          </a:r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 Acquisition rate stuck at ~2 per person/month; target should be 3–4.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2B21DD-D90E-4BAF-982F-AA8C9B5AE46D}" type="parTrans" cxnId="{119D505B-4E30-406B-8105-5A7D75345D31}">
      <dgm:prSet/>
      <dgm:spPr/>
      <dgm:t>
        <a:bodyPr/>
        <a:lstStyle/>
        <a:p>
          <a:endParaRPr lang="en-US"/>
        </a:p>
      </dgm:t>
    </dgm:pt>
    <dgm:pt modelId="{C78333A9-18D4-4D46-AE42-0DA5DB8FA6AB}" type="sibTrans" cxnId="{119D505B-4E30-406B-8105-5A7D75345D31}">
      <dgm:prSet/>
      <dgm:spPr/>
      <dgm:t>
        <a:bodyPr/>
        <a:lstStyle/>
        <a:p>
          <a:endParaRPr lang="en-US"/>
        </a:p>
      </dgm:t>
    </dgm:pt>
    <dgm:pt modelId="{597AD10B-FA12-4C4E-B003-B9D388039272}">
      <dgm:prSet phldrT="[Text]"/>
      <dgm:spPr/>
      <dgm:t>
        <a:bodyPr/>
        <a:lstStyle/>
        <a:p>
          <a:r>
            <a:rPr lang="en-GB" b="1" i="0">
              <a:latin typeface="Times New Roman" panose="02020603050405020304" pitchFamily="18" charset="0"/>
              <a:cs typeface="Times New Roman" panose="02020603050405020304" pitchFamily="18" charset="0"/>
            </a:rPr>
            <a:t>TN:</a:t>
          </a:r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 Retailers complain JSW doesn’t support local promotions; demand credit support without interest.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CA6AAE-9476-4016-BA27-A057A418C574}" type="parTrans" cxnId="{3DEF0236-59C3-4679-9EEE-93114C8E3E84}">
      <dgm:prSet/>
      <dgm:spPr/>
      <dgm:t>
        <a:bodyPr/>
        <a:lstStyle/>
        <a:p>
          <a:endParaRPr lang="en-US"/>
        </a:p>
      </dgm:t>
    </dgm:pt>
    <dgm:pt modelId="{393BA8C4-BADE-41B9-AC60-4E45290412EC}" type="sibTrans" cxnId="{3DEF0236-59C3-4679-9EEE-93114C8E3E84}">
      <dgm:prSet/>
      <dgm:spPr/>
      <dgm:t>
        <a:bodyPr/>
        <a:lstStyle/>
        <a:p>
          <a:endParaRPr lang="en-US"/>
        </a:p>
      </dgm:t>
    </dgm:pt>
    <dgm:pt modelId="{59F097F5-8E22-4A86-9206-CB4AD7A92A06}">
      <dgm:prSet phldrT="[Text]"/>
      <dgm:spPr/>
      <dgm:t>
        <a:bodyPr/>
        <a:lstStyle/>
        <a:p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Retailers strongly value </a:t>
          </a:r>
          <a:r>
            <a:rPr lang="en-US" b="1" i="0">
              <a:latin typeface="Times New Roman" panose="02020603050405020304" pitchFamily="18" charset="0"/>
              <a:cs typeface="Times New Roman" panose="02020603050405020304" pitchFamily="18" charset="0"/>
            </a:rPr>
            <a:t>quick credit approvals, small flexible limits, loyalty rewards, and brand visibility</a:t>
          </a:r>
          <a:r>
            <a:rPr lang="en-US" b="0" i="0">
              <a:latin typeface="Times New Roman" panose="02020603050405020304" pitchFamily="18" charset="0"/>
              <a:cs typeface="Times New Roman" panose="02020603050405020304" pitchFamily="18" charset="0"/>
            </a:rPr>
            <a:t>. 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348CF9-8F0E-4091-9FEE-FC03DD997DF3}" type="parTrans" cxnId="{2DB3793A-B36F-4776-8414-44F205ED2C85}">
      <dgm:prSet/>
      <dgm:spPr/>
      <dgm:t>
        <a:bodyPr/>
        <a:lstStyle/>
        <a:p>
          <a:endParaRPr lang="en-US"/>
        </a:p>
      </dgm:t>
    </dgm:pt>
    <dgm:pt modelId="{CE2A9B48-8429-45CC-9B6F-BEF4E935AC96}" type="sibTrans" cxnId="{2DB3793A-B36F-4776-8414-44F205ED2C85}">
      <dgm:prSet/>
      <dgm:spPr/>
      <dgm:t>
        <a:bodyPr/>
        <a:lstStyle/>
        <a:p>
          <a:endParaRPr lang="en-US"/>
        </a:p>
      </dgm:t>
    </dgm:pt>
    <dgm:pt modelId="{86FE1F0F-F66F-4DDC-8F29-994003D9DC1E}">
      <dgm:prSet phldrT="[Text]"/>
      <dgm:spPr/>
      <dgm:t>
        <a:bodyPr/>
        <a:lstStyle/>
        <a:p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Many mid-tier retailers order </a:t>
          </a:r>
          <a:r>
            <a:rPr lang="en-GB" b="1" i="0">
              <a:latin typeface="Times New Roman" panose="02020603050405020304" pitchFamily="18" charset="0"/>
              <a:cs typeface="Times New Roman" panose="02020603050405020304" pitchFamily="18" charset="0"/>
            </a:rPr>
            <a:t>10–30 MT per month</a:t>
          </a:r>
          <a:r>
            <a:rPr lang="en-GB" b="0" i="0">
              <a:latin typeface="Times New Roman" panose="02020603050405020304" pitchFamily="18" charset="0"/>
              <a:cs typeface="Times New Roman" panose="02020603050405020304" pitchFamily="18" charset="0"/>
            </a:rPr>
            <a:t>; conversion depends on offering small credit &amp; faster TAT rather than just large volume discounts.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10EF46-13B7-42FB-B01D-A44439BF79EF}" type="parTrans" cxnId="{28CA9B75-35E7-4F84-82D0-BD3AF7587376}">
      <dgm:prSet/>
      <dgm:spPr/>
      <dgm:t>
        <a:bodyPr/>
        <a:lstStyle/>
        <a:p>
          <a:endParaRPr lang="en-US"/>
        </a:p>
      </dgm:t>
    </dgm:pt>
    <dgm:pt modelId="{B60CA6D9-249B-4A3F-9247-F68CE92561B6}" type="sibTrans" cxnId="{28CA9B75-35E7-4F84-82D0-BD3AF7587376}">
      <dgm:prSet/>
      <dgm:spPr/>
      <dgm:t>
        <a:bodyPr/>
        <a:lstStyle/>
        <a:p>
          <a:endParaRPr lang="en-US"/>
        </a:p>
      </dgm:t>
    </dgm:pt>
    <dgm:pt modelId="{825EC643-1A6F-476D-B588-34F15885E40E}" type="pres">
      <dgm:prSet presAssocID="{9AC59FDE-DA6B-41B4-B3C3-1D162D5D29F3}" presName="Name0" presStyleCnt="0">
        <dgm:presLayoutVars>
          <dgm:dir/>
          <dgm:animLvl val="lvl"/>
          <dgm:resizeHandles/>
        </dgm:presLayoutVars>
      </dgm:prSet>
      <dgm:spPr/>
    </dgm:pt>
    <dgm:pt modelId="{E08547BA-43FF-401F-9D76-39C5909DED28}" type="pres">
      <dgm:prSet presAssocID="{B9E3A91E-8731-4F68-8E31-9E955462E55B}" presName="linNode" presStyleCnt="0"/>
      <dgm:spPr/>
    </dgm:pt>
    <dgm:pt modelId="{139718D3-DE1F-4D53-BB7A-7850941668D0}" type="pres">
      <dgm:prSet presAssocID="{B9E3A91E-8731-4F68-8E31-9E955462E55B}" presName="parentShp" presStyleLbl="node1" presStyleIdx="0" presStyleCnt="6" custLinFactNeighborY="-11695">
        <dgm:presLayoutVars>
          <dgm:bulletEnabled val="1"/>
        </dgm:presLayoutVars>
      </dgm:prSet>
      <dgm:spPr/>
    </dgm:pt>
    <dgm:pt modelId="{C0880B3A-A926-45CB-BB5C-AB0B51B3EC76}" type="pres">
      <dgm:prSet presAssocID="{B9E3A91E-8731-4F68-8E31-9E955462E55B}" presName="childShp" presStyleLbl="bgAccFollowNode1" presStyleIdx="0" presStyleCnt="6" custLinFactNeighborX="2163" custLinFactNeighborY="1688">
        <dgm:presLayoutVars>
          <dgm:bulletEnabled val="1"/>
        </dgm:presLayoutVars>
      </dgm:prSet>
      <dgm:spPr/>
    </dgm:pt>
    <dgm:pt modelId="{7E81E015-37F2-4F60-ACD8-7490AE9AC870}" type="pres">
      <dgm:prSet presAssocID="{47C6796A-902D-439F-BED5-9262AC023C65}" presName="spacing" presStyleCnt="0"/>
      <dgm:spPr/>
    </dgm:pt>
    <dgm:pt modelId="{B1857599-523A-48AC-A9B1-8C774F5FA941}" type="pres">
      <dgm:prSet presAssocID="{13ABA5B6-F99D-40E1-BE10-71CC0D74420A}" presName="linNode" presStyleCnt="0"/>
      <dgm:spPr/>
    </dgm:pt>
    <dgm:pt modelId="{16D79B8A-465D-4FD5-AEEF-20198442A165}" type="pres">
      <dgm:prSet presAssocID="{13ABA5B6-F99D-40E1-BE10-71CC0D74420A}" presName="parentShp" presStyleLbl="node1" presStyleIdx="1" presStyleCnt="6">
        <dgm:presLayoutVars>
          <dgm:bulletEnabled val="1"/>
        </dgm:presLayoutVars>
      </dgm:prSet>
      <dgm:spPr/>
    </dgm:pt>
    <dgm:pt modelId="{DFA00315-3910-459C-829A-E83B2ED1C6F7}" type="pres">
      <dgm:prSet presAssocID="{13ABA5B6-F99D-40E1-BE10-71CC0D74420A}" presName="childShp" presStyleLbl="bgAccFollowNode1" presStyleIdx="1" presStyleCnt="6">
        <dgm:presLayoutVars>
          <dgm:bulletEnabled val="1"/>
        </dgm:presLayoutVars>
      </dgm:prSet>
      <dgm:spPr/>
    </dgm:pt>
    <dgm:pt modelId="{EBD83F54-0C0B-46AA-AA0A-7D0A13662341}" type="pres">
      <dgm:prSet presAssocID="{5479FDC0-E663-4EEB-B893-CBD7F71413CA}" presName="spacing" presStyleCnt="0"/>
      <dgm:spPr/>
    </dgm:pt>
    <dgm:pt modelId="{F0F07F1F-ED94-4FA2-A8FE-E1EEE4F5648B}" type="pres">
      <dgm:prSet presAssocID="{3068DBCC-8D5C-4795-A440-8F076E0CD307}" presName="linNode" presStyleCnt="0"/>
      <dgm:spPr/>
    </dgm:pt>
    <dgm:pt modelId="{F2B1692B-3FC0-4B60-A93A-392B3C509194}" type="pres">
      <dgm:prSet presAssocID="{3068DBCC-8D5C-4795-A440-8F076E0CD307}" presName="parentShp" presStyleLbl="node1" presStyleIdx="2" presStyleCnt="6">
        <dgm:presLayoutVars>
          <dgm:bulletEnabled val="1"/>
        </dgm:presLayoutVars>
      </dgm:prSet>
      <dgm:spPr/>
    </dgm:pt>
    <dgm:pt modelId="{FC214F13-DB4E-41FC-AF16-36DB1CCC3C51}" type="pres">
      <dgm:prSet presAssocID="{3068DBCC-8D5C-4795-A440-8F076E0CD307}" presName="childShp" presStyleLbl="bgAccFollowNode1" presStyleIdx="2" presStyleCnt="6">
        <dgm:presLayoutVars>
          <dgm:bulletEnabled val="1"/>
        </dgm:presLayoutVars>
      </dgm:prSet>
      <dgm:spPr/>
    </dgm:pt>
    <dgm:pt modelId="{B555FABD-EA4B-4A38-BB95-FC7C8C9FB517}" type="pres">
      <dgm:prSet presAssocID="{B390AAC1-5973-4162-8416-AEF3FA3E8BF2}" presName="spacing" presStyleCnt="0"/>
      <dgm:spPr/>
    </dgm:pt>
    <dgm:pt modelId="{CC3EF95F-514A-4F90-A87A-DD40E43456DB}" type="pres">
      <dgm:prSet presAssocID="{65E03F00-1E4E-4364-9E0C-E9ED299D22CC}" presName="linNode" presStyleCnt="0"/>
      <dgm:spPr/>
    </dgm:pt>
    <dgm:pt modelId="{466535E8-7D50-4B02-927B-FD945C0B51D6}" type="pres">
      <dgm:prSet presAssocID="{65E03F00-1E4E-4364-9E0C-E9ED299D22CC}" presName="parentShp" presStyleLbl="node1" presStyleIdx="3" presStyleCnt="6">
        <dgm:presLayoutVars>
          <dgm:bulletEnabled val="1"/>
        </dgm:presLayoutVars>
      </dgm:prSet>
      <dgm:spPr/>
    </dgm:pt>
    <dgm:pt modelId="{7B68FA94-C448-475C-A324-F269587F3E0C}" type="pres">
      <dgm:prSet presAssocID="{65E03F00-1E4E-4364-9E0C-E9ED299D22CC}" presName="childShp" presStyleLbl="bgAccFollowNode1" presStyleIdx="3" presStyleCnt="6">
        <dgm:presLayoutVars>
          <dgm:bulletEnabled val="1"/>
        </dgm:presLayoutVars>
      </dgm:prSet>
      <dgm:spPr/>
    </dgm:pt>
    <dgm:pt modelId="{F430778D-723D-425D-90F5-C95B1E8F7AA8}" type="pres">
      <dgm:prSet presAssocID="{639EC625-2D4B-49F4-856F-0E7B3462FBFB}" presName="spacing" presStyleCnt="0"/>
      <dgm:spPr/>
    </dgm:pt>
    <dgm:pt modelId="{66686986-7E9E-46BD-AD02-CD6C4674AEFD}" type="pres">
      <dgm:prSet presAssocID="{13E280D3-E63C-4421-8D1A-1797AB150727}" presName="linNode" presStyleCnt="0"/>
      <dgm:spPr/>
    </dgm:pt>
    <dgm:pt modelId="{B8879629-FF87-481A-87BE-D90929F32698}" type="pres">
      <dgm:prSet presAssocID="{13E280D3-E63C-4421-8D1A-1797AB150727}" presName="parentShp" presStyleLbl="node1" presStyleIdx="4" presStyleCnt="6">
        <dgm:presLayoutVars>
          <dgm:bulletEnabled val="1"/>
        </dgm:presLayoutVars>
      </dgm:prSet>
      <dgm:spPr/>
    </dgm:pt>
    <dgm:pt modelId="{7FF20047-EC0E-4CF2-ABF8-84FC75D52962}" type="pres">
      <dgm:prSet presAssocID="{13E280D3-E63C-4421-8D1A-1797AB150727}" presName="childShp" presStyleLbl="bgAccFollowNode1" presStyleIdx="4" presStyleCnt="6">
        <dgm:presLayoutVars>
          <dgm:bulletEnabled val="1"/>
        </dgm:presLayoutVars>
      </dgm:prSet>
      <dgm:spPr/>
    </dgm:pt>
    <dgm:pt modelId="{725FCF61-6A2C-47F1-B2D6-0DDCBD36CB16}" type="pres">
      <dgm:prSet presAssocID="{FBF16565-46E3-4035-B361-4E65C7D6FC61}" presName="spacing" presStyleCnt="0"/>
      <dgm:spPr/>
    </dgm:pt>
    <dgm:pt modelId="{62ED7C2C-CDAB-4270-AF48-29909AFF95FC}" type="pres">
      <dgm:prSet presAssocID="{D3050D86-AA13-4443-A5A3-AF5C6F76257F}" presName="linNode" presStyleCnt="0"/>
      <dgm:spPr/>
    </dgm:pt>
    <dgm:pt modelId="{578E91F4-754E-4FAC-9E9D-9FAE74B1DF4F}" type="pres">
      <dgm:prSet presAssocID="{D3050D86-AA13-4443-A5A3-AF5C6F76257F}" presName="parentShp" presStyleLbl="node1" presStyleIdx="5" presStyleCnt="6">
        <dgm:presLayoutVars>
          <dgm:bulletEnabled val="1"/>
        </dgm:presLayoutVars>
      </dgm:prSet>
      <dgm:spPr/>
    </dgm:pt>
    <dgm:pt modelId="{AE8D3B85-61D1-4872-8EF8-55B0663A2599}" type="pres">
      <dgm:prSet presAssocID="{D3050D86-AA13-4443-A5A3-AF5C6F76257F}" presName="childShp" presStyleLbl="bgAccFollowNode1" presStyleIdx="5" presStyleCnt="6">
        <dgm:presLayoutVars>
          <dgm:bulletEnabled val="1"/>
        </dgm:presLayoutVars>
      </dgm:prSet>
      <dgm:spPr/>
    </dgm:pt>
  </dgm:ptLst>
  <dgm:cxnLst>
    <dgm:cxn modelId="{06F97D05-3B1C-4C2C-A386-0358549C946D}" type="presOf" srcId="{C901AABB-59CF-4E4C-B8AB-2CDFB4777A99}" destId="{7FF20047-EC0E-4CF2-ABF8-84FC75D52962}" srcOrd="0" destOrd="0" presId="urn:microsoft.com/office/officeart/2005/8/layout/vList6"/>
    <dgm:cxn modelId="{36192C0C-9AFC-479B-B971-C9F7B63A6DC9}" type="presOf" srcId="{102FA377-B079-404E-AEEF-2C930F8BB0A1}" destId="{DFA00315-3910-459C-829A-E83B2ED1C6F7}" srcOrd="0" destOrd="0" presId="urn:microsoft.com/office/officeart/2005/8/layout/vList6"/>
    <dgm:cxn modelId="{393C340E-827D-4672-8870-259C16DE0DBA}" type="presOf" srcId="{59F097F5-8E22-4A86-9206-CB4AD7A92A06}" destId="{AE8D3B85-61D1-4872-8EF8-55B0663A2599}" srcOrd="0" destOrd="0" presId="urn:microsoft.com/office/officeart/2005/8/layout/vList6"/>
    <dgm:cxn modelId="{30C99C10-324E-4FC7-A391-05CF540AB2B0}" srcId="{9AC59FDE-DA6B-41B4-B3C3-1D162D5D29F3}" destId="{D3050D86-AA13-4443-A5A3-AF5C6F76257F}" srcOrd="5" destOrd="0" parTransId="{9C604F45-A449-4C17-B3D2-D23220EDFCB1}" sibTransId="{10F2C351-90FF-45C9-9AE3-D0EF757D104F}"/>
    <dgm:cxn modelId="{15BBA019-653E-4FD6-9B3F-FCA1BC90E3ED}" srcId="{9AC59FDE-DA6B-41B4-B3C3-1D162D5D29F3}" destId="{13E280D3-E63C-4421-8D1A-1797AB150727}" srcOrd="4" destOrd="0" parTransId="{29A4C37E-81D1-4462-B739-19B7463DA3E4}" sibTransId="{FBF16565-46E3-4035-B361-4E65C7D6FC61}"/>
    <dgm:cxn modelId="{19B8C723-8E1A-4ED9-A117-28B9D4E18A24}" type="presOf" srcId="{C85E0436-C83C-4531-BCBF-730460387222}" destId="{C0880B3A-A926-45CB-BB5C-AB0B51B3EC76}" srcOrd="0" destOrd="1" presId="urn:microsoft.com/office/officeart/2005/8/layout/vList6"/>
    <dgm:cxn modelId="{7D8ACD24-8798-46DC-9CE5-0C1B8A10751F}" srcId="{3068DBCC-8D5C-4795-A440-8F076E0CD307}" destId="{91818539-5E4E-42C9-AC45-87F1BB68A427}" srcOrd="0" destOrd="0" parTransId="{F71294E2-82F6-4163-9524-30C91F0726E5}" sibTransId="{BBD0B495-A0AA-4FB1-935F-B1A257A86C06}"/>
    <dgm:cxn modelId="{E1E2922A-AEC5-4FD6-84F6-6C365E286855}" srcId="{9AC59FDE-DA6B-41B4-B3C3-1D162D5D29F3}" destId="{3068DBCC-8D5C-4795-A440-8F076E0CD307}" srcOrd="2" destOrd="0" parTransId="{1BADB44C-151E-4437-8611-E7F528776799}" sibTransId="{B390AAC1-5973-4162-8416-AEF3FA3E8BF2}"/>
    <dgm:cxn modelId="{3DEF0236-59C3-4679-9EEE-93114C8E3E84}" srcId="{13E280D3-E63C-4421-8D1A-1797AB150727}" destId="{597AD10B-FA12-4C4E-B003-B9D388039272}" srcOrd="1" destOrd="0" parTransId="{CACA6AAE-9476-4016-BA27-A057A418C574}" sibTransId="{393BA8C4-BADE-41B9-AC60-4E45290412EC}"/>
    <dgm:cxn modelId="{98AC733A-6924-4752-BA2E-C88544339323}" type="presOf" srcId="{B9E3A91E-8731-4F68-8E31-9E955462E55B}" destId="{139718D3-DE1F-4D53-BB7A-7850941668D0}" srcOrd="0" destOrd="0" presId="urn:microsoft.com/office/officeart/2005/8/layout/vList6"/>
    <dgm:cxn modelId="{2DB3793A-B36F-4776-8414-44F205ED2C85}" srcId="{D3050D86-AA13-4443-A5A3-AF5C6F76257F}" destId="{59F097F5-8E22-4A86-9206-CB4AD7A92A06}" srcOrd="0" destOrd="0" parTransId="{D3348CF9-8F0E-4091-9FEE-FC03DD997DF3}" sibTransId="{CE2A9B48-8429-45CC-9B6F-BEF4E935AC96}"/>
    <dgm:cxn modelId="{D8447B3C-FFDE-4636-8BE8-769C5B64CFC0}" type="presOf" srcId="{D3050D86-AA13-4443-A5A3-AF5C6F76257F}" destId="{578E91F4-754E-4FAC-9E9D-9FAE74B1DF4F}" srcOrd="0" destOrd="0" presId="urn:microsoft.com/office/officeart/2005/8/layout/vList6"/>
    <dgm:cxn modelId="{119D505B-4E30-406B-8105-5A7D75345D31}" srcId="{13E280D3-E63C-4421-8D1A-1797AB150727}" destId="{C901AABB-59CF-4E4C-B8AB-2CDFB4777A99}" srcOrd="0" destOrd="0" parTransId="{2A2B21DD-D90E-4BAF-982F-AA8C9B5AE46D}" sibTransId="{C78333A9-18D4-4D46-AE42-0DA5DB8FA6AB}"/>
    <dgm:cxn modelId="{8402EA5D-8BA6-4D4A-8EB7-FD9F711B0B61}" srcId="{9AC59FDE-DA6B-41B4-B3C3-1D162D5D29F3}" destId="{65E03F00-1E4E-4364-9E0C-E9ED299D22CC}" srcOrd="3" destOrd="0" parTransId="{919E7E02-8497-4109-89B6-8612D77ED44F}" sibTransId="{639EC625-2D4B-49F4-856F-0E7B3462FBFB}"/>
    <dgm:cxn modelId="{08B87462-A343-42D8-86CF-CE12940518B8}" type="presOf" srcId="{721FFACB-8433-42B3-ACA2-E655C38FC48F}" destId="{7B68FA94-C448-475C-A324-F269587F3E0C}" srcOrd="0" destOrd="0" presId="urn:microsoft.com/office/officeart/2005/8/layout/vList6"/>
    <dgm:cxn modelId="{2983F962-2254-4055-BF60-DB0EA53AFE7D}" srcId="{B9E3A91E-8731-4F68-8E31-9E955462E55B}" destId="{C85E0436-C83C-4531-BCBF-730460387222}" srcOrd="1" destOrd="0" parTransId="{4BCD5D09-2317-4283-8B17-F31AA28E4E69}" sibTransId="{DFE461C0-4200-426D-9A35-F5498D86955A}"/>
    <dgm:cxn modelId="{9A0E8044-A369-4523-BF88-E68D5F41405C}" srcId="{9AC59FDE-DA6B-41B4-B3C3-1D162D5D29F3}" destId="{13ABA5B6-F99D-40E1-BE10-71CC0D74420A}" srcOrd="1" destOrd="0" parTransId="{DC5DFB5A-9A18-468A-AA15-D13C1F1EE1D7}" sibTransId="{5479FDC0-E663-4EEB-B893-CBD7F71413CA}"/>
    <dgm:cxn modelId="{8E0DE747-9C96-4AB2-AD12-532576080800}" type="presOf" srcId="{D8908667-C56D-47E4-94BF-D9C1C17554A9}" destId="{7B68FA94-C448-475C-A324-F269587F3E0C}" srcOrd="0" destOrd="1" presId="urn:microsoft.com/office/officeart/2005/8/layout/vList6"/>
    <dgm:cxn modelId="{4F92AD6A-BA5C-4E26-B9E2-CD0EC1432833}" srcId="{13ABA5B6-F99D-40E1-BE10-71CC0D74420A}" destId="{1774E65B-BEDA-4132-B27D-9713B3C15686}" srcOrd="1" destOrd="0" parTransId="{0009C1F1-6A4D-41A8-B840-39EEA3AE5B6B}" sibTransId="{FBEEE637-BDC8-49AB-88E0-4234512FEFD0}"/>
    <dgm:cxn modelId="{7501566B-3553-4C5C-B980-7CD82D751138}" type="presOf" srcId="{13E280D3-E63C-4421-8D1A-1797AB150727}" destId="{B8879629-FF87-481A-87BE-D90929F32698}" srcOrd="0" destOrd="0" presId="urn:microsoft.com/office/officeart/2005/8/layout/vList6"/>
    <dgm:cxn modelId="{28CA9B75-35E7-4F84-82D0-BD3AF7587376}" srcId="{D3050D86-AA13-4443-A5A3-AF5C6F76257F}" destId="{86FE1F0F-F66F-4DDC-8F29-994003D9DC1E}" srcOrd="1" destOrd="0" parTransId="{CA10EF46-13B7-42FB-B01D-A44439BF79EF}" sibTransId="{B60CA6D9-249B-4A3F-9247-F68CE92561B6}"/>
    <dgm:cxn modelId="{29BF4856-5F0C-4005-B44B-5D0DCA1945E9}" type="presOf" srcId="{1F84E67B-7B25-477A-AE5F-E5AA50D8726E}" destId="{C0880B3A-A926-45CB-BB5C-AB0B51B3EC76}" srcOrd="0" destOrd="0" presId="urn:microsoft.com/office/officeart/2005/8/layout/vList6"/>
    <dgm:cxn modelId="{2777F157-708E-41A9-B98C-0E6B73C95A35}" srcId="{65E03F00-1E4E-4364-9E0C-E9ED299D22CC}" destId="{721FFACB-8433-42B3-ACA2-E655C38FC48F}" srcOrd="0" destOrd="0" parTransId="{5440B2A1-9D66-438C-85D2-E45CC15552EC}" sibTransId="{6CDDF47D-7624-445B-B555-7A7B5B01006F}"/>
    <dgm:cxn modelId="{C71FFA59-681F-4A78-8EF5-2BFEDD2CB97A}" type="presOf" srcId="{13ABA5B6-F99D-40E1-BE10-71CC0D74420A}" destId="{16D79B8A-465D-4FD5-AEEF-20198442A165}" srcOrd="0" destOrd="0" presId="urn:microsoft.com/office/officeart/2005/8/layout/vList6"/>
    <dgm:cxn modelId="{BADD2A89-7113-4089-A3C7-856A059FDF9F}" srcId="{B9E3A91E-8731-4F68-8E31-9E955462E55B}" destId="{1F84E67B-7B25-477A-AE5F-E5AA50D8726E}" srcOrd="0" destOrd="0" parTransId="{4B297F12-C316-4DC6-AF19-1DE85289860F}" sibTransId="{1CF245D2-C268-4E96-8AF4-B016E563A43E}"/>
    <dgm:cxn modelId="{337E4890-D053-49C5-97A8-F21078FB3565}" type="presOf" srcId="{65E03F00-1E4E-4364-9E0C-E9ED299D22CC}" destId="{466535E8-7D50-4B02-927B-FD945C0B51D6}" srcOrd="0" destOrd="0" presId="urn:microsoft.com/office/officeart/2005/8/layout/vList6"/>
    <dgm:cxn modelId="{6D987492-A7AD-4697-BEE8-2629E522335D}" type="presOf" srcId="{50250677-9263-4E91-9B25-09182B7E4CE5}" destId="{FC214F13-DB4E-41FC-AF16-36DB1CCC3C51}" srcOrd="0" destOrd="1" presId="urn:microsoft.com/office/officeart/2005/8/layout/vList6"/>
    <dgm:cxn modelId="{BAD80697-2CE5-49F4-AEBF-708CAAC5F9A1}" srcId="{3068DBCC-8D5C-4795-A440-8F076E0CD307}" destId="{50250677-9263-4E91-9B25-09182B7E4CE5}" srcOrd="1" destOrd="0" parTransId="{8EBCEEDF-970A-4775-88A4-3CC5CCED36D1}" sibTransId="{ED062FEE-35A5-4358-BACB-4D67FEAB104E}"/>
    <dgm:cxn modelId="{FB267898-BAFA-4FA8-A0F7-C3C53A80E8EE}" srcId="{13ABA5B6-F99D-40E1-BE10-71CC0D74420A}" destId="{102FA377-B079-404E-AEEF-2C930F8BB0A1}" srcOrd="0" destOrd="0" parTransId="{404724CE-FD35-4DD2-86AC-4FEEE3D4635D}" sibTransId="{CDAFA7DF-3D0C-4359-89DB-1C4C2D0AFCAE}"/>
    <dgm:cxn modelId="{00DD35B5-289E-45CA-90B7-85A84E0659B7}" type="presOf" srcId="{597AD10B-FA12-4C4E-B003-B9D388039272}" destId="{7FF20047-EC0E-4CF2-ABF8-84FC75D52962}" srcOrd="0" destOrd="1" presId="urn:microsoft.com/office/officeart/2005/8/layout/vList6"/>
    <dgm:cxn modelId="{57C8DFD0-A54B-49F7-BDAF-4BEF91C3488D}" type="presOf" srcId="{9AC59FDE-DA6B-41B4-B3C3-1D162D5D29F3}" destId="{825EC643-1A6F-476D-B588-34F15885E40E}" srcOrd="0" destOrd="0" presId="urn:microsoft.com/office/officeart/2005/8/layout/vList6"/>
    <dgm:cxn modelId="{57EEE4D5-E9CD-4286-9DFB-51079C1997E9}" type="presOf" srcId="{86FE1F0F-F66F-4DDC-8F29-994003D9DC1E}" destId="{AE8D3B85-61D1-4872-8EF8-55B0663A2599}" srcOrd="0" destOrd="1" presId="urn:microsoft.com/office/officeart/2005/8/layout/vList6"/>
    <dgm:cxn modelId="{8D7A6FE3-D71A-4AAA-81B9-DF794FF1FD71}" srcId="{9AC59FDE-DA6B-41B4-B3C3-1D162D5D29F3}" destId="{B9E3A91E-8731-4F68-8E31-9E955462E55B}" srcOrd="0" destOrd="0" parTransId="{1C003FDA-7ABC-4665-8C1D-B70C643A3863}" sibTransId="{47C6796A-902D-439F-BED5-9262AC023C65}"/>
    <dgm:cxn modelId="{2E33E1E8-E586-4C83-BE93-55AB412B1792}" type="presOf" srcId="{1774E65B-BEDA-4132-B27D-9713B3C15686}" destId="{DFA00315-3910-459C-829A-E83B2ED1C6F7}" srcOrd="0" destOrd="1" presId="urn:microsoft.com/office/officeart/2005/8/layout/vList6"/>
    <dgm:cxn modelId="{31A8E0F4-9179-4799-BDEB-6F653AC77056}" type="presOf" srcId="{91818539-5E4E-42C9-AC45-87F1BB68A427}" destId="{FC214F13-DB4E-41FC-AF16-36DB1CCC3C51}" srcOrd="0" destOrd="0" presId="urn:microsoft.com/office/officeart/2005/8/layout/vList6"/>
    <dgm:cxn modelId="{552540FA-0413-41E5-9A53-84658E892DE6}" type="presOf" srcId="{3068DBCC-8D5C-4795-A440-8F076E0CD307}" destId="{F2B1692B-3FC0-4B60-A93A-392B3C509194}" srcOrd="0" destOrd="0" presId="urn:microsoft.com/office/officeart/2005/8/layout/vList6"/>
    <dgm:cxn modelId="{A86C17FB-8620-4FBC-94A5-1CFA4DEE5114}" srcId="{65E03F00-1E4E-4364-9E0C-E9ED299D22CC}" destId="{D8908667-C56D-47E4-94BF-D9C1C17554A9}" srcOrd="1" destOrd="0" parTransId="{954B8523-D288-4AC5-BBAD-91B7621FA015}" sibTransId="{7239F806-FEC6-46FB-BB70-245DE05C468D}"/>
    <dgm:cxn modelId="{3540DC79-3EEC-48BE-95F8-2BA1A6C65D6A}" type="presParOf" srcId="{825EC643-1A6F-476D-B588-34F15885E40E}" destId="{E08547BA-43FF-401F-9D76-39C5909DED28}" srcOrd="0" destOrd="0" presId="urn:microsoft.com/office/officeart/2005/8/layout/vList6"/>
    <dgm:cxn modelId="{7A98D837-CFD3-405C-9AE8-01506802A586}" type="presParOf" srcId="{E08547BA-43FF-401F-9D76-39C5909DED28}" destId="{139718D3-DE1F-4D53-BB7A-7850941668D0}" srcOrd="0" destOrd="0" presId="urn:microsoft.com/office/officeart/2005/8/layout/vList6"/>
    <dgm:cxn modelId="{4D6B766B-19AE-497D-BBDD-08650B5B9FCB}" type="presParOf" srcId="{E08547BA-43FF-401F-9D76-39C5909DED28}" destId="{C0880B3A-A926-45CB-BB5C-AB0B51B3EC76}" srcOrd="1" destOrd="0" presId="urn:microsoft.com/office/officeart/2005/8/layout/vList6"/>
    <dgm:cxn modelId="{B16C9970-2BB5-4026-9BFD-4A8FFE5273DD}" type="presParOf" srcId="{825EC643-1A6F-476D-B588-34F15885E40E}" destId="{7E81E015-37F2-4F60-ACD8-7490AE9AC870}" srcOrd="1" destOrd="0" presId="urn:microsoft.com/office/officeart/2005/8/layout/vList6"/>
    <dgm:cxn modelId="{3AC1A36C-3EFB-46C9-89AE-E5C998F8DFA0}" type="presParOf" srcId="{825EC643-1A6F-476D-B588-34F15885E40E}" destId="{B1857599-523A-48AC-A9B1-8C774F5FA941}" srcOrd="2" destOrd="0" presId="urn:microsoft.com/office/officeart/2005/8/layout/vList6"/>
    <dgm:cxn modelId="{A43A4D7B-5042-4F82-8FAB-2A040C42C7F2}" type="presParOf" srcId="{B1857599-523A-48AC-A9B1-8C774F5FA941}" destId="{16D79B8A-465D-4FD5-AEEF-20198442A165}" srcOrd="0" destOrd="0" presId="urn:microsoft.com/office/officeart/2005/8/layout/vList6"/>
    <dgm:cxn modelId="{2B9208B9-425E-4460-91ED-E153D09F1FDF}" type="presParOf" srcId="{B1857599-523A-48AC-A9B1-8C774F5FA941}" destId="{DFA00315-3910-459C-829A-E83B2ED1C6F7}" srcOrd="1" destOrd="0" presId="urn:microsoft.com/office/officeart/2005/8/layout/vList6"/>
    <dgm:cxn modelId="{E0B2AF92-58E5-47FF-B806-F0F57CA40171}" type="presParOf" srcId="{825EC643-1A6F-476D-B588-34F15885E40E}" destId="{EBD83F54-0C0B-46AA-AA0A-7D0A13662341}" srcOrd="3" destOrd="0" presId="urn:microsoft.com/office/officeart/2005/8/layout/vList6"/>
    <dgm:cxn modelId="{E5B68B0A-5241-4DDB-ABA5-36C9D0ACDD4A}" type="presParOf" srcId="{825EC643-1A6F-476D-B588-34F15885E40E}" destId="{F0F07F1F-ED94-4FA2-A8FE-E1EEE4F5648B}" srcOrd="4" destOrd="0" presId="urn:microsoft.com/office/officeart/2005/8/layout/vList6"/>
    <dgm:cxn modelId="{D75D8179-98E8-48DD-8462-CB235F04D345}" type="presParOf" srcId="{F0F07F1F-ED94-4FA2-A8FE-E1EEE4F5648B}" destId="{F2B1692B-3FC0-4B60-A93A-392B3C509194}" srcOrd="0" destOrd="0" presId="urn:microsoft.com/office/officeart/2005/8/layout/vList6"/>
    <dgm:cxn modelId="{8D6E59B6-4F37-422B-A6F9-4BA33ABA5AD3}" type="presParOf" srcId="{F0F07F1F-ED94-4FA2-A8FE-E1EEE4F5648B}" destId="{FC214F13-DB4E-41FC-AF16-36DB1CCC3C51}" srcOrd="1" destOrd="0" presId="urn:microsoft.com/office/officeart/2005/8/layout/vList6"/>
    <dgm:cxn modelId="{5CBCACF0-E02B-4393-8678-D5D337890458}" type="presParOf" srcId="{825EC643-1A6F-476D-B588-34F15885E40E}" destId="{B555FABD-EA4B-4A38-BB95-FC7C8C9FB517}" srcOrd="5" destOrd="0" presId="urn:microsoft.com/office/officeart/2005/8/layout/vList6"/>
    <dgm:cxn modelId="{016E8EC7-9732-4BE4-A034-4754FF5DAC00}" type="presParOf" srcId="{825EC643-1A6F-476D-B588-34F15885E40E}" destId="{CC3EF95F-514A-4F90-A87A-DD40E43456DB}" srcOrd="6" destOrd="0" presId="urn:microsoft.com/office/officeart/2005/8/layout/vList6"/>
    <dgm:cxn modelId="{B4E60197-766C-4637-A0DB-4C6DD76700FD}" type="presParOf" srcId="{CC3EF95F-514A-4F90-A87A-DD40E43456DB}" destId="{466535E8-7D50-4B02-927B-FD945C0B51D6}" srcOrd="0" destOrd="0" presId="urn:microsoft.com/office/officeart/2005/8/layout/vList6"/>
    <dgm:cxn modelId="{108BE249-F041-4061-A485-E0DDFBFFFC0C}" type="presParOf" srcId="{CC3EF95F-514A-4F90-A87A-DD40E43456DB}" destId="{7B68FA94-C448-475C-A324-F269587F3E0C}" srcOrd="1" destOrd="0" presId="urn:microsoft.com/office/officeart/2005/8/layout/vList6"/>
    <dgm:cxn modelId="{B5D6AF30-5008-4D9A-839E-1127C23B8385}" type="presParOf" srcId="{825EC643-1A6F-476D-B588-34F15885E40E}" destId="{F430778D-723D-425D-90F5-C95B1E8F7AA8}" srcOrd="7" destOrd="0" presId="urn:microsoft.com/office/officeart/2005/8/layout/vList6"/>
    <dgm:cxn modelId="{A67D68A9-BB65-40E6-B68A-F9CCFE3AFB1C}" type="presParOf" srcId="{825EC643-1A6F-476D-B588-34F15885E40E}" destId="{66686986-7E9E-46BD-AD02-CD6C4674AEFD}" srcOrd="8" destOrd="0" presId="urn:microsoft.com/office/officeart/2005/8/layout/vList6"/>
    <dgm:cxn modelId="{15C82AF2-D52B-4E9B-89D2-DE6B00747327}" type="presParOf" srcId="{66686986-7E9E-46BD-AD02-CD6C4674AEFD}" destId="{B8879629-FF87-481A-87BE-D90929F32698}" srcOrd="0" destOrd="0" presId="urn:microsoft.com/office/officeart/2005/8/layout/vList6"/>
    <dgm:cxn modelId="{2E548D1A-33F6-4A54-95F8-BFEBF1B7DC40}" type="presParOf" srcId="{66686986-7E9E-46BD-AD02-CD6C4674AEFD}" destId="{7FF20047-EC0E-4CF2-ABF8-84FC75D52962}" srcOrd="1" destOrd="0" presId="urn:microsoft.com/office/officeart/2005/8/layout/vList6"/>
    <dgm:cxn modelId="{16DC8BBD-A63B-4F63-A92B-BFF8E6A00EBE}" type="presParOf" srcId="{825EC643-1A6F-476D-B588-34F15885E40E}" destId="{725FCF61-6A2C-47F1-B2D6-0DDCBD36CB16}" srcOrd="9" destOrd="0" presId="urn:microsoft.com/office/officeart/2005/8/layout/vList6"/>
    <dgm:cxn modelId="{F8E47882-7648-456A-87D3-B5FCA35786F1}" type="presParOf" srcId="{825EC643-1A6F-476D-B588-34F15885E40E}" destId="{62ED7C2C-CDAB-4270-AF48-29909AFF95FC}" srcOrd="10" destOrd="0" presId="urn:microsoft.com/office/officeart/2005/8/layout/vList6"/>
    <dgm:cxn modelId="{D8EB762D-26B3-4F73-8A7D-50CCF6B2D04D}" type="presParOf" srcId="{62ED7C2C-CDAB-4270-AF48-29909AFF95FC}" destId="{578E91F4-754E-4FAC-9E9D-9FAE74B1DF4F}" srcOrd="0" destOrd="0" presId="urn:microsoft.com/office/officeart/2005/8/layout/vList6"/>
    <dgm:cxn modelId="{C16C5CFA-CA7B-4DF7-878F-18E75E8AEF5E}" type="presParOf" srcId="{62ED7C2C-CDAB-4270-AF48-29909AFF95FC}" destId="{AE8D3B85-61D1-4872-8EF8-55B0663A2599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9F5529-C020-471E-935A-F00BE230A58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2B806D-731C-43EE-8243-B2431BA21FC2}">
      <dgm:prSet phldrT="[Text]"/>
      <dgm:spPr/>
      <dgm:t>
        <a:bodyPr/>
        <a:lstStyle/>
        <a:p>
          <a:pPr rtl="0"/>
          <a:endParaRPr lang="en-US"/>
        </a:p>
      </dgm:t>
    </dgm:pt>
    <dgm:pt modelId="{9CD6E171-C447-4D5D-976A-ABCB27B897E4}" type="parTrans" cxnId="{605D0BAB-5F5B-4B8E-AFE7-FAD7518E35D3}">
      <dgm:prSet/>
      <dgm:spPr/>
      <dgm:t>
        <a:bodyPr/>
        <a:lstStyle/>
        <a:p>
          <a:endParaRPr lang="en-US"/>
        </a:p>
      </dgm:t>
    </dgm:pt>
    <dgm:pt modelId="{5CB53904-5EC1-44E3-98D2-503238BB41A8}" type="sibTrans" cxnId="{605D0BAB-5F5B-4B8E-AFE7-FAD7518E35D3}">
      <dgm:prSet/>
      <dgm:spPr/>
      <dgm:t>
        <a:bodyPr/>
        <a:lstStyle/>
        <a:p>
          <a:endParaRPr lang="en-US"/>
        </a:p>
      </dgm:t>
    </dgm:pt>
    <dgm:pt modelId="{C2F1AD88-F9B7-44A9-938E-0AC48386738F}">
      <dgm:prSet phldrT="[Text]" phldr="1"/>
      <dgm:spPr/>
      <dgm:t>
        <a:bodyPr/>
        <a:lstStyle/>
        <a:p>
          <a:endParaRPr lang="en-US"/>
        </a:p>
      </dgm:t>
    </dgm:pt>
    <dgm:pt modelId="{F6E7230D-9A32-4A90-8DD3-838A33729E73}" type="parTrans" cxnId="{B89CCEA2-5942-4583-A1C2-BD2B72101F91}">
      <dgm:prSet/>
      <dgm:spPr/>
      <dgm:t>
        <a:bodyPr/>
        <a:lstStyle/>
        <a:p>
          <a:endParaRPr lang="en-US"/>
        </a:p>
      </dgm:t>
    </dgm:pt>
    <dgm:pt modelId="{68B33544-04D1-401C-B725-2D3F580555BD}" type="sibTrans" cxnId="{B89CCEA2-5942-4583-A1C2-BD2B72101F91}">
      <dgm:prSet/>
      <dgm:spPr/>
      <dgm:t>
        <a:bodyPr/>
        <a:lstStyle/>
        <a:p>
          <a:endParaRPr lang="en-US"/>
        </a:p>
      </dgm:t>
    </dgm:pt>
    <dgm:pt modelId="{C2F9CAB8-C9B5-4AC3-B86E-D38A0177AF64}">
      <dgm:prSet/>
      <dgm:spPr/>
      <dgm:t>
        <a:bodyPr/>
        <a:lstStyle/>
        <a:p>
          <a:endParaRPr lang="en-US"/>
        </a:p>
      </dgm:t>
    </dgm:pt>
    <dgm:pt modelId="{56F2EE35-F86D-4D5F-AB6A-8C853F9C8585}" type="parTrans" cxnId="{49F77562-116E-4E8B-90D8-38FF93354350}">
      <dgm:prSet/>
      <dgm:spPr/>
      <dgm:t>
        <a:bodyPr/>
        <a:lstStyle/>
        <a:p>
          <a:endParaRPr lang="en-US"/>
        </a:p>
      </dgm:t>
    </dgm:pt>
    <dgm:pt modelId="{EA38ECE6-AB44-40BE-874A-EB5A3CF06A97}" type="sibTrans" cxnId="{49F77562-116E-4E8B-90D8-38FF93354350}">
      <dgm:prSet/>
      <dgm:spPr/>
      <dgm:t>
        <a:bodyPr/>
        <a:lstStyle/>
        <a:p>
          <a:endParaRPr lang="en-US"/>
        </a:p>
      </dgm:t>
    </dgm:pt>
    <dgm:pt modelId="{78DA189B-7EC2-4484-9BD6-F66D1D1323E4}">
      <dgm:prSet phldrT="[Text]" phldr="1"/>
      <dgm:spPr/>
      <dgm:t>
        <a:bodyPr/>
        <a:lstStyle/>
        <a:p>
          <a:endParaRPr lang="en-US"/>
        </a:p>
      </dgm:t>
    </dgm:pt>
    <dgm:pt modelId="{82D6DF7E-A945-4D58-B577-66BDA96B7D0D}" type="sibTrans" cxnId="{1EE76CA3-8C6C-4D25-A188-3F244EF72D0A}">
      <dgm:prSet/>
      <dgm:spPr/>
      <dgm:t>
        <a:bodyPr/>
        <a:lstStyle/>
        <a:p>
          <a:endParaRPr lang="en-US"/>
        </a:p>
      </dgm:t>
    </dgm:pt>
    <dgm:pt modelId="{E6E5665E-BAF4-4899-87D0-9612C187C51F}" type="parTrans" cxnId="{1EE76CA3-8C6C-4D25-A188-3F244EF72D0A}">
      <dgm:prSet/>
      <dgm:spPr/>
      <dgm:t>
        <a:bodyPr/>
        <a:lstStyle/>
        <a:p>
          <a:endParaRPr lang="en-US"/>
        </a:p>
      </dgm:t>
    </dgm:pt>
    <dgm:pt modelId="{6A5CFA28-BF51-4D05-8B61-6FA3A3EF2F31}" type="pres">
      <dgm:prSet presAssocID="{EA9F5529-C020-471E-935A-F00BE230A58F}" presName="Name0" presStyleCnt="0">
        <dgm:presLayoutVars>
          <dgm:chMax val="7"/>
          <dgm:chPref val="7"/>
          <dgm:dir/>
        </dgm:presLayoutVars>
      </dgm:prSet>
      <dgm:spPr/>
    </dgm:pt>
    <dgm:pt modelId="{7712E3DB-9006-4806-A630-598A744F21A4}" type="pres">
      <dgm:prSet presAssocID="{EA9F5529-C020-471E-935A-F00BE230A58F}" presName="Name1" presStyleCnt="0"/>
      <dgm:spPr/>
    </dgm:pt>
    <dgm:pt modelId="{50779117-AE0D-4DFF-9BE5-1462AE9C3173}" type="pres">
      <dgm:prSet presAssocID="{EA9F5529-C020-471E-935A-F00BE230A58F}" presName="cycle" presStyleCnt="0"/>
      <dgm:spPr/>
    </dgm:pt>
    <dgm:pt modelId="{0A3ABB4F-6681-4A1B-838F-C566D968C2DE}" type="pres">
      <dgm:prSet presAssocID="{EA9F5529-C020-471E-935A-F00BE230A58F}" presName="srcNode" presStyleLbl="node1" presStyleIdx="0" presStyleCnt="4"/>
      <dgm:spPr/>
    </dgm:pt>
    <dgm:pt modelId="{D366474F-E195-4393-802D-6204403C49A3}" type="pres">
      <dgm:prSet presAssocID="{EA9F5529-C020-471E-935A-F00BE230A58F}" presName="conn" presStyleLbl="parChTrans1D2" presStyleIdx="0" presStyleCnt="1"/>
      <dgm:spPr/>
    </dgm:pt>
    <dgm:pt modelId="{0DD0A0AB-0BF2-46BE-AB69-EF0EF5138C15}" type="pres">
      <dgm:prSet presAssocID="{EA9F5529-C020-471E-935A-F00BE230A58F}" presName="extraNode" presStyleLbl="node1" presStyleIdx="0" presStyleCnt="4"/>
      <dgm:spPr/>
    </dgm:pt>
    <dgm:pt modelId="{C3C870A9-DC7E-4184-8766-C9BEA92019A0}" type="pres">
      <dgm:prSet presAssocID="{EA9F5529-C020-471E-935A-F00BE230A58F}" presName="dstNode" presStyleLbl="node1" presStyleIdx="0" presStyleCnt="4"/>
      <dgm:spPr/>
    </dgm:pt>
    <dgm:pt modelId="{028FF056-B855-497E-ADF1-92A7F92E68E2}" type="pres">
      <dgm:prSet presAssocID="{2D2B806D-731C-43EE-8243-B2431BA21FC2}" presName="text_1" presStyleLbl="node1" presStyleIdx="0" presStyleCnt="4">
        <dgm:presLayoutVars>
          <dgm:bulletEnabled val="1"/>
        </dgm:presLayoutVars>
      </dgm:prSet>
      <dgm:spPr/>
    </dgm:pt>
    <dgm:pt modelId="{60F898E9-12EE-4B4A-8A57-A695D01753AE}" type="pres">
      <dgm:prSet presAssocID="{2D2B806D-731C-43EE-8243-B2431BA21FC2}" presName="accent_1" presStyleCnt="0"/>
      <dgm:spPr/>
    </dgm:pt>
    <dgm:pt modelId="{37653253-05BC-44F0-AC75-7737E417F5A2}" type="pres">
      <dgm:prSet presAssocID="{2D2B806D-731C-43EE-8243-B2431BA21FC2}" presName="accentRepeatNode" presStyleLbl="solidFgAcc1" presStyleIdx="0" presStyleCnt="4"/>
      <dgm:spPr/>
    </dgm:pt>
    <dgm:pt modelId="{74335462-4F1C-4C90-A00F-411F099B19BB}" type="pres">
      <dgm:prSet presAssocID="{C2F9CAB8-C9B5-4AC3-B86E-D38A0177AF64}" presName="text_2" presStyleLbl="node1" presStyleIdx="1" presStyleCnt="4">
        <dgm:presLayoutVars>
          <dgm:bulletEnabled val="1"/>
        </dgm:presLayoutVars>
      </dgm:prSet>
      <dgm:spPr/>
    </dgm:pt>
    <dgm:pt modelId="{89A8A342-3758-4EBC-A29D-D031540FE3F8}" type="pres">
      <dgm:prSet presAssocID="{C2F9CAB8-C9B5-4AC3-B86E-D38A0177AF64}" presName="accent_2" presStyleCnt="0"/>
      <dgm:spPr/>
    </dgm:pt>
    <dgm:pt modelId="{1DF86EBB-E3E2-4BA4-925D-01ECB2C66654}" type="pres">
      <dgm:prSet presAssocID="{C2F9CAB8-C9B5-4AC3-B86E-D38A0177AF64}" presName="accentRepeatNode" presStyleLbl="solidFgAcc1" presStyleIdx="1" presStyleCnt="4"/>
      <dgm:spPr/>
    </dgm:pt>
    <dgm:pt modelId="{C45F715D-B750-4F87-8869-796047EB573E}" type="pres">
      <dgm:prSet presAssocID="{78DA189B-7EC2-4484-9BD6-F66D1D1323E4}" presName="text_3" presStyleLbl="node1" presStyleIdx="2" presStyleCnt="4">
        <dgm:presLayoutVars>
          <dgm:bulletEnabled val="1"/>
        </dgm:presLayoutVars>
      </dgm:prSet>
      <dgm:spPr/>
    </dgm:pt>
    <dgm:pt modelId="{BD47BA4B-1A96-4E62-8429-8446690A1364}" type="pres">
      <dgm:prSet presAssocID="{78DA189B-7EC2-4484-9BD6-F66D1D1323E4}" presName="accent_3" presStyleCnt="0"/>
      <dgm:spPr/>
    </dgm:pt>
    <dgm:pt modelId="{4075A4D7-C957-4103-8EA3-336F22E49A39}" type="pres">
      <dgm:prSet presAssocID="{78DA189B-7EC2-4484-9BD6-F66D1D1323E4}" presName="accentRepeatNode" presStyleLbl="solidFgAcc1" presStyleIdx="2" presStyleCnt="4"/>
      <dgm:spPr/>
    </dgm:pt>
    <dgm:pt modelId="{12A43723-5B1A-4EA1-9853-09EEF2F96A4A}" type="pres">
      <dgm:prSet presAssocID="{C2F1AD88-F9B7-44A9-938E-0AC48386738F}" presName="text_4" presStyleLbl="node1" presStyleIdx="3" presStyleCnt="4">
        <dgm:presLayoutVars>
          <dgm:bulletEnabled val="1"/>
        </dgm:presLayoutVars>
      </dgm:prSet>
      <dgm:spPr/>
    </dgm:pt>
    <dgm:pt modelId="{D697C2DA-9681-455F-8E95-6B85B5AA2BB0}" type="pres">
      <dgm:prSet presAssocID="{C2F1AD88-F9B7-44A9-938E-0AC48386738F}" presName="accent_4" presStyleCnt="0"/>
      <dgm:spPr/>
    </dgm:pt>
    <dgm:pt modelId="{8E235F18-D1C8-492B-A645-D16C03A11E8A}" type="pres">
      <dgm:prSet presAssocID="{C2F1AD88-F9B7-44A9-938E-0AC48386738F}" presName="accentRepeatNode" presStyleLbl="solidFgAcc1" presStyleIdx="3" presStyleCnt="4"/>
      <dgm:spPr/>
    </dgm:pt>
  </dgm:ptLst>
  <dgm:cxnLst>
    <dgm:cxn modelId="{811D8926-7EC9-4603-B413-18900B1D976D}" type="presOf" srcId="{78DA189B-7EC2-4484-9BD6-F66D1D1323E4}" destId="{C45F715D-B750-4F87-8869-796047EB573E}" srcOrd="0" destOrd="0" presId="urn:microsoft.com/office/officeart/2008/layout/VerticalCurvedList"/>
    <dgm:cxn modelId="{D3C04442-36D1-44BF-843B-0B96056CD561}" type="presOf" srcId="{C2F9CAB8-C9B5-4AC3-B86E-D38A0177AF64}" destId="{74335462-4F1C-4C90-A00F-411F099B19BB}" srcOrd="0" destOrd="0" presId="urn:microsoft.com/office/officeart/2008/layout/VerticalCurvedList"/>
    <dgm:cxn modelId="{49F77562-116E-4E8B-90D8-38FF93354350}" srcId="{EA9F5529-C020-471E-935A-F00BE230A58F}" destId="{C2F9CAB8-C9B5-4AC3-B86E-D38A0177AF64}" srcOrd="1" destOrd="0" parTransId="{56F2EE35-F86D-4D5F-AB6A-8C853F9C8585}" sibTransId="{EA38ECE6-AB44-40BE-874A-EB5A3CF06A97}"/>
    <dgm:cxn modelId="{213D2883-5A34-43B3-9203-661FB7A7682E}" type="presOf" srcId="{C2F1AD88-F9B7-44A9-938E-0AC48386738F}" destId="{12A43723-5B1A-4EA1-9853-09EEF2F96A4A}" srcOrd="0" destOrd="0" presId="urn:microsoft.com/office/officeart/2008/layout/VerticalCurvedList"/>
    <dgm:cxn modelId="{383A4B8E-1EF4-4132-938B-7686B5C5CA96}" type="presOf" srcId="{2D2B806D-731C-43EE-8243-B2431BA21FC2}" destId="{028FF056-B855-497E-ADF1-92A7F92E68E2}" srcOrd="0" destOrd="0" presId="urn:microsoft.com/office/officeart/2008/layout/VerticalCurvedList"/>
    <dgm:cxn modelId="{B89CCEA2-5942-4583-A1C2-BD2B72101F91}" srcId="{EA9F5529-C020-471E-935A-F00BE230A58F}" destId="{C2F1AD88-F9B7-44A9-938E-0AC48386738F}" srcOrd="3" destOrd="0" parTransId="{F6E7230D-9A32-4A90-8DD3-838A33729E73}" sibTransId="{68B33544-04D1-401C-B725-2D3F580555BD}"/>
    <dgm:cxn modelId="{1EE76CA3-8C6C-4D25-A188-3F244EF72D0A}" srcId="{EA9F5529-C020-471E-935A-F00BE230A58F}" destId="{78DA189B-7EC2-4484-9BD6-F66D1D1323E4}" srcOrd="2" destOrd="0" parTransId="{E6E5665E-BAF4-4899-87D0-9612C187C51F}" sibTransId="{82D6DF7E-A945-4D58-B577-66BDA96B7D0D}"/>
    <dgm:cxn modelId="{605D0BAB-5F5B-4B8E-AFE7-FAD7518E35D3}" srcId="{EA9F5529-C020-471E-935A-F00BE230A58F}" destId="{2D2B806D-731C-43EE-8243-B2431BA21FC2}" srcOrd="0" destOrd="0" parTransId="{9CD6E171-C447-4D5D-976A-ABCB27B897E4}" sibTransId="{5CB53904-5EC1-44E3-98D2-503238BB41A8}"/>
    <dgm:cxn modelId="{7BA933DC-6994-4833-9BB4-CCC6BF9EB2FF}" type="presOf" srcId="{EA9F5529-C020-471E-935A-F00BE230A58F}" destId="{6A5CFA28-BF51-4D05-8B61-6FA3A3EF2F31}" srcOrd="0" destOrd="0" presId="urn:microsoft.com/office/officeart/2008/layout/VerticalCurvedList"/>
    <dgm:cxn modelId="{0E21CBF2-2461-4AC9-8227-1C1B01DE19D1}" type="presOf" srcId="{5CB53904-5EC1-44E3-98D2-503238BB41A8}" destId="{D366474F-E195-4393-802D-6204403C49A3}" srcOrd="0" destOrd="0" presId="urn:microsoft.com/office/officeart/2008/layout/VerticalCurvedList"/>
    <dgm:cxn modelId="{E549E5CA-2A22-4C89-8499-891618A1661E}" type="presParOf" srcId="{6A5CFA28-BF51-4D05-8B61-6FA3A3EF2F31}" destId="{7712E3DB-9006-4806-A630-598A744F21A4}" srcOrd="0" destOrd="0" presId="urn:microsoft.com/office/officeart/2008/layout/VerticalCurvedList"/>
    <dgm:cxn modelId="{8876204F-40A1-43EA-B0DC-597D48C49D62}" type="presParOf" srcId="{7712E3DB-9006-4806-A630-598A744F21A4}" destId="{50779117-AE0D-4DFF-9BE5-1462AE9C3173}" srcOrd="0" destOrd="0" presId="urn:microsoft.com/office/officeart/2008/layout/VerticalCurvedList"/>
    <dgm:cxn modelId="{28D757FE-3CF1-4C64-9C5F-166DA25CFF21}" type="presParOf" srcId="{50779117-AE0D-4DFF-9BE5-1462AE9C3173}" destId="{0A3ABB4F-6681-4A1B-838F-C566D968C2DE}" srcOrd="0" destOrd="0" presId="urn:microsoft.com/office/officeart/2008/layout/VerticalCurvedList"/>
    <dgm:cxn modelId="{5D4BF2C7-41D7-44CD-B197-F8A66A899BEF}" type="presParOf" srcId="{50779117-AE0D-4DFF-9BE5-1462AE9C3173}" destId="{D366474F-E195-4393-802D-6204403C49A3}" srcOrd="1" destOrd="0" presId="urn:microsoft.com/office/officeart/2008/layout/VerticalCurvedList"/>
    <dgm:cxn modelId="{837FD0F8-5C75-4498-BA94-59F72C14DB0B}" type="presParOf" srcId="{50779117-AE0D-4DFF-9BE5-1462AE9C3173}" destId="{0DD0A0AB-0BF2-46BE-AB69-EF0EF5138C15}" srcOrd="2" destOrd="0" presId="urn:microsoft.com/office/officeart/2008/layout/VerticalCurvedList"/>
    <dgm:cxn modelId="{659F7A88-351C-4B21-B2FF-E6202A494FFD}" type="presParOf" srcId="{50779117-AE0D-4DFF-9BE5-1462AE9C3173}" destId="{C3C870A9-DC7E-4184-8766-C9BEA92019A0}" srcOrd="3" destOrd="0" presId="urn:microsoft.com/office/officeart/2008/layout/VerticalCurvedList"/>
    <dgm:cxn modelId="{0CC4C68F-FD02-42D5-854D-FC97A0B25748}" type="presParOf" srcId="{7712E3DB-9006-4806-A630-598A744F21A4}" destId="{028FF056-B855-497E-ADF1-92A7F92E68E2}" srcOrd="1" destOrd="0" presId="urn:microsoft.com/office/officeart/2008/layout/VerticalCurvedList"/>
    <dgm:cxn modelId="{32789DF1-CCE8-4B36-93A6-6C0E0578906A}" type="presParOf" srcId="{7712E3DB-9006-4806-A630-598A744F21A4}" destId="{60F898E9-12EE-4B4A-8A57-A695D01753AE}" srcOrd="2" destOrd="0" presId="urn:microsoft.com/office/officeart/2008/layout/VerticalCurvedList"/>
    <dgm:cxn modelId="{5BCFA356-4056-49DF-9D04-BEFB3EAD4C5F}" type="presParOf" srcId="{60F898E9-12EE-4B4A-8A57-A695D01753AE}" destId="{37653253-05BC-44F0-AC75-7737E417F5A2}" srcOrd="0" destOrd="0" presId="urn:microsoft.com/office/officeart/2008/layout/VerticalCurvedList"/>
    <dgm:cxn modelId="{5A864358-3152-4522-8362-D27F3E501E26}" type="presParOf" srcId="{7712E3DB-9006-4806-A630-598A744F21A4}" destId="{74335462-4F1C-4C90-A00F-411F099B19BB}" srcOrd="3" destOrd="0" presId="urn:microsoft.com/office/officeart/2008/layout/VerticalCurvedList"/>
    <dgm:cxn modelId="{D2DD50D8-89BE-416E-B250-D85AE49510DB}" type="presParOf" srcId="{7712E3DB-9006-4806-A630-598A744F21A4}" destId="{89A8A342-3758-4EBC-A29D-D031540FE3F8}" srcOrd="4" destOrd="0" presId="urn:microsoft.com/office/officeart/2008/layout/VerticalCurvedList"/>
    <dgm:cxn modelId="{3579C68E-1184-4039-B444-2E631775E2BB}" type="presParOf" srcId="{89A8A342-3758-4EBC-A29D-D031540FE3F8}" destId="{1DF86EBB-E3E2-4BA4-925D-01ECB2C66654}" srcOrd="0" destOrd="0" presId="urn:microsoft.com/office/officeart/2008/layout/VerticalCurvedList"/>
    <dgm:cxn modelId="{F14F2974-182B-4CAD-9DA4-F1FF36B24A6B}" type="presParOf" srcId="{7712E3DB-9006-4806-A630-598A744F21A4}" destId="{C45F715D-B750-4F87-8869-796047EB573E}" srcOrd="5" destOrd="0" presId="urn:microsoft.com/office/officeart/2008/layout/VerticalCurvedList"/>
    <dgm:cxn modelId="{E8B7F021-AC01-4B19-9C0E-226941F40FA2}" type="presParOf" srcId="{7712E3DB-9006-4806-A630-598A744F21A4}" destId="{BD47BA4B-1A96-4E62-8429-8446690A1364}" srcOrd="6" destOrd="0" presId="urn:microsoft.com/office/officeart/2008/layout/VerticalCurvedList"/>
    <dgm:cxn modelId="{35812F19-DADF-43B3-976C-01054B11DC84}" type="presParOf" srcId="{BD47BA4B-1A96-4E62-8429-8446690A1364}" destId="{4075A4D7-C957-4103-8EA3-336F22E49A39}" srcOrd="0" destOrd="0" presId="urn:microsoft.com/office/officeart/2008/layout/VerticalCurvedList"/>
    <dgm:cxn modelId="{8A29FEED-116D-4D51-A660-F3EDF46DF556}" type="presParOf" srcId="{7712E3DB-9006-4806-A630-598A744F21A4}" destId="{12A43723-5B1A-4EA1-9853-09EEF2F96A4A}" srcOrd="7" destOrd="0" presId="urn:microsoft.com/office/officeart/2008/layout/VerticalCurvedList"/>
    <dgm:cxn modelId="{55123413-435E-4801-8DCE-E535D19BFFF6}" type="presParOf" srcId="{7712E3DB-9006-4806-A630-598A744F21A4}" destId="{D697C2DA-9681-455F-8E95-6B85B5AA2BB0}" srcOrd="8" destOrd="0" presId="urn:microsoft.com/office/officeart/2008/layout/VerticalCurvedList"/>
    <dgm:cxn modelId="{6A161E7C-ED36-4330-8FC8-3B6693183259}" type="presParOf" srcId="{D697C2DA-9681-455F-8E95-6B85B5AA2BB0}" destId="{8E235F18-D1C8-492B-A645-D16C03A11E8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1074813-36E7-42BA-B058-91E3519A13BF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03E4205-8363-4D17-A77E-12285B2A6FC6}">
      <dgm:prSet phldrT="[Text]" custT="1"/>
      <dgm:spPr/>
      <dgm:t>
        <a:bodyPr/>
        <a:lstStyle/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Piyush Vats</a:t>
          </a:r>
        </a:p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Inside Sales Head</a:t>
          </a:r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697D46-7888-42FC-B154-0AA8D95178B1}" type="parTrans" cxnId="{795033D8-10CA-4D27-B4A5-6DEB423DC714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22042E-C438-40AB-9D96-B0D8502161F1}" type="sibTrans" cxnId="{795033D8-10CA-4D27-B4A5-6DEB423DC714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9EA6E2-0C86-4158-BD4E-E6A206302133}">
      <dgm:prSet phldrT="[Text]" custT="1"/>
      <dgm:spPr/>
      <dgm:t>
        <a:bodyPr/>
        <a:lstStyle/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Ganesh Mali </a:t>
          </a:r>
        </a:p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Maharashtra State Head</a:t>
          </a:r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FB19C8-601C-4846-B2E0-E3F352163A3E}" type="parTrans" cxnId="{30374C72-7B6C-4BDC-B50A-DA44556795D1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186A68-C573-4335-A968-BF2D5E62863D}" type="sibTrans" cxnId="{30374C72-7B6C-4BDC-B50A-DA44556795D1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421EC8-3301-4FDC-A62D-B5199EA06FB4}">
      <dgm:prSet phldrT="[Text]" custT="1"/>
      <dgm:spPr/>
      <dgm:t>
        <a:bodyPr/>
        <a:lstStyle/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Srushti </a:t>
          </a:r>
          <a:r>
            <a:rPr lang="en-US" sz="1400" err="1">
              <a:latin typeface="Times New Roman" panose="02020603050405020304" pitchFamily="18" charset="0"/>
              <a:cs typeface="Times New Roman" panose="02020603050405020304" pitchFamily="18" charset="0"/>
            </a:rPr>
            <a:t>Sindagi</a:t>
          </a:r>
          <a:endParaRPr 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Growth Sales Head </a:t>
          </a:r>
        </a:p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9FDBE0-7E02-4B7B-A868-52C181061619}" type="parTrans" cxnId="{EB9FE08D-E8BF-4558-B651-1E89F36BA5B8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410C38-787D-4757-AD03-1DCF41E0299B}" type="sibTrans" cxnId="{EB9FE08D-E8BF-4558-B651-1E89F36BA5B8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7A33BF-5ED9-4F24-9EB0-C035B9981FB3}">
      <dgm:prSet phldrT="[Text]" custT="1"/>
      <dgm:spPr/>
      <dgm:t>
        <a:bodyPr/>
        <a:lstStyle/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Sanjay Datta Gupta </a:t>
          </a:r>
        </a:p>
        <a:p>
          <a:r>
            <a:rPr lang="en-US" sz="1400">
              <a:latin typeface="Times New Roman" panose="02020603050405020304" pitchFamily="18" charset="0"/>
              <a:cs typeface="Times New Roman" panose="02020603050405020304" pitchFamily="18" charset="0"/>
            </a:rPr>
            <a:t>AGM Sales </a:t>
          </a:r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4AD227-0721-4B03-8BC8-C8E6BB4F07E1}" type="parTrans" cxnId="{2A6F2412-0739-4362-B3EC-710DD8F2E97D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5E2AA3-21AD-4369-ADF8-0BD45F25E5BF}" type="sibTrans" cxnId="{2A6F2412-0739-4362-B3EC-710DD8F2E97D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5A7941-F227-4610-8D10-F271F96B9316}" type="pres">
      <dgm:prSet presAssocID="{21074813-36E7-42BA-B058-91E3519A13BF}" presName="linearFlow" presStyleCnt="0">
        <dgm:presLayoutVars>
          <dgm:dir/>
          <dgm:resizeHandles val="exact"/>
        </dgm:presLayoutVars>
      </dgm:prSet>
      <dgm:spPr/>
    </dgm:pt>
    <dgm:pt modelId="{5669C27A-FF61-4501-A8D2-8865460F2E30}" type="pres">
      <dgm:prSet presAssocID="{E03E4205-8363-4D17-A77E-12285B2A6FC6}" presName="composite" presStyleCnt="0"/>
      <dgm:spPr/>
    </dgm:pt>
    <dgm:pt modelId="{DDC906BF-1BEF-48E1-87E6-180627C2D0DA}" type="pres">
      <dgm:prSet presAssocID="{E03E4205-8363-4D17-A77E-12285B2A6FC6}" presName="imgShp" presStyleLbl="fgImgPlace1" presStyleIdx="0" presStyleCnt="4" custScaleX="114421" custScaleY="119554"/>
      <dgm:spPr/>
    </dgm:pt>
    <dgm:pt modelId="{1212B155-BD84-4571-AB4B-DC732766491F}" type="pres">
      <dgm:prSet presAssocID="{E03E4205-8363-4D17-A77E-12285B2A6FC6}" presName="txShp" presStyleLbl="node1" presStyleIdx="0" presStyleCnt="4" custLinFactNeighborX="6292" custLinFactNeighborY="-2">
        <dgm:presLayoutVars>
          <dgm:bulletEnabled val="1"/>
        </dgm:presLayoutVars>
      </dgm:prSet>
      <dgm:spPr>
        <a:prstGeom prst="roundRect">
          <a:avLst/>
        </a:prstGeom>
      </dgm:spPr>
    </dgm:pt>
    <dgm:pt modelId="{CDC5EDA7-329B-4910-AE5E-B905DDC0ACFE}" type="pres">
      <dgm:prSet presAssocID="{5B22042E-C438-40AB-9D96-B0D8502161F1}" presName="spacing" presStyleCnt="0"/>
      <dgm:spPr/>
    </dgm:pt>
    <dgm:pt modelId="{A1B28671-66F5-42A9-B6C8-632C697AEAB7}" type="pres">
      <dgm:prSet presAssocID="{AD9EA6E2-0C86-4158-BD4E-E6A206302133}" presName="composite" presStyleCnt="0"/>
      <dgm:spPr/>
    </dgm:pt>
    <dgm:pt modelId="{EC01BA14-F12A-4C40-B3AC-6AC1EEA62806}" type="pres">
      <dgm:prSet presAssocID="{AD9EA6E2-0C86-4158-BD4E-E6A206302133}" presName="imgShp" presStyleLbl="fgImgPlace1" presStyleIdx="1" presStyleCnt="4" custLinFactNeighborX="-3014" custLinFactNeighborY="-1507"/>
      <dgm:spPr/>
    </dgm:pt>
    <dgm:pt modelId="{360AEAFB-F82C-4B16-B5BB-FCB9B23AB5F5}" type="pres">
      <dgm:prSet presAssocID="{AD9EA6E2-0C86-4158-BD4E-E6A206302133}" presName="txShp" presStyleLbl="node1" presStyleIdx="1" presStyleCnt="4" custLinFactNeighborX="5985">
        <dgm:presLayoutVars>
          <dgm:bulletEnabled val="1"/>
        </dgm:presLayoutVars>
      </dgm:prSet>
      <dgm:spPr>
        <a:prstGeom prst="roundRect">
          <a:avLst/>
        </a:prstGeom>
      </dgm:spPr>
    </dgm:pt>
    <dgm:pt modelId="{14CC64F7-5E50-496A-959B-EA8B85839B58}" type="pres">
      <dgm:prSet presAssocID="{C1186A68-C573-4335-A968-BF2D5E62863D}" presName="spacing" presStyleCnt="0"/>
      <dgm:spPr/>
    </dgm:pt>
    <dgm:pt modelId="{001ED991-0FBA-4915-A32D-EFA7335AC4E2}" type="pres">
      <dgm:prSet presAssocID="{427A33BF-5ED9-4F24-9EB0-C035B9981FB3}" presName="composite" presStyleCnt="0"/>
      <dgm:spPr/>
    </dgm:pt>
    <dgm:pt modelId="{626EEF9D-D66F-4E94-B2C8-9DCB82A26D91}" type="pres">
      <dgm:prSet presAssocID="{427A33BF-5ED9-4F24-9EB0-C035B9981FB3}" presName="imgShp" presStyleLbl="fgImgPlace1" presStyleIdx="2" presStyleCnt="4"/>
      <dgm:spPr/>
    </dgm:pt>
    <dgm:pt modelId="{7EADBCF4-7456-46C1-B6CB-4BCF1DD402B3}" type="pres">
      <dgm:prSet presAssocID="{427A33BF-5ED9-4F24-9EB0-C035B9981FB3}" presName="txShp" presStyleLbl="node1" presStyleIdx="2" presStyleCnt="4" custLinFactNeighborX="5985" custLinFactNeighborY="1507">
        <dgm:presLayoutVars>
          <dgm:bulletEnabled val="1"/>
        </dgm:presLayoutVars>
      </dgm:prSet>
      <dgm:spPr>
        <a:prstGeom prst="roundRect">
          <a:avLst/>
        </a:prstGeom>
      </dgm:spPr>
    </dgm:pt>
    <dgm:pt modelId="{594CDB28-9EF2-4E69-A168-20787BF3BDCA}" type="pres">
      <dgm:prSet presAssocID="{FC5E2AA3-21AD-4369-ADF8-0BD45F25E5BF}" presName="spacing" presStyleCnt="0"/>
      <dgm:spPr/>
    </dgm:pt>
    <dgm:pt modelId="{A107A209-BFE7-4E86-89DC-B09C7E0707D5}" type="pres">
      <dgm:prSet presAssocID="{B0421EC8-3301-4FDC-A62D-B5199EA06FB4}" presName="composite" presStyleCnt="0"/>
      <dgm:spPr/>
    </dgm:pt>
    <dgm:pt modelId="{355A1AD9-71F1-4482-80DC-89C16B2F00D9}" type="pres">
      <dgm:prSet presAssocID="{B0421EC8-3301-4FDC-A62D-B5199EA06FB4}" presName="imgShp" presStyleLbl="fgImgPlace1" presStyleIdx="3" presStyleCnt="4"/>
      <dgm:spPr/>
    </dgm:pt>
    <dgm:pt modelId="{90A2653F-6172-476C-AF23-57D433D86012}" type="pres">
      <dgm:prSet presAssocID="{B0421EC8-3301-4FDC-A62D-B5199EA06FB4}" presName="txShp" presStyleLbl="node1" presStyleIdx="3" presStyleCnt="4" custLinFactNeighborX="7519" custLinFactNeighborY="5275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2A6F2412-0739-4362-B3EC-710DD8F2E97D}" srcId="{21074813-36E7-42BA-B058-91E3519A13BF}" destId="{427A33BF-5ED9-4F24-9EB0-C035B9981FB3}" srcOrd="2" destOrd="0" parTransId="{BC4AD227-0721-4B03-8BC8-C8E6BB4F07E1}" sibTransId="{FC5E2AA3-21AD-4369-ADF8-0BD45F25E5BF}"/>
    <dgm:cxn modelId="{48C25B20-1457-4920-933A-BF2C40700F92}" type="presOf" srcId="{21074813-36E7-42BA-B058-91E3519A13BF}" destId="{4E5A7941-F227-4610-8D10-F271F96B9316}" srcOrd="0" destOrd="0" presId="urn:microsoft.com/office/officeart/2005/8/layout/vList3"/>
    <dgm:cxn modelId="{587CA925-B1D0-4414-9CAE-A573038408A8}" type="presOf" srcId="{AD9EA6E2-0C86-4158-BD4E-E6A206302133}" destId="{360AEAFB-F82C-4B16-B5BB-FCB9B23AB5F5}" srcOrd="0" destOrd="0" presId="urn:microsoft.com/office/officeart/2005/8/layout/vList3"/>
    <dgm:cxn modelId="{CC592B5E-1DE7-45DF-856D-28C4095755F9}" type="presOf" srcId="{427A33BF-5ED9-4F24-9EB0-C035B9981FB3}" destId="{7EADBCF4-7456-46C1-B6CB-4BCF1DD402B3}" srcOrd="0" destOrd="0" presId="urn:microsoft.com/office/officeart/2005/8/layout/vList3"/>
    <dgm:cxn modelId="{30374C72-7B6C-4BDC-B50A-DA44556795D1}" srcId="{21074813-36E7-42BA-B058-91E3519A13BF}" destId="{AD9EA6E2-0C86-4158-BD4E-E6A206302133}" srcOrd="1" destOrd="0" parTransId="{93FB19C8-601C-4846-B2E0-E3F352163A3E}" sibTransId="{C1186A68-C573-4335-A968-BF2D5E62863D}"/>
    <dgm:cxn modelId="{EB9FE08D-E8BF-4558-B651-1E89F36BA5B8}" srcId="{21074813-36E7-42BA-B058-91E3519A13BF}" destId="{B0421EC8-3301-4FDC-A62D-B5199EA06FB4}" srcOrd="3" destOrd="0" parTransId="{DD9FDBE0-7E02-4B7B-A868-52C181061619}" sibTransId="{C0410C38-787D-4757-AD03-1DCF41E0299B}"/>
    <dgm:cxn modelId="{EB2F51A1-0FBA-48DE-A207-F24A032AB791}" type="presOf" srcId="{E03E4205-8363-4D17-A77E-12285B2A6FC6}" destId="{1212B155-BD84-4571-AB4B-DC732766491F}" srcOrd="0" destOrd="0" presId="urn:microsoft.com/office/officeart/2005/8/layout/vList3"/>
    <dgm:cxn modelId="{C04336D5-9B02-4498-8FA7-3BD118EEE966}" type="presOf" srcId="{B0421EC8-3301-4FDC-A62D-B5199EA06FB4}" destId="{90A2653F-6172-476C-AF23-57D433D86012}" srcOrd="0" destOrd="0" presId="urn:microsoft.com/office/officeart/2005/8/layout/vList3"/>
    <dgm:cxn modelId="{795033D8-10CA-4D27-B4A5-6DEB423DC714}" srcId="{21074813-36E7-42BA-B058-91E3519A13BF}" destId="{E03E4205-8363-4D17-A77E-12285B2A6FC6}" srcOrd="0" destOrd="0" parTransId="{5B697D46-7888-42FC-B154-0AA8D95178B1}" sibTransId="{5B22042E-C438-40AB-9D96-B0D8502161F1}"/>
    <dgm:cxn modelId="{6F430492-4F90-4ABD-BA74-6AF325D7E383}" type="presParOf" srcId="{4E5A7941-F227-4610-8D10-F271F96B9316}" destId="{5669C27A-FF61-4501-A8D2-8865460F2E30}" srcOrd="0" destOrd="0" presId="urn:microsoft.com/office/officeart/2005/8/layout/vList3"/>
    <dgm:cxn modelId="{34AE3341-5AF0-41D4-936E-28148A3063DF}" type="presParOf" srcId="{5669C27A-FF61-4501-A8D2-8865460F2E30}" destId="{DDC906BF-1BEF-48E1-87E6-180627C2D0DA}" srcOrd="0" destOrd="0" presId="urn:microsoft.com/office/officeart/2005/8/layout/vList3"/>
    <dgm:cxn modelId="{3E337C85-D2F0-4142-AB6E-26E303F1F626}" type="presParOf" srcId="{5669C27A-FF61-4501-A8D2-8865460F2E30}" destId="{1212B155-BD84-4571-AB4B-DC732766491F}" srcOrd="1" destOrd="0" presId="urn:microsoft.com/office/officeart/2005/8/layout/vList3"/>
    <dgm:cxn modelId="{F81E864F-5522-40DB-996A-735D10DB5936}" type="presParOf" srcId="{4E5A7941-F227-4610-8D10-F271F96B9316}" destId="{CDC5EDA7-329B-4910-AE5E-B905DDC0ACFE}" srcOrd="1" destOrd="0" presId="urn:microsoft.com/office/officeart/2005/8/layout/vList3"/>
    <dgm:cxn modelId="{00C2B035-F150-42E0-AE9A-799A2E6012DB}" type="presParOf" srcId="{4E5A7941-F227-4610-8D10-F271F96B9316}" destId="{A1B28671-66F5-42A9-B6C8-632C697AEAB7}" srcOrd="2" destOrd="0" presId="urn:microsoft.com/office/officeart/2005/8/layout/vList3"/>
    <dgm:cxn modelId="{5D28545D-74D7-4C60-8039-871795423B80}" type="presParOf" srcId="{A1B28671-66F5-42A9-B6C8-632C697AEAB7}" destId="{EC01BA14-F12A-4C40-B3AC-6AC1EEA62806}" srcOrd="0" destOrd="0" presId="urn:microsoft.com/office/officeart/2005/8/layout/vList3"/>
    <dgm:cxn modelId="{E76A009C-F9DC-4A92-A7DB-EEE5591DB257}" type="presParOf" srcId="{A1B28671-66F5-42A9-B6C8-632C697AEAB7}" destId="{360AEAFB-F82C-4B16-B5BB-FCB9B23AB5F5}" srcOrd="1" destOrd="0" presId="urn:microsoft.com/office/officeart/2005/8/layout/vList3"/>
    <dgm:cxn modelId="{5F92A18B-43FC-48D6-A09B-A9A0C1D762FA}" type="presParOf" srcId="{4E5A7941-F227-4610-8D10-F271F96B9316}" destId="{14CC64F7-5E50-496A-959B-EA8B85839B58}" srcOrd="3" destOrd="0" presId="urn:microsoft.com/office/officeart/2005/8/layout/vList3"/>
    <dgm:cxn modelId="{0F477B95-19E9-4E2F-94E6-BC8053CB9E03}" type="presParOf" srcId="{4E5A7941-F227-4610-8D10-F271F96B9316}" destId="{001ED991-0FBA-4915-A32D-EFA7335AC4E2}" srcOrd="4" destOrd="0" presId="urn:microsoft.com/office/officeart/2005/8/layout/vList3"/>
    <dgm:cxn modelId="{7251A6B4-42A4-4300-8161-973821C26CC5}" type="presParOf" srcId="{001ED991-0FBA-4915-A32D-EFA7335AC4E2}" destId="{626EEF9D-D66F-4E94-B2C8-9DCB82A26D91}" srcOrd="0" destOrd="0" presId="urn:microsoft.com/office/officeart/2005/8/layout/vList3"/>
    <dgm:cxn modelId="{626DEDED-9CF2-43B9-A0BC-B6E7360A8ED3}" type="presParOf" srcId="{001ED991-0FBA-4915-A32D-EFA7335AC4E2}" destId="{7EADBCF4-7456-46C1-B6CB-4BCF1DD402B3}" srcOrd="1" destOrd="0" presId="urn:microsoft.com/office/officeart/2005/8/layout/vList3"/>
    <dgm:cxn modelId="{755A52D7-17EA-4300-A2E3-52786BBF20DA}" type="presParOf" srcId="{4E5A7941-F227-4610-8D10-F271F96B9316}" destId="{594CDB28-9EF2-4E69-A168-20787BF3BDCA}" srcOrd="5" destOrd="0" presId="urn:microsoft.com/office/officeart/2005/8/layout/vList3"/>
    <dgm:cxn modelId="{8B0989BA-745B-4305-B951-FE233BBA9642}" type="presParOf" srcId="{4E5A7941-F227-4610-8D10-F271F96B9316}" destId="{A107A209-BFE7-4E86-89DC-B09C7E0707D5}" srcOrd="6" destOrd="0" presId="urn:microsoft.com/office/officeart/2005/8/layout/vList3"/>
    <dgm:cxn modelId="{C9992C10-3E11-4696-BC24-048863C2E5F3}" type="presParOf" srcId="{A107A209-BFE7-4E86-89DC-B09C7E0707D5}" destId="{355A1AD9-71F1-4482-80DC-89C16B2F00D9}" srcOrd="0" destOrd="0" presId="urn:microsoft.com/office/officeart/2005/8/layout/vList3"/>
    <dgm:cxn modelId="{4265FC63-89DB-46EF-B240-E04E203F1622}" type="presParOf" srcId="{A107A209-BFE7-4E86-89DC-B09C7E0707D5}" destId="{90A2653F-6172-476C-AF23-57D433D8601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A59F3-6F30-4292-BC77-6271A40D4A37}">
      <dsp:nvSpPr>
        <dsp:cNvPr id="0" name=""/>
        <dsp:cNvSpPr/>
      </dsp:nvSpPr>
      <dsp:spPr>
        <a:xfrm>
          <a:off x="2881" y="559262"/>
          <a:ext cx="3517348" cy="4138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CAD175-8090-4EBC-97D4-35DC1E4019C0}">
      <dsp:nvSpPr>
        <dsp:cNvPr id="0" name=""/>
        <dsp:cNvSpPr/>
      </dsp:nvSpPr>
      <dsp:spPr>
        <a:xfrm>
          <a:off x="0" y="702395"/>
          <a:ext cx="258397" cy="25839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06BFC-F775-405F-9C3B-64BAE9F9E933}">
      <dsp:nvSpPr>
        <dsp:cNvPr id="0" name=""/>
        <dsp:cNvSpPr/>
      </dsp:nvSpPr>
      <dsp:spPr>
        <a:xfrm>
          <a:off x="2881" y="0"/>
          <a:ext cx="3517348" cy="743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Font typeface="Arial"/>
            <a:buNone/>
          </a:pPr>
          <a:r>
            <a:rPr lang="en-US" sz="1200" b="1" kern="1200">
              <a:latin typeface="Roboto"/>
              <a:ea typeface="Roboto"/>
              <a:cs typeface="Roboto"/>
              <a:sym typeface="Roboto"/>
            </a:rPr>
            <a:t>1</a:t>
          </a:r>
          <a:r>
            <a:rPr lang="en-US" sz="1200" b="1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.ORDERS &amp; RETAIL TRACKER (LAST 5 MONTHS)</a:t>
          </a:r>
          <a:endParaRPr lang="en-IN" sz="1200" kern="1200"/>
        </a:p>
      </dsp:txBody>
      <dsp:txXfrm>
        <a:off x="2881" y="0"/>
        <a:ext cx="3517348" cy="743368"/>
      </dsp:txXfrm>
    </dsp:sp>
    <dsp:sp modelId="{992A7F1F-F5CC-4BA0-AC56-89CE6D612CD6}">
      <dsp:nvSpPr>
        <dsp:cNvPr id="0" name=""/>
        <dsp:cNvSpPr/>
      </dsp:nvSpPr>
      <dsp:spPr>
        <a:xfrm>
          <a:off x="2881" y="1280164"/>
          <a:ext cx="258390" cy="2583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3E7EF-81BC-4A5F-877A-B16AB791602C}">
      <dsp:nvSpPr>
        <dsp:cNvPr id="0" name=""/>
        <dsp:cNvSpPr/>
      </dsp:nvSpPr>
      <dsp:spPr>
        <a:xfrm>
          <a:off x="283148" y="1114344"/>
          <a:ext cx="3271133" cy="60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Font typeface="Roboto"/>
            <a:buNone/>
          </a:pPr>
          <a:r>
            <a:rPr lang="en-US" sz="1200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Analyzed customer buying trends and order patterns</a:t>
          </a:r>
          <a:r>
            <a:rPr lang="en-US" sz="1200" kern="1200"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rPr>
            <a:t>.</a:t>
          </a:r>
          <a:endParaRPr lang="en-IN" sz="1200" kern="1200"/>
        </a:p>
      </dsp:txBody>
      <dsp:txXfrm>
        <a:off x="283148" y="1114344"/>
        <a:ext cx="3271133" cy="602309"/>
      </dsp:txXfrm>
    </dsp:sp>
    <dsp:sp modelId="{F0501641-7A12-4835-AA39-82B8FDCF1AED}">
      <dsp:nvSpPr>
        <dsp:cNvPr id="0" name=""/>
        <dsp:cNvSpPr/>
      </dsp:nvSpPr>
      <dsp:spPr>
        <a:xfrm>
          <a:off x="0" y="1876336"/>
          <a:ext cx="258390" cy="2583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D49CC7-2838-4E09-9CB4-5E6DC4342C6F}">
      <dsp:nvSpPr>
        <dsp:cNvPr id="0" name=""/>
        <dsp:cNvSpPr/>
      </dsp:nvSpPr>
      <dsp:spPr>
        <a:xfrm>
          <a:off x="255245" y="1741197"/>
          <a:ext cx="3271133" cy="60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Font typeface="Roboto"/>
            <a:buNone/>
          </a:pPr>
          <a:r>
            <a:rPr lang="en-US" sz="1200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Tracked orders by customer, product, and region</a:t>
          </a:r>
          <a:r>
            <a:rPr lang="en-US" sz="1200" kern="1200"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rPr>
            <a:t>.</a:t>
          </a:r>
          <a:endParaRPr lang="en-IN" sz="1200" kern="1200"/>
        </a:p>
      </dsp:txBody>
      <dsp:txXfrm>
        <a:off x="255245" y="1741197"/>
        <a:ext cx="3271133" cy="602309"/>
      </dsp:txXfrm>
    </dsp:sp>
    <dsp:sp modelId="{FA97BB11-91DA-48E9-9E7E-6B4E5B808ED7}">
      <dsp:nvSpPr>
        <dsp:cNvPr id="0" name=""/>
        <dsp:cNvSpPr/>
      </dsp:nvSpPr>
      <dsp:spPr>
        <a:xfrm>
          <a:off x="2881" y="2424931"/>
          <a:ext cx="258390" cy="2583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47F45-DBD5-4AAE-B8AE-CBAA636CFB83}">
      <dsp:nvSpPr>
        <dsp:cNvPr id="0" name=""/>
        <dsp:cNvSpPr/>
      </dsp:nvSpPr>
      <dsp:spPr>
        <a:xfrm>
          <a:off x="273629" y="2276000"/>
          <a:ext cx="3271133" cy="60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Font typeface="Roboto"/>
            <a:buNone/>
          </a:pPr>
          <a:r>
            <a:rPr lang="en-US" sz="1200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Built customer profiles by purchase frequency and volume and assigned priorities to the customers </a:t>
          </a:r>
          <a:endParaRPr lang="en-IN" sz="1200" kern="1200"/>
        </a:p>
      </dsp:txBody>
      <dsp:txXfrm>
        <a:off x="273629" y="2276000"/>
        <a:ext cx="3271133" cy="602309"/>
      </dsp:txXfrm>
    </dsp:sp>
    <dsp:sp modelId="{A454FB86-9948-4D6F-A03B-F8EF25C9BDCD}">
      <dsp:nvSpPr>
        <dsp:cNvPr id="0" name=""/>
        <dsp:cNvSpPr/>
      </dsp:nvSpPr>
      <dsp:spPr>
        <a:xfrm>
          <a:off x="3698978" y="534715"/>
          <a:ext cx="3517348" cy="4138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2CB45-0D45-410C-8CEC-BB9E808E4571}">
      <dsp:nvSpPr>
        <dsp:cNvPr id="0" name=""/>
        <dsp:cNvSpPr/>
      </dsp:nvSpPr>
      <dsp:spPr>
        <a:xfrm>
          <a:off x="3702234" y="683984"/>
          <a:ext cx="258397" cy="25839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37BE37-B53C-47D0-AA09-7C5C6EB51506}">
      <dsp:nvSpPr>
        <dsp:cNvPr id="0" name=""/>
        <dsp:cNvSpPr/>
      </dsp:nvSpPr>
      <dsp:spPr>
        <a:xfrm>
          <a:off x="3696097" y="0"/>
          <a:ext cx="3517348" cy="743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None/>
          </a:pPr>
          <a:r>
            <a:rPr lang="en-US" sz="1200" b="1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2. LOST ORDERS ANALYSIS (LAST 5 MONTHS)</a:t>
          </a:r>
          <a:endParaRPr lang="en-IN" sz="1200" kern="1200"/>
        </a:p>
      </dsp:txBody>
      <dsp:txXfrm>
        <a:off x="3696097" y="0"/>
        <a:ext cx="3517348" cy="743368"/>
      </dsp:txXfrm>
    </dsp:sp>
    <dsp:sp modelId="{A7743B17-F71B-4C7D-BA9E-E2CDD5BDE2B5}">
      <dsp:nvSpPr>
        <dsp:cNvPr id="0" name=""/>
        <dsp:cNvSpPr/>
      </dsp:nvSpPr>
      <dsp:spPr>
        <a:xfrm>
          <a:off x="3696097" y="1316987"/>
          <a:ext cx="258390" cy="2583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FD1E3-A076-4A7B-B25A-3273EC253784}">
      <dsp:nvSpPr>
        <dsp:cNvPr id="0" name=""/>
        <dsp:cNvSpPr/>
      </dsp:nvSpPr>
      <dsp:spPr>
        <a:xfrm>
          <a:off x="3942311" y="1145026"/>
          <a:ext cx="3271133" cy="60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Font typeface="Roboto"/>
            <a:buNone/>
          </a:pPr>
          <a:r>
            <a:rPr lang="en-US" sz="1200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Identified reasons for order losses by state or district as shown in the table below. </a:t>
          </a:r>
          <a:endParaRPr lang="en-IN" sz="1200" kern="1200"/>
        </a:p>
      </dsp:txBody>
      <dsp:txXfrm>
        <a:off x="3942311" y="1145026"/>
        <a:ext cx="3271133" cy="602309"/>
      </dsp:txXfrm>
    </dsp:sp>
    <dsp:sp modelId="{24C06159-970F-4A87-92F5-A6D0F06D6CA1}">
      <dsp:nvSpPr>
        <dsp:cNvPr id="0" name=""/>
        <dsp:cNvSpPr/>
      </dsp:nvSpPr>
      <dsp:spPr>
        <a:xfrm>
          <a:off x="3696097" y="1894747"/>
          <a:ext cx="258390" cy="2583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9E864-122E-4F69-82CC-E19A7B771C60}">
      <dsp:nvSpPr>
        <dsp:cNvPr id="0" name=""/>
        <dsp:cNvSpPr/>
      </dsp:nvSpPr>
      <dsp:spPr>
        <a:xfrm>
          <a:off x="3942311" y="1747335"/>
          <a:ext cx="3271133" cy="602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dk1"/>
            </a:buClr>
            <a:buSzPts val="1100"/>
            <a:buFont typeface="Roboto"/>
            <a:buNone/>
          </a:pPr>
          <a:r>
            <a:rPr lang="en-US" sz="1200" kern="12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rPr>
            <a:t>Assessed both internal and external factors affecting order loss</a:t>
          </a:r>
          <a:r>
            <a:rPr lang="en-US" sz="1200" kern="1200">
              <a:latin typeface="Times New Roman" panose="02020603050405020304" pitchFamily="18" charset="0"/>
              <a:ea typeface="Courier New"/>
              <a:cs typeface="Times New Roman" panose="02020603050405020304" pitchFamily="18" charset="0"/>
              <a:sym typeface="Courier New"/>
            </a:rPr>
            <a:t>.</a:t>
          </a:r>
          <a:endParaRPr lang="en-IN" sz="1200" kern="1200"/>
        </a:p>
      </dsp:txBody>
      <dsp:txXfrm>
        <a:off x="3942311" y="1747335"/>
        <a:ext cx="3271133" cy="6023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C9EB4-C4C1-48FD-A8CB-BE2498259465}">
      <dsp:nvSpPr>
        <dsp:cNvPr id="0" name=""/>
        <dsp:cNvSpPr/>
      </dsp:nvSpPr>
      <dsp:spPr>
        <a:xfrm>
          <a:off x="3057" y="584684"/>
          <a:ext cx="1389976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1</a:t>
          </a:r>
          <a:endParaRPr lang="en-IN" sz="1100" kern="1200"/>
        </a:p>
      </dsp:txBody>
      <dsp:txXfrm>
        <a:off x="3057" y="584684"/>
        <a:ext cx="1389976" cy="316800"/>
      </dsp:txXfrm>
    </dsp:sp>
    <dsp:sp modelId="{343DA375-66A8-4CD5-9562-C0F5EA075847}">
      <dsp:nvSpPr>
        <dsp:cNvPr id="0" name=""/>
        <dsp:cNvSpPr/>
      </dsp:nvSpPr>
      <dsp:spPr>
        <a:xfrm>
          <a:off x="287750" y="901484"/>
          <a:ext cx="1389976" cy="2327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chemeClr val="dk1"/>
            </a:buClr>
            <a:buSzPts val="1100"/>
            <a:buFont typeface="Arial"/>
            <a:buNone/>
          </a:pP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Cox Parameters:-</a:t>
          </a:r>
          <a:endParaRPr lang="en-IN" sz="1100" kern="1200"/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Order Volume/month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Order Frequency/month</a:t>
          </a:r>
        </a:p>
        <a:p>
          <a:pPr marL="114300" lvl="2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Months since last order</a:t>
          </a:r>
        </a:p>
      </dsp:txBody>
      <dsp:txXfrm>
        <a:off x="328461" y="942195"/>
        <a:ext cx="1308554" cy="2246315"/>
      </dsp:txXfrm>
    </dsp:sp>
    <dsp:sp modelId="{F4758437-E859-49C5-AED4-8658F2A169C0}">
      <dsp:nvSpPr>
        <dsp:cNvPr id="0" name=""/>
        <dsp:cNvSpPr/>
      </dsp:nvSpPr>
      <dsp:spPr>
        <a:xfrm>
          <a:off x="1603748" y="570052"/>
          <a:ext cx="446716" cy="3460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1603748" y="639265"/>
        <a:ext cx="342897" cy="207637"/>
      </dsp:txXfrm>
    </dsp:sp>
    <dsp:sp modelId="{BF813002-93CA-416A-A218-4EA0D0745015}">
      <dsp:nvSpPr>
        <dsp:cNvPr id="0" name=""/>
        <dsp:cNvSpPr/>
      </dsp:nvSpPr>
      <dsp:spPr>
        <a:xfrm>
          <a:off x="2235894" y="584684"/>
          <a:ext cx="1389976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2 </a:t>
          </a:r>
          <a:endParaRPr lang="en-IN" sz="1100" kern="1200"/>
        </a:p>
      </dsp:txBody>
      <dsp:txXfrm>
        <a:off x="2235894" y="584684"/>
        <a:ext cx="1389976" cy="316800"/>
      </dsp:txXfrm>
    </dsp:sp>
    <dsp:sp modelId="{6D08E341-01DC-4590-9C4F-FBE1455E2C1C}">
      <dsp:nvSpPr>
        <dsp:cNvPr id="0" name=""/>
        <dsp:cNvSpPr/>
      </dsp:nvSpPr>
      <dsp:spPr>
        <a:xfrm>
          <a:off x="2520588" y="901484"/>
          <a:ext cx="1389976" cy="2327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Hazard ratio, to get it we put it in the below equation </a:t>
          </a:r>
          <a:endParaRPr lang="en-IN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Here </a:t>
          </a: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ẞ1= 0.00187 for the order volume/month </a:t>
          </a:r>
          <a:endParaRPr lang="en-IN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ẞ2= 0.169 for the order frequency/month</a:t>
          </a:r>
          <a:endParaRPr lang="en-IN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>
              <a:latin typeface="Times New Roman" panose="02020603050405020304" pitchFamily="18" charset="0"/>
              <a:cs typeface="Times New Roman" panose="02020603050405020304" pitchFamily="18" charset="0"/>
            </a:rPr>
            <a:t>ẞ3= 1.109 for the months since last ordered </a:t>
          </a:r>
          <a:endParaRPr lang="en-IN" sz="1100" kern="1200"/>
        </a:p>
      </dsp:txBody>
      <dsp:txXfrm>
        <a:off x="2561299" y="942195"/>
        <a:ext cx="1308554" cy="2246315"/>
      </dsp:txXfrm>
    </dsp:sp>
    <dsp:sp modelId="{F7DE85F5-C493-46C7-B6B8-354C80960EED}">
      <dsp:nvSpPr>
        <dsp:cNvPr id="0" name=""/>
        <dsp:cNvSpPr/>
      </dsp:nvSpPr>
      <dsp:spPr>
        <a:xfrm>
          <a:off x="3836585" y="570052"/>
          <a:ext cx="446716" cy="3460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3836585" y="639265"/>
        <a:ext cx="342897" cy="207637"/>
      </dsp:txXfrm>
    </dsp:sp>
    <dsp:sp modelId="{27621978-DFE4-4C13-B263-BCA74614EABD}">
      <dsp:nvSpPr>
        <dsp:cNvPr id="0" name=""/>
        <dsp:cNvSpPr/>
      </dsp:nvSpPr>
      <dsp:spPr>
        <a:xfrm>
          <a:off x="4468731" y="584684"/>
          <a:ext cx="1389976" cy="475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Step 3 </a:t>
          </a:r>
          <a:endParaRPr lang="en-IN" sz="1100" kern="1200"/>
        </a:p>
      </dsp:txBody>
      <dsp:txXfrm>
        <a:off x="4468731" y="584684"/>
        <a:ext cx="1389976" cy="316800"/>
      </dsp:txXfrm>
    </dsp:sp>
    <dsp:sp modelId="{CD9C9CCC-AFED-4252-814C-B3B0C0C33F23}">
      <dsp:nvSpPr>
        <dsp:cNvPr id="0" name=""/>
        <dsp:cNvSpPr/>
      </dsp:nvSpPr>
      <dsp:spPr>
        <a:xfrm>
          <a:off x="4753425" y="901484"/>
          <a:ext cx="1389976" cy="23277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Prioritization basis the COX Score which we divided the scores into 50</a:t>
          </a:r>
          <a:r>
            <a:rPr lang="en-US" sz="1100" kern="12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th</a:t>
          </a: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 and 75</a:t>
          </a:r>
          <a:r>
            <a:rPr lang="en-US" sz="1100" kern="1200" baseline="30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th</a:t>
          </a:r>
          <a:r>
            <a:rPr lang="en-US" sz="1100" kern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rPr>
            <a:t> percentile and then divided them from P1 to P4</a:t>
          </a:r>
          <a:endParaRPr lang="en-IN" sz="1100" kern="1200"/>
        </a:p>
      </dsp:txBody>
      <dsp:txXfrm>
        <a:off x="4794136" y="942195"/>
        <a:ext cx="1308554" cy="22463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E4DAED-50E8-476B-BB01-0C8B7DFC5665}">
      <dsp:nvSpPr>
        <dsp:cNvPr id="0" name=""/>
        <dsp:cNvSpPr/>
      </dsp:nvSpPr>
      <dsp:spPr>
        <a:xfrm>
          <a:off x="2633354" y="1570"/>
          <a:ext cx="2094012" cy="947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900" b="1" i="0" u="none" kern="1200"/>
            <a:t>Time-Sensitive Insights:</a:t>
          </a:r>
          <a:br>
            <a:rPr lang="en-US" sz="900" b="1" i="0" u="none" kern="1200"/>
          </a:br>
          <a:r>
            <a:rPr lang="en-US" sz="900" b="0" i="0" u="none" kern="1200"/>
            <a:t>Unlike logistic regression, the Cox model doesn’t just say </a:t>
          </a:r>
          <a:r>
            <a:rPr lang="en-US" sz="900" b="0" i="1" u="none" kern="1200"/>
            <a:t>if</a:t>
          </a:r>
          <a:r>
            <a:rPr lang="en-US" sz="900" b="0" i="0" u="none" kern="1200"/>
            <a:t> churn will happen—it shows </a:t>
          </a:r>
          <a:r>
            <a:rPr lang="en-US" sz="900" b="0" i="1" u="none" kern="1200"/>
            <a:t>when</a:t>
          </a:r>
          <a:r>
            <a:rPr lang="en-US" sz="900" b="0" i="0" u="none" kern="1200"/>
            <a:t> it’s most likely, allowing for timely intervention.</a:t>
          </a:r>
          <a:br>
            <a:rPr lang="en-US" sz="900" b="0" i="0" u="none" kern="1200"/>
          </a:br>
          <a:br>
            <a:rPr lang="en-US" sz="900" b="0" i="0" u="none" kern="1200"/>
          </a:br>
          <a:endParaRPr lang="en-IN" sz="900" kern="1200"/>
        </a:p>
      </dsp:txBody>
      <dsp:txXfrm>
        <a:off x="2633354" y="1570"/>
        <a:ext cx="2094012" cy="947088"/>
      </dsp:txXfrm>
    </dsp:sp>
    <dsp:sp modelId="{3F0C589D-EA92-4C45-8941-E918DA133D55}">
      <dsp:nvSpPr>
        <dsp:cNvPr id="0" name=""/>
        <dsp:cNvSpPr/>
      </dsp:nvSpPr>
      <dsp:spPr>
        <a:xfrm>
          <a:off x="1673435" y="97198"/>
          <a:ext cx="794696" cy="7558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B842EC-327D-4FC2-BCA4-03F9EE07ABFA}">
      <dsp:nvSpPr>
        <dsp:cNvPr id="0" name=""/>
        <dsp:cNvSpPr/>
      </dsp:nvSpPr>
      <dsp:spPr>
        <a:xfrm>
          <a:off x="1637705" y="1104928"/>
          <a:ext cx="2094012" cy="947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900" b="1" i="0" u="none" kern="1200"/>
            <a:t>                                                              No Need for Distribution Assumptions:</a:t>
          </a:r>
          <a:br>
            <a:rPr lang="en-US" sz="900" b="1" i="0" u="none" kern="1200"/>
          </a:br>
          <a:r>
            <a:rPr lang="en-US" sz="900" b="0" i="0" u="none" kern="1200"/>
            <a:t>It doesn’t require assuming a specific statistical distribution for customer behavior, making it more flexible and accurate in messy, real-world data.</a:t>
          </a:r>
          <a:br>
            <a:rPr lang="en-US" sz="900" b="0" i="0" u="none" kern="1200"/>
          </a:br>
          <a:br>
            <a:rPr lang="en-US" sz="900" b="0" i="0" u="none" kern="1200"/>
          </a:br>
          <a:endParaRPr lang="en-IN" sz="900" kern="1200"/>
        </a:p>
      </dsp:txBody>
      <dsp:txXfrm>
        <a:off x="1637705" y="1104928"/>
        <a:ext cx="2094012" cy="947088"/>
      </dsp:txXfrm>
    </dsp:sp>
    <dsp:sp modelId="{D9F2A382-6861-4735-90E8-4F908AF39ECC}">
      <dsp:nvSpPr>
        <dsp:cNvPr id="0" name=""/>
        <dsp:cNvSpPr/>
      </dsp:nvSpPr>
      <dsp:spPr>
        <a:xfrm>
          <a:off x="3825479" y="1104928"/>
          <a:ext cx="937617" cy="9470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B0135-413F-4B16-AE76-BA1960F87683}">
      <dsp:nvSpPr>
        <dsp:cNvPr id="0" name=""/>
        <dsp:cNvSpPr/>
      </dsp:nvSpPr>
      <dsp:spPr>
        <a:xfrm>
          <a:off x="2669084" y="2208286"/>
          <a:ext cx="2094012" cy="947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i="0" u="none" kern="1200"/>
            <a:t>Works Well with Censored Data:</a:t>
          </a:r>
          <a:br>
            <a:rPr lang="en-US" sz="900" b="1" i="0" u="none" kern="1200"/>
          </a:br>
          <a:r>
            <a:rPr lang="en-US" sz="900" b="0" i="0" u="none" kern="1200"/>
            <a:t>Customers who haven't churned yet (i.e., still active) are still usable in the model—this improves learning without biasing results.</a:t>
          </a:r>
          <a:br>
            <a:rPr lang="en-US" sz="900" b="0" i="0" u="none" kern="1200"/>
          </a:br>
          <a:endParaRPr lang="en-IN" sz="900" kern="1200"/>
        </a:p>
      </dsp:txBody>
      <dsp:txXfrm>
        <a:off x="2669084" y="2208286"/>
        <a:ext cx="2094012" cy="947088"/>
      </dsp:txXfrm>
    </dsp:sp>
    <dsp:sp modelId="{1F3C7214-0251-48D4-B3A8-183CC0B94C67}">
      <dsp:nvSpPr>
        <dsp:cNvPr id="0" name=""/>
        <dsp:cNvSpPr/>
      </dsp:nvSpPr>
      <dsp:spPr>
        <a:xfrm>
          <a:off x="1637705" y="2208286"/>
          <a:ext cx="937617" cy="9470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69FE1-BFB5-4CE8-8994-91FD94BC9D14}">
      <dsp:nvSpPr>
        <dsp:cNvPr id="0" name=""/>
        <dsp:cNvSpPr/>
      </dsp:nvSpPr>
      <dsp:spPr>
        <a:xfrm>
          <a:off x="1615080" y="3311644"/>
          <a:ext cx="2094012" cy="947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900" b="1" i="0" u="none" kern="1200"/>
            <a:t>Scalable to Large Customer Sets:</a:t>
          </a:r>
          <a:br>
            <a:rPr lang="en-US" sz="900" b="1" i="0" u="none" kern="1200"/>
          </a:br>
          <a:r>
            <a:rPr lang="en-US" sz="900" b="0" i="0" u="none" kern="1200"/>
            <a:t>Efficiently handles hundreds or thousands of customer timelines, as seen in your 1300+ account analysis.</a:t>
          </a:r>
          <a:br>
            <a:rPr lang="en-US" sz="900" b="0" i="0" u="none" kern="1200"/>
          </a:br>
          <a:endParaRPr lang="en-IN" sz="900" kern="1200"/>
        </a:p>
      </dsp:txBody>
      <dsp:txXfrm>
        <a:off x="1615080" y="3311644"/>
        <a:ext cx="2094012" cy="947088"/>
      </dsp:txXfrm>
    </dsp:sp>
    <dsp:sp modelId="{033EB8BA-682F-423A-9B40-FD7B8E2936F9}">
      <dsp:nvSpPr>
        <dsp:cNvPr id="0" name=""/>
        <dsp:cNvSpPr/>
      </dsp:nvSpPr>
      <dsp:spPr>
        <a:xfrm>
          <a:off x="3878904" y="3284382"/>
          <a:ext cx="1028116" cy="9409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 t="-5000" b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98822-7E43-470E-919D-851E9A518B71}">
      <dsp:nvSpPr>
        <dsp:cNvPr id="0" name=""/>
        <dsp:cNvSpPr/>
      </dsp:nvSpPr>
      <dsp:spPr>
        <a:xfrm>
          <a:off x="2669084" y="4415002"/>
          <a:ext cx="2094012" cy="947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900" b="1" i="0" u="none" kern="1200"/>
            <a:t>                                                                                       Improves Targeting Efficiency:</a:t>
          </a:r>
          <a:br>
            <a:rPr lang="en-US" sz="900" b="1" i="0" u="none" kern="1200"/>
          </a:br>
          <a:r>
            <a:rPr lang="en-US" sz="900" b="0" i="0" u="none" kern="1200"/>
            <a:t>By converting raw behavior data into interpretable hazard ratios, it helps the sales team </a:t>
          </a:r>
          <a:r>
            <a:rPr lang="en-US" sz="900" b="1" i="0" u="none" kern="1200"/>
            <a:t>prioritize the right accounts with higher ROI.</a:t>
          </a:r>
          <a:br>
            <a:rPr lang="en-US" sz="900" b="1" i="0" u="none" kern="1200"/>
          </a:br>
          <a:br>
            <a:rPr lang="en-US" sz="900" b="1" i="0" u="none" kern="1200"/>
          </a:br>
          <a:br>
            <a:rPr lang="en-US" sz="900" b="0" i="0" u="none" kern="1200"/>
          </a:br>
          <a:endParaRPr lang="en-IN" sz="900" kern="1200"/>
        </a:p>
      </dsp:txBody>
      <dsp:txXfrm>
        <a:off x="2669084" y="4415002"/>
        <a:ext cx="2094012" cy="947088"/>
      </dsp:txXfrm>
    </dsp:sp>
    <dsp:sp modelId="{713BFD8E-448C-45E7-B380-34A1B74DAAE5}">
      <dsp:nvSpPr>
        <dsp:cNvPr id="0" name=""/>
        <dsp:cNvSpPr/>
      </dsp:nvSpPr>
      <dsp:spPr>
        <a:xfrm>
          <a:off x="1637705" y="4415002"/>
          <a:ext cx="937617" cy="94708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l="-1000" r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8A403-C48C-4445-8199-C5A9F687E098}">
      <dsp:nvSpPr>
        <dsp:cNvPr id="0" name=""/>
        <dsp:cNvSpPr/>
      </dsp:nvSpPr>
      <dsp:spPr>
        <a:xfrm>
          <a:off x="2112105" y="3666392"/>
          <a:ext cx="129581" cy="129581"/>
        </a:xfrm>
        <a:prstGeom prst="ellips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A1E59B-E231-4D3D-8DAB-27F5F8E88006}">
      <dsp:nvSpPr>
        <dsp:cNvPr id="0" name=""/>
        <dsp:cNvSpPr/>
      </dsp:nvSpPr>
      <dsp:spPr>
        <a:xfrm>
          <a:off x="1868139" y="3783861"/>
          <a:ext cx="129581" cy="129581"/>
        </a:xfrm>
        <a:prstGeom prst="ellipse">
          <a:avLst/>
        </a:prstGeom>
        <a:solidFill>
          <a:schemeClr val="accent1">
            <a:shade val="50000"/>
            <a:hueOff val="60239"/>
            <a:satOff val="-1260"/>
            <a:lumOff val="7011"/>
            <a:alphaOff val="0"/>
          </a:schemeClr>
        </a:solidFill>
        <a:ln w="25400" cap="flat" cmpd="sng" algn="ctr">
          <a:solidFill>
            <a:schemeClr val="accent1">
              <a:shade val="50000"/>
              <a:hueOff val="60239"/>
              <a:satOff val="-1260"/>
              <a:lumOff val="701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F48197-D417-4F0A-9FCE-2B22C5CA7D1A}">
      <dsp:nvSpPr>
        <dsp:cNvPr id="0" name=""/>
        <dsp:cNvSpPr/>
      </dsp:nvSpPr>
      <dsp:spPr>
        <a:xfrm>
          <a:off x="1612974" y="3876648"/>
          <a:ext cx="129581" cy="129581"/>
        </a:xfrm>
        <a:prstGeom prst="ellipse">
          <a:avLst/>
        </a:prstGeom>
        <a:solidFill>
          <a:schemeClr val="accent1">
            <a:shade val="50000"/>
            <a:hueOff val="120479"/>
            <a:satOff val="-2520"/>
            <a:lumOff val="14021"/>
            <a:alphaOff val="0"/>
          </a:schemeClr>
        </a:solidFill>
        <a:ln w="25400" cap="flat" cmpd="sng" algn="ctr">
          <a:solidFill>
            <a:schemeClr val="accent1">
              <a:shade val="50000"/>
              <a:hueOff val="120479"/>
              <a:satOff val="-2520"/>
              <a:lumOff val="1402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FF086D-57B7-4F95-B909-FC45CF0A060A}">
      <dsp:nvSpPr>
        <dsp:cNvPr id="0" name=""/>
        <dsp:cNvSpPr/>
      </dsp:nvSpPr>
      <dsp:spPr>
        <a:xfrm>
          <a:off x="3283141" y="2306581"/>
          <a:ext cx="129581" cy="129581"/>
        </a:xfrm>
        <a:prstGeom prst="ellipse">
          <a:avLst/>
        </a:prstGeom>
        <a:solidFill>
          <a:schemeClr val="accent1">
            <a:shade val="50000"/>
            <a:hueOff val="180718"/>
            <a:satOff val="-3780"/>
            <a:lumOff val="21031"/>
            <a:alphaOff val="0"/>
          </a:schemeClr>
        </a:solidFill>
        <a:ln w="25400" cap="flat" cmpd="sng" algn="ctr">
          <a:solidFill>
            <a:schemeClr val="accent1">
              <a:shade val="50000"/>
              <a:hueOff val="180718"/>
              <a:satOff val="-3780"/>
              <a:lumOff val="2103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996022-3B9C-4E0A-9A82-4B0207F05095}">
      <dsp:nvSpPr>
        <dsp:cNvPr id="0" name=""/>
        <dsp:cNvSpPr/>
      </dsp:nvSpPr>
      <dsp:spPr>
        <a:xfrm>
          <a:off x="3185555" y="2545634"/>
          <a:ext cx="129581" cy="129581"/>
        </a:xfrm>
        <a:prstGeom prst="ellipse">
          <a:avLst/>
        </a:prstGeom>
        <a:solidFill>
          <a:schemeClr val="accent1">
            <a:shade val="50000"/>
            <a:hueOff val="240958"/>
            <a:satOff val="-5040"/>
            <a:lumOff val="28042"/>
            <a:alphaOff val="0"/>
          </a:schemeClr>
        </a:solidFill>
        <a:ln w="25400" cap="flat" cmpd="sng" algn="ctr">
          <a:solidFill>
            <a:schemeClr val="accent1">
              <a:shade val="50000"/>
              <a:hueOff val="240958"/>
              <a:satOff val="-5040"/>
              <a:lumOff val="28042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192C55-F73E-4EAC-AAAC-93A524861190}">
      <dsp:nvSpPr>
        <dsp:cNvPr id="0" name=""/>
        <dsp:cNvSpPr/>
      </dsp:nvSpPr>
      <dsp:spPr>
        <a:xfrm>
          <a:off x="3115965" y="507061"/>
          <a:ext cx="129581" cy="129581"/>
        </a:xfrm>
        <a:prstGeom prst="ellipse">
          <a:avLst/>
        </a:prstGeom>
        <a:solidFill>
          <a:schemeClr val="accent1">
            <a:shade val="50000"/>
            <a:hueOff val="301197"/>
            <a:satOff val="-6300"/>
            <a:lumOff val="35052"/>
            <a:alphaOff val="0"/>
          </a:schemeClr>
        </a:solidFill>
        <a:ln w="25400" cap="flat" cmpd="sng" algn="ctr">
          <a:solidFill>
            <a:schemeClr val="accent1">
              <a:shade val="50000"/>
              <a:hueOff val="301197"/>
              <a:satOff val="-6300"/>
              <a:lumOff val="35052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90B34F-8D80-445A-8130-2E1E780F8A37}">
      <dsp:nvSpPr>
        <dsp:cNvPr id="0" name=""/>
        <dsp:cNvSpPr/>
      </dsp:nvSpPr>
      <dsp:spPr>
        <a:xfrm>
          <a:off x="3295140" y="392791"/>
          <a:ext cx="129581" cy="129581"/>
        </a:xfrm>
        <a:prstGeom prst="ellipse">
          <a:avLst/>
        </a:prstGeom>
        <a:solidFill>
          <a:schemeClr val="accent1">
            <a:shade val="50000"/>
            <a:hueOff val="361436"/>
            <a:satOff val="-7560"/>
            <a:lumOff val="42063"/>
            <a:alphaOff val="0"/>
          </a:schemeClr>
        </a:solidFill>
        <a:ln w="25400" cap="flat" cmpd="sng" algn="ctr">
          <a:solidFill>
            <a:schemeClr val="accent1">
              <a:shade val="50000"/>
              <a:hueOff val="361436"/>
              <a:satOff val="-7560"/>
              <a:lumOff val="4206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771AD5B-5900-4FAD-875E-3FD2827CDAF6}">
      <dsp:nvSpPr>
        <dsp:cNvPr id="0" name=""/>
        <dsp:cNvSpPr/>
      </dsp:nvSpPr>
      <dsp:spPr>
        <a:xfrm>
          <a:off x="3475115" y="278521"/>
          <a:ext cx="129581" cy="129581"/>
        </a:xfrm>
        <a:prstGeom prst="ellipse">
          <a:avLst/>
        </a:prstGeom>
        <a:solidFill>
          <a:schemeClr val="accent1">
            <a:shade val="50000"/>
            <a:hueOff val="301197"/>
            <a:satOff val="-6300"/>
            <a:lumOff val="35052"/>
            <a:alphaOff val="0"/>
          </a:schemeClr>
        </a:solidFill>
        <a:ln w="25400" cap="flat" cmpd="sng" algn="ctr">
          <a:solidFill>
            <a:schemeClr val="accent1">
              <a:shade val="50000"/>
              <a:hueOff val="301197"/>
              <a:satOff val="-6300"/>
              <a:lumOff val="35052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635F296-4AFC-4AFC-ADF9-C06486BDE3BB}">
      <dsp:nvSpPr>
        <dsp:cNvPr id="0" name=""/>
        <dsp:cNvSpPr/>
      </dsp:nvSpPr>
      <dsp:spPr>
        <a:xfrm>
          <a:off x="3655090" y="392791"/>
          <a:ext cx="129581" cy="129581"/>
        </a:xfrm>
        <a:prstGeom prst="ellipse">
          <a:avLst/>
        </a:prstGeom>
        <a:solidFill>
          <a:schemeClr val="accent1">
            <a:shade val="50000"/>
            <a:hueOff val="240958"/>
            <a:satOff val="-5040"/>
            <a:lumOff val="28042"/>
            <a:alphaOff val="0"/>
          </a:schemeClr>
        </a:solidFill>
        <a:ln w="25400" cap="flat" cmpd="sng" algn="ctr">
          <a:solidFill>
            <a:schemeClr val="accent1">
              <a:shade val="50000"/>
              <a:hueOff val="240958"/>
              <a:satOff val="-5040"/>
              <a:lumOff val="28042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4409E6D-0D44-4BC9-A0F7-00193278D7E3}">
      <dsp:nvSpPr>
        <dsp:cNvPr id="0" name=""/>
        <dsp:cNvSpPr/>
      </dsp:nvSpPr>
      <dsp:spPr>
        <a:xfrm>
          <a:off x="3835064" y="507061"/>
          <a:ext cx="129581" cy="129581"/>
        </a:xfrm>
        <a:prstGeom prst="ellipse">
          <a:avLst/>
        </a:prstGeom>
        <a:solidFill>
          <a:schemeClr val="accent1">
            <a:shade val="50000"/>
            <a:hueOff val="180718"/>
            <a:satOff val="-3780"/>
            <a:lumOff val="21031"/>
            <a:alphaOff val="0"/>
          </a:schemeClr>
        </a:solidFill>
        <a:ln w="25400" cap="flat" cmpd="sng" algn="ctr">
          <a:solidFill>
            <a:schemeClr val="accent1">
              <a:shade val="50000"/>
              <a:hueOff val="180718"/>
              <a:satOff val="-3780"/>
              <a:lumOff val="2103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78A3F7-E449-4CD1-8605-E9A772D61EA3}">
      <dsp:nvSpPr>
        <dsp:cNvPr id="0" name=""/>
        <dsp:cNvSpPr/>
      </dsp:nvSpPr>
      <dsp:spPr>
        <a:xfrm>
          <a:off x="3475115" y="519402"/>
          <a:ext cx="129581" cy="129581"/>
        </a:xfrm>
        <a:prstGeom prst="ellipse">
          <a:avLst/>
        </a:prstGeom>
        <a:solidFill>
          <a:schemeClr val="accent1">
            <a:shade val="50000"/>
            <a:hueOff val="120479"/>
            <a:satOff val="-2520"/>
            <a:lumOff val="14021"/>
            <a:alphaOff val="0"/>
          </a:schemeClr>
        </a:solidFill>
        <a:ln w="25400" cap="flat" cmpd="sng" algn="ctr">
          <a:solidFill>
            <a:schemeClr val="accent1">
              <a:shade val="50000"/>
              <a:hueOff val="120479"/>
              <a:satOff val="-2520"/>
              <a:lumOff val="1402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6D35E8A-37D7-424E-ABCF-9DE461C02C58}">
      <dsp:nvSpPr>
        <dsp:cNvPr id="0" name=""/>
        <dsp:cNvSpPr/>
      </dsp:nvSpPr>
      <dsp:spPr>
        <a:xfrm>
          <a:off x="3475115" y="760740"/>
          <a:ext cx="129581" cy="129581"/>
        </a:xfrm>
        <a:prstGeom prst="ellipse">
          <a:avLst/>
        </a:prstGeom>
        <a:solidFill>
          <a:schemeClr val="accent1">
            <a:shade val="50000"/>
            <a:hueOff val="60239"/>
            <a:satOff val="-1260"/>
            <a:lumOff val="7011"/>
            <a:alphaOff val="0"/>
          </a:schemeClr>
        </a:solidFill>
        <a:ln w="25400" cap="flat" cmpd="sng" algn="ctr">
          <a:solidFill>
            <a:schemeClr val="accent1">
              <a:shade val="50000"/>
              <a:hueOff val="60239"/>
              <a:satOff val="-1260"/>
              <a:lumOff val="7011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5B7067A-BA11-44B2-9305-DA1D4D9DC3ED}">
      <dsp:nvSpPr>
        <dsp:cNvPr id="0" name=""/>
        <dsp:cNvSpPr/>
      </dsp:nvSpPr>
      <dsp:spPr>
        <a:xfrm>
          <a:off x="981863" y="4172721"/>
          <a:ext cx="2792410" cy="748695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10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1600" b="1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Priority-Driven Engagement Programs:</a:t>
          </a:r>
          <a:endParaRPr lang="en-IN" sz="1600" kern="1200"/>
        </a:p>
      </dsp:txBody>
      <dsp:txXfrm>
        <a:off x="1018411" y="4209269"/>
        <a:ext cx="2719314" cy="675599"/>
      </dsp:txXfrm>
    </dsp:sp>
    <dsp:sp modelId="{8CCAEC8D-11F9-4FBF-A289-68060E4A0707}">
      <dsp:nvSpPr>
        <dsp:cNvPr id="0" name=""/>
        <dsp:cNvSpPr/>
      </dsp:nvSpPr>
      <dsp:spPr>
        <a:xfrm>
          <a:off x="3774273" y="4172721"/>
          <a:ext cx="4017039" cy="748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200" b="0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This means prioritizing our efforts and resources towards customer segments offering the highest potential for immediate returns and sales conversion</a:t>
          </a:r>
        </a:p>
      </dsp:txBody>
      <dsp:txXfrm>
        <a:off x="3774273" y="4172721"/>
        <a:ext cx="4017039" cy="748695"/>
      </dsp:txXfrm>
    </dsp:sp>
    <dsp:sp modelId="{FF6605AF-6535-427D-8348-A0FCB51F5C7A}">
      <dsp:nvSpPr>
        <dsp:cNvPr id="0" name=""/>
        <dsp:cNvSpPr/>
      </dsp:nvSpPr>
      <dsp:spPr>
        <a:xfrm>
          <a:off x="0" y="3539231"/>
          <a:ext cx="1294219" cy="129444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AFF448E-156C-449D-B79F-FE0727A8D558}">
      <dsp:nvSpPr>
        <dsp:cNvPr id="0" name=""/>
        <dsp:cNvSpPr/>
      </dsp:nvSpPr>
      <dsp:spPr>
        <a:xfrm>
          <a:off x="2777612" y="3200514"/>
          <a:ext cx="2792410" cy="748695"/>
        </a:xfrm>
        <a:prstGeom prst="roundRect">
          <a:avLst/>
        </a:prstGeom>
        <a:solidFill>
          <a:schemeClr val="accent1">
            <a:shade val="50000"/>
            <a:hueOff val="240958"/>
            <a:satOff val="-5040"/>
            <a:lumOff val="28042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106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altLang="en-US" sz="1800" b="1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Problem-Centric Growth Strategies:</a:t>
          </a:r>
          <a:endParaRPr lang="en-IN" sz="1800" kern="1200"/>
        </a:p>
      </dsp:txBody>
      <dsp:txXfrm>
        <a:off x="2814160" y="3237062"/>
        <a:ext cx="2719314" cy="675599"/>
      </dsp:txXfrm>
    </dsp:sp>
    <dsp:sp modelId="{F92E648B-F64C-4283-A876-DF9624EA6E9D}">
      <dsp:nvSpPr>
        <dsp:cNvPr id="0" name=""/>
        <dsp:cNvSpPr/>
      </dsp:nvSpPr>
      <dsp:spPr>
        <a:xfrm>
          <a:off x="5570022" y="3200514"/>
          <a:ext cx="2221290" cy="7486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200" b="0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Resolving Credit Accessibility and </a:t>
          </a:r>
          <a:r>
            <a:rPr kumimoji="0" lang="en-US" altLang="en-US" sz="1200" b="0" i="0" u="none" strike="noStrike" kern="1200" cap="none" normalizeH="0" baseline="0" err="1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sctivating</a:t>
          </a:r>
          <a:r>
            <a:rPr kumimoji="0" lang="en-US" altLang="en-US" sz="1200" b="0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 Untapped Markets and issues related to P-same brands</a:t>
          </a:r>
        </a:p>
      </dsp:txBody>
      <dsp:txXfrm>
        <a:off x="5570022" y="3200514"/>
        <a:ext cx="2221290" cy="748695"/>
      </dsp:txXfrm>
    </dsp:sp>
    <dsp:sp modelId="{EBB626BC-894F-4992-8E17-379B9BC22654}">
      <dsp:nvSpPr>
        <dsp:cNvPr id="0" name=""/>
        <dsp:cNvSpPr/>
      </dsp:nvSpPr>
      <dsp:spPr>
        <a:xfrm>
          <a:off x="2062880" y="2533484"/>
          <a:ext cx="1294219" cy="129444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6937FD0-4EB1-4F9E-8009-1F8DBAE1E575}">
      <dsp:nvSpPr>
        <dsp:cNvPr id="0" name=""/>
        <dsp:cNvSpPr/>
      </dsp:nvSpPr>
      <dsp:spPr>
        <a:xfrm>
          <a:off x="3602297" y="1725977"/>
          <a:ext cx="2792410" cy="748695"/>
        </a:xfrm>
        <a:prstGeom prst="roundRect">
          <a:avLst/>
        </a:prstGeom>
        <a:solidFill>
          <a:schemeClr val="accent1">
            <a:shade val="50000"/>
            <a:hueOff val="240958"/>
            <a:satOff val="-5040"/>
            <a:lumOff val="28042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106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en-US" altLang="en-US" sz="1800" b="1" i="0" u="none" strike="noStrike" kern="1200" cap="none" normalizeH="0" baseline="0">
              <a:ln/>
              <a:effectLst/>
              <a:latin typeface="Times New Roman" panose="02020603050405020304" pitchFamily="18" charset="0"/>
              <a:cs typeface="Times New Roman" panose="02020603050405020304" pitchFamily="18" charset="0"/>
            </a:rPr>
            <a:t>Increment of sales productivity</a:t>
          </a:r>
        </a:p>
      </dsp:txBody>
      <dsp:txXfrm>
        <a:off x="3638845" y="1762525"/>
        <a:ext cx="2719314" cy="675599"/>
      </dsp:txXfrm>
    </dsp:sp>
    <dsp:sp modelId="{7A0517AD-5494-415B-BA32-7C00641754D4}">
      <dsp:nvSpPr>
        <dsp:cNvPr id="0" name=""/>
        <dsp:cNvSpPr/>
      </dsp:nvSpPr>
      <dsp:spPr>
        <a:xfrm>
          <a:off x="2916012" y="913050"/>
          <a:ext cx="1294219" cy="129444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80B3A-A926-45CB-BB5C-AB0B51B3EC76}">
      <dsp:nvSpPr>
        <dsp:cNvPr id="0" name=""/>
        <dsp:cNvSpPr/>
      </dsp:nvSpPr>
      <dsp:spPr>
        <a:xfrm>
          <a:off x="3251199" y="14729"/>
          <a:ext cx="4876800" cy="833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Retailers say JSW offers 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credit with interest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, while competitors often give 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interest-free or dealer-backed rolling credit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→ retailers hesitate to take JSW credit.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Typical 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dealer margin only 2–3%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→ not enough to justify switching or pushing JSW vs existing brands.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51199" y="118909"/>
        <a:ext cx="4564261" cy="625077"/>
      </dsp:txXfrm>
    </dsp:sp>
    <dsp:sp modelId="{139718D3-DE1F-4D53-BB7A-7850941668D0}">
      <dsp:nvSpPr>
        <dsp:cNvPr id="0" name=""/>
        <dsp:cNvSpPr/>
      </dsp:nvSpPr>
      <dsp:spPr>
        <a:xfrm>
          <a:off x="0" y="0"/>
          <a:ext cx="3251200" cy="833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Credit &amp; Margin Challenges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85" y="40685"/>
        <a:ext cx="3169830" cy="752067"/>
      </dsp:txXfrm>
    </dsp:sp>
    <dsp:sp modelId="{DFA00315-3910-459C-829A-E83B2ED1C6F7}">
      <dsp:nvSpPr>
        <dsp:cNvPr id="0" name=""/>
        <dsp:cNvSpPr/>
      </dsp:nvSpPr>
      <dsp:spPr>
        <a:xfrm>
          <a:off x="3251199" y="917442"/>
          <a:ext cx="4876800" cy="833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Retailers see JSW One as </a:t>
          </a:r>
          <a:r>
            <a:rPr lang="en-GB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just another supplier</a:t>
          </a: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, lacking unique benefits like loyalty schemes, credit insurance, or marketing support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Competitors run 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local branding, dealer boards, secondary sales promotions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(e.g., </a:t>
          </a:r>
          <a:r>
            <a:rPr lang="en-US" sz="1000" b="0" i="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Ultratech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wall painting, ACC point boards) that JSW doesn’t match yet.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51199" y="1021622"/>
        <a:ext cx="4564261" cy="625077"/>
      </dsp:txXfrm>
    </dsp:sp>
    <dsp:sp modelId="{16D79B8A-465D-4FD5-AEEF-20198442A165}">
      <dsp:nvSpPr>
        <dsp:cNvPr id="0" name=""/>
        <dsp:cNvSpPr/>
      </dsp:nvSpPr>
      <dsp:spPr>
        <a:xfrm>
          <a:off x="0" y="917442"/>
          <a:ext cx="3251200" cy="833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No Perceived Value Addition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85" y="958127"/>
        <a:ext cx="3169830" cy="752067"/>
      </dsp:txXfrm>
    </dsp:sp>
    <dsp:sp modelId="{FC214F13-DB4E-41FC-AF16-36DB1CCC3C51}">
      <dsp:nvSpPr>
        <dsp:cNvPr id="0" name=""/>
        <dsp:cNvSpPr/>
      </dsp:nvSpPr>
      <dsp:spPr>
        <a:xfrm>
          <a:off x="3251199" y="1834224"/>
          <a:ext cx="4876800" cy="833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Order fulfilment timeline: ~48 </a:t>
          </a:r>
          <a:r>
            <a:rPr lang="en-US" sz="1000" b="1" i="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hrs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 vs competitors’ 24 </a:t>
          </a:r>
          <a:r>
            <a:rPr lang="en-US" sz="1000" b="1" i="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hrs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→ slower, affecting conversion.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Field teams still dominate because retailers prefer face-to-face trust &amp; quicker negotiation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.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51199" y="1938404"/>
        <a:ext cx="4564261" cy="625077"/>
      </dsp:txXfrm>
    </dsp:sp>
    <dsp:sp modelId="{F2B1692B-3FC0-4B60-A93A-392B3C509194}">
      <dsp:nvSpPr>
        <dsp:cNvPr id="0" name=""/>
        <dsp:cNvSpPr/>
      </dsp:nvSpPr>
      <dsp:spPr>
        <a:xfrm>
          <a:off x="0" y="1834224"/>
          <a:ext cx="3251200" cy="833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Process &amp; Delivery Gaps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85" y="1874909"/>
        <a:ext cx="3169830" cy="752067"/>
      </dsp:txXfrm>
    </dsp:sp>
    <dsp:sp modelId="{7B68FA94-C448-475C-A324-F269587F3E0C}">
      <dsp:nvSpPr>
        <dsp:cNvPr id="0" name=""/>
        <dsp:cNvSpPr/>
      </dsp:nvSpPr>
      <dsp:spPr>
        <a:xfrm>
          <a:off x="3251199" y="2751005"/>
          <a:ext cx="4876800" cy="833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Retailers mention "</a:t>
          </a:r>
          <a:r>
            <a:rPr lang="en-GB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P – same brand</a:t>
          </a: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": even if they like JSW, they get the same brand cheaper from another dealer → price-led churn.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JSW portfolio limited in SKUs; some ask for 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more variety, higher margin SKUs, or smaller packs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for rural markets.</a:t>
          </a:r>
          <a:r>
            <a:rPr lang="en-US" sz="1000" b="0" i="0" kern="1200"/>
            <a:t>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51199" y="2855185"/>
        <a:ext cx="4564261" cy="625077"/>
      </dsp:txXfrm>
    </dsp:sp>
    <dsp:sp modelId="{466535E8-7D50-4B02-927B-FD945C0B51D6}">
      <dsp:nvSpPr>
        <dsp:cNvPr id="0" name=""/>
        <dsp:cNvSpPr/>
      </dsp:nvSpPr>
      <dsp:spPr>
        <a:xfrm>
          <a:off x="0" y="2751005"/>
          <a:ext cx="3251200" cy="833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Product &amp; Market Fit Issues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85" y="2791690"/>
        <a:ext cx="3169830" cy="752067"/>
      </dsp:txXfrm>
    </dsp:sp>
    <dsp:sp modelId="{7FF20047-EC0E-4CF2-ABF8-84FC75D52962}">
      <dsp:nvSpPr>
        <dsp:cNvPr id="0" name=""/>
        <dsp:cNvSpPr/>
      </dsp:nvSpPr>
      <dsp:spPr>
        <a:xfrm>
          <a:off x="3251199" y="3667786"/>
          <a:ext cx="4876800" cy="833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KA:</a:t>
          </a: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Acquisition rate stuck at ~2 per person/month; target should be 3–4.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TN:</a:t>
          </a: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 Retailers complain JSW doesn’t support local promotions; demand credit support without interest.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51199" y="3771966"/>
        <a:ext cx="4564261" cy="625077"/>
      </dsp:txXfrm>
    </dsp:sp>
    <dsp:sp modelId="{B8879629-FF87-481A-87BE-D90929F32698}">
      <dsp:nvSpPr>
        <dsp:cNvPr id="0" name=""/>
        <dsp:cNvSpPr/>
      </dsp:nvSpPr>
      <dsp:spPr>
        <a:xfrm>
          <a:off x="0" y="3667786"/>
          <a:ext cx="3251200" cy="833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State-Specific Observations</a:t>
          </a:r>
          <a:r>
            <a:rPr lang="en-GB" sz="24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 </a:t>
          </a: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85" y="3708471"/>
        <a:ext cx="3169830" cy="752067"/>
      </dsp:txXfrm>
    </dsp:sp>
    <dsp:sp modelId="{AE8D3B85-61D1-4872-8EF8-55B0663A2599}">
      <dsp:nvSpPr>
        <dsp:cNvPr id="0" name=""/>
        <dsp:cNvSpPr/>
      </dsp:nvSpPr>
      <dsp:spPr>
        <a:xfrm>
          <a:off x="3251199" y="4584567"/>
          <a:ext cx="4876800" cy="833437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Retailers strongly value </a:t>
          </a:r>
          <a:r>
            <a:rPr lang="en-US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quick credit approvals, small flexible limits, loyalty rewards, and brand visibility</a:t>
          </a:r>
          <a:r>
            <a:rPr lang="en-US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. 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Many mid-tier retailers order </a:t>
          </a:r>
          <a:r>
            <a:rPr lang="en-GB" sz="10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10–30 MT per month</a:t>
          </a:r>
          <a:r>
            <a:rPr lang="en-GB" sz="10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; conversion depends on offering small credit &amp; faster TAT rather than just large volume discounts.</a:t>
          </a:r>
          <a:endParaRPr lang="en-US" sz="1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51199" y="4688747"/>
        <a:ext cx="4564261" cy="625077"/>
      </dsp:txXfrm>
    </dsp:sp>
    <dsp:sp modelId="{578E91F4-754E-4FAC-9E9D-9FAE74B1DF4F}">
      <dsp:nvSpPr>
        <dsp:cNvPr id="0" name=""/>
        <dsp:cNvSpPr/>
      </dsp:nvSpPr>
      <dsp:spPr>
        <a:xfrm>
          <a:off x="0" y="4584567"/>
          <a:ext cx="3251200" cy="833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>
              <a:latin typeface="Times New Roman" panose="02020603050405020304" pitchFamily="18" charset="0"/>
              <a:cs typeface="Times New Roman" panose="02020603050405020304" pitchFamily="18" charset="0"/>
            </a:rPr>
            <a:t>Retailer Behaviour Patterns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685" y="4625252"/>
        <a:ext cx="3169830" cy="7520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66474F-E195-4393-802D-6204403C49A3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8FF056-B855-497E-ADF1-92A7F92E68E2}">
      <dsp:nvSpPr>
        <dsp:cNvPr id="0" name=""/>
        <dsp:cNvSpPr/>
      </dsp:nvSpPr>
      <dsp:spPr>
        <a:xfrm>
          <a:off x="610504" y="416587"/>
          <a:ext cx="7440913" cy="833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16840" rIns="116840" bIns="116840" numCol="1" spcCol="1270" anchor="ctr" anchorCtr="0">
          <a:noAutofit/>
        </a:bodyPr>
        <a:lstStyle/>
        <a:p>
          <a:pPr marL="0" lvl="0" indent="0" algn="l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600" kern="1200"/>
        </a:p>
      </dsp:txBody>
      <dsp:txXfrm>
        <a:off x="610504" y="416587"/>
        <a:ext cx="7440913" cy="833607"/>
      </dsp:txXfrm>
    </dsp:sp>
    <dsp:sp modelId="{37653253-05BC-44F0-AC75-7737E417F5A2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35462-4F1C-4C90-A00F-411F099B19BB}">
      <dsp:nvSpPr>
        <dsp:cNvPr id="0" name=""/>
        <dsp:cNvSpPr/>
      </dsp:nvSpPr>
      <dsp:spPr>
        <a:xfrm>
          <a:off x="1088431" y="1667215"/>
          <a:ext cx="6962986" cy="833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16840" rIns="116840" bIns="11684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600" kern="1200"/>
        </a:p>
      </dsp:txBody>
      <dsp:txXfrm>
        <a:off x="1088431" y="1667215"/>
        <a:ext cx="6962986" cy="833607"/>
      </dsp:txXfrm>
    </dsp:sp>
    <dsp:sp modelId="{1DF86EBB-E3E2-4BA4-925D-01ECB2C66654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715D-B750-4F87-8869-796047EB573E}">
      <dsp:nvSpPr>
        <dsp:cNvPr id="0" name=""/>
        <dsp:cNvSpPr/>
      </dsp:nvSpPr>
      <dsp:spPr>
        <a:xfrm>
          <a:off x="1088431" y="2917843"/>
          <a:ext cx="6962986" cy="833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16840" rIns="116840" bIns="11684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600" kern="1200"/>
        </a:p>
      </dsp:txBody>
      <dsp:txXfrm>
        <a:off x="1088431" y="2917843"/>
        <a:ext cx="6962986" cy="833607"/>
      </dsp:txXfrm>
    </dsp:sp>
    <dsp:sp modelId="{4075A4D7-C957-4103-8EA3-336F22E49A39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A43723-5B1A-4EA1-9853-09EEF2F96A4A}">
      <dsp:nvSpPr>
        <dsp:cNvPr id="0" name=""/>
        <dsp:cNvSpPr/>
      </dsp:nvSpPr>
      <dsp:spPr>
        <a:xfrm>
          <a:off x="610504" y="4168472"/>
          <a:ext cx="7440913" cy="8336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116840" rIns="116840" bIns="11684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600" kern="1200"/>
        </a:p>
      </dsp:txBody>
      <dsp:txXfrm>
        <a:off x="610504" y="4168472"/>
        <a:ext cx="7440913" cy="833607"/>
      </dsp:txXfrm>
    </dsp:sp>
    <dsp:sp modelId="{8E235F18-D1C8-492B-A645-D16C03A11E8A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12B155-BD84-4571-AB4B-DC732766491F}">
      <dsp:nvSpPr>
        <dsp:cNvPr id="0" name=""/>
        <dsp:cNvSpPr/>
      </dsp:nvSpPr>
      <dsp:spPr>
        <a:xfrm rot="10800000">
          <a:off x="1491854" y="79822"/>
          <a:ext cx="3998972" cy="8144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5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Piyush Vats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Inside Sales Head</a:t>
          </a: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531613" y="119581"/>
        <a:ext cx="3919454" cy="734946"/>
      </dsp:txXfrm>
    </dsp:sp>
    <dsp:sp modelId="{DDC906BF-1BEF-48E1-87E6-180627C2D0DA}">
      <dsp:nvSpPr>
        <dsp:cNvPr id="0" name=""/>
        <dsp:cNvSpPr/>
      </dsp:nvSpPr>
      <dsp:spPr>
        <a:xfrm>
          <a:off x="774280" y="208"/>
          <a:ext cx="931918" cy="97372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AEAFB-F82C-4B16-B5BB-FCB9B23AB5F5}">
      <dsp:nvSpPr>
        <dsp:cNvPr id="0" name=""/>
        <dsp:cNvSpPr/>
      </dsp:nvSpPr>
      <dsp:spPr>
        <a:xfrm rot="10800000">
          <a:off x="1450214" y="1217057"/>
          <a:ext cx="3998972" cy="8144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5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Ganesh Mali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Maharashtra State Head</a:t>
          </a: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489973" y="1256816"/>
        <a:ext cx="3919454" cy="734946"/>
      </dsp:txXfrm>
    </dsp:sp>
    <dsp:sp modelId="{EC01BA14-F12A-4C40-B3AC-6AC1EEA62806}">
      <dsp:nvSpPr>
        <dsp:cNvPr id="0" name=""/>
        <dsp:cNvSpPr/>
      </dsp:nvSpPr>
      <dsp:spPr>
        <a:xfrm>
          <a:off x="779096" y="1204783"/>
          <a:ext cx="814464" cy="8144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DBCF4-7456-46C1-B6CB-4BCF1DD402B3}">
      <dsp:nvSpPr>
        <dsp:cNvPr id="0" name=""/>
        <dsp:cNvSpPr/>
      </dsp:nvSpPr>
      <dsp:spPr>
        <a:xfrm rot="10800000">
          <a:off x="1450214" y="2286918"/>
          <a:ext cx="3998972" cy="8144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5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Sanjay Datta Gupta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AGM Sales </a:t>
          </a: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489973" y="2326677"/>
        <a:ext cx="3919454" cy="734946"/>
      </dsp:txXfrm>
    </dsp:sp>
    <dsp:sp modelId="{626EEF9D-D66F-4E94-B2C8-9DCB82A26D91}">
      <dsp:nvSpPr>
        <dsp:cNvPr id="0" name=""/>
        <dsp:cNvSpPr/>
      </dsp:nvSpPr>
      <dsp:spPr>
        <a:xfrm>
          <a:off x="803644" y="2274644"/>
          <a:ext cx="814464" cy="8144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A2653F-6172-476C-AF23-57D433D86012}">
      <dsp:nvSpPr>
        <dsp:cNvPr id="0" name=""/>
        <dsp:cNvSpPr/>
      </dsp:nvSpPr>
      <dsp:spPr>
        <a:xfrm rot="10800000">
          <a:off x="1511558" y="3332441"/>
          <a:ext cx="3998972" cy="8144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915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Srushti </a:t>
          </a:r>
          <a:r>
            <a:rPr lang="en-US" sz="1400" kern="1200" err="1">
              <a:latin typeface="Times New Roman" panose="02020603050405020304" pitchFamily="18" charset="0"/>
              <a:cs typeface="Times New Roman" panose="02020603050405020304" pitchFamily="18" charset="0"/>
            </a:rPr>
            <a:t>Sindagi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Times New Roman" panose="02020603050405020304" pitchFamily="18" charset="0"/>
              <a:cs typeface="Times New Roman" panose="02020603050405020304" pitchFamily="18" charset="0"/>
            </a:rPr>
            <a:t>Growth Sales Head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551317" y="3372200"/>
        <a:ext cx="3919454" cy="734946"/>
      </dsp:txXfrm>
    </dsp:sp>
    <dsp:sp modelId="{355A1AD9-71F1-4482-80DC-89C16B2F00D9}">
      <dsp:nvSpPr>
        <dsp:cNvPr id="0" name=""/>
        <dsp:cNvSpPr/>
      </dsp:nvSpPr>
      <dsp:spPr>
        <a:xfrm>
          <a:off x="803644" y="3332232"/>
          <a:ext cx="814464" cy="8144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278154" cy="33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725" tIns="39850" rIns="79725" bIns="398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91938" y="0"/>
            <a:ext cx="4278154" cy="33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725" tIns="39850" rIns="79725" bIns="398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30" cy="265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725" tIns="39850" rIns="79725" bIns="398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403448"/>
            <a:ext cx="4278154" cy="33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725" tIns="39850" rIns="79725" bIns="398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91938" y="6403448"/>
            <a:ext cx="4278154" cy="33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725" tIns="39850" rIns="79725" bIns="398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15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30" cy="2654707"/>
          </a:xfrm>
          <a:prstGeom prst="rect">
            <a:avLst/>
          </a:prstGeom>
        </p:spPr>
        <p:txBody>
          <a:bodyPr spcFirstLastPara="1" wrap="square" lIns="79725" tIns="39850" rIns="79725" bIns="3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97612ed50_0_3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97612ed50_0_3115:notes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00" cy="2654700"/>
          </a:xfrm>
          <a:prstGeom prst="rect">
            <a:avLst/>
          </a:prstGeom>
        </p:spPr>
        <p:txBody>
          <a:bodyPr spcFirstLastPara="1" wrap="square" lIns="79725" tIns="39850" rIns="79725" bIns="3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697612ed50_0_3115:notes"/>
          <p:cNvSpPr txBox="1">
            <a:spLocks noGrp="1"/>
          </p:cNvSpPr>
          <p:nvPr>
            <p:ph type="sldNum" idx="12"/>
          </p:nvPr>
        </p:nvSpPr>
        <p:spPr>
          <a:xfrm>
            <a:off x="5591938" y="6403448"/>
            <a:ext cx="4278300" cy="338700"/>
          </a:xfrm>
          <a:prstGeom prst="rect">
            <a:avLst/>
          </a:prstGeom>
        </p:spPr>
        <p:txBody>
          <a:bodyPr spcFirstLastPara="1" wrap="square" lIns="79725" tIns="39850" rIns="79725" bIns="39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7fb4ae911_1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7fb4ae911_1_118:notes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00" cy="2654700"/>
          </a:xfrm>
          <a:prstGeom prst="rect">
            <a:avLst/>
          </a:prstGeom>
        </p:spPr>
        <p:txBody>
          <a:bodyPr spcFirstLastPara="1" wrap="square" lIns="79725" tIns="39850" rIns="79725" bIns="3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67fb4ae911_1_118:notes"/>
          <p:cNvSpPr txBox="1">
            <a:spLocks noGrp="1"/>
          </p:cNvSpPr>
          <p:nvPr>
            <p:ph type="sldNum" idx="12"/>
          </p:nvPr>
        </p:nvSpPr>
        <p:spPr>
          <a:xfrm>
            <a:off x="5591938" y="6403448"/>
            <a:ext cx="4278300" cy="338700"/>
          </a:xfrm>
          <a:prstGeom prst="rect">
            <a:avLst/>
          </a:prstGeom>
        </p:spPr>
        <p:txBody>
          <a:bodyPr spcFirstLastPara="1" wrap="square" lIns="79725" tIns="39850" rIns="79725" bIns="39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93db521b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93db521b4_0_85:notes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00" cy="2654700"/>
          </a:xfrm>
          <a:prstGeom prst="rect">
            <a:avLst/>
          </a:prstGeom>
        </p:spPr>
        <p:txBody>
          <a:bodyPr spcFirstLastPara="1" wrap="square" lIns="79725" tIns="39850" rIns="79725" bIns="3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693db521b4_0_85:notes"/>
          <p:cNvSpPr txBox="1">
            <a:spLocks noGrp="1"/>
          </p:cNvSpPr>
          <p:nvPr>
            <p:ph type="sldNum" idx="12"/>
          </p:nvPr>
        </p:nvSpPr>
        <p:spPr>
          <a:xfrm>
            <a:off x="5591938" y="6403448"/>
            <a:ext cx="4278300" cy="338700"/>
          </a:xfrm>
          <a:prstGeom prst="rect">
            <a:avLst/>
          </a:prstGeom>
        </p:spPr>
        <p:txBody>
          <a:bodyPr spcFirstLastPara="1" wrap="square" lIns="79725" tIns="39850" rIns="79725" bIns="39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a7388fea8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a7388fea8_1_6:notes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00" cy="2654700"/>
          </a:xfrm>
          <a:prstGeom prst="rect">
            <a:avLst/>
          </a:prstGeom>
        </p:spPr>
        <p:txBody>
          <a:bodyPr spcFirstLastPara="1" wrap="square" lIns="79725" tIns="39850" rIns="79725" bIns="3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6a7388fea8_1_6:notes"/>
          <p:cNvSpPr txBox="1">
            <a:spLocks noGrp="1"/>
          </p:cNvSpPr>
          <p:nvPr>
            <p:ph type="sldNum" idx="12"/>
          </p:nvPr>
        </p:nvSpPr>
        <p:spPr>
          <a:xfrm>
            <a:off x="5591938" y="6403448"/>
            <a:ext cx="4278300" cy="338700"/>
          </a:xfrm>
          <a:prstGeom prst="rect">
            <a:avLst/>
          </a:prstGeom>
        </p:spPr>
        <p:txBody>
          <a:bodyPr spcFirstLastPara="1" wrap="square" lIns="79725" tIns="39850" rIns="79725" bIns="39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d05836e8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842963"/>
            <a:ext cx="4043363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d05836e8e_0_15:notes"/>
          <p:cNvSpPr txBox="1">
            <a:spLocks noGrp="1"/>
          </p:cNvSpPr>
          <p:nvPr>
            <p:ph type="body" idx="1"/>
          </p:nvPr>
        </p:nvSpPr>
        <p:spPr>
          <a:xfrm>
            <a:off x="987267" y="3244643"/>
            <a:ext cx="7898100" cy="2654700"/>
          </a:xfrm>
          <a:prstGeom prst="rect">
            <a:avLst/>
          </a:prstGeom>
        </p:spPr>
        <p:txBody>
          <a:bodyPr spcFirstLastPara="1" wrap="square" lIns="79725" tIns="39850" rIns="79725" bIns="39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3d05836e8e_0_15:notes"/>
          <p:cNvSpPr txBox="1">
            <a:spLocks noGrp="1"/>
          </p:cNvSpPr>
          <p:nvPr>
            <p:ph type="sldNum" idx="12"/>
          </p:nvPr>
        </p:nvSpPr>
        <p:spPr>
          <a:xfrm>
            <a:off x="5591938" y="6403448"/>
            <a:ext cx="4278300" cy="338700"/>
          </a:xfrm>
          <a:prstGeom prst="rect">
            <a:avLst/>
          </a:prstGeom>
        </p:spPr>
        <p:txBody>
          <a:bodyPr spcFirstLastPara="1" wrap="square" lIns="79725" tIns="39850" rIns="79725" bIns="39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0"/>
          <p:cNvSpPr txBox="1">
            <a:spLocks noGrp="1"/>
          </p:cNvSpPr>
          <p:nvPr>
            <p:ph type="title"/>
          </p:nvPr>
        </p:nvSpPr>
        <p:spPr>
          <a:xfrm>
            <a:off x="1161415" y="388061"/>
            <a:ext cx="9869169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0"/>
          <p:cNvSpPr txBox="1">
            <a:spLocks noGrp="1"/>
          </p:cNvSpPr>
          <p:nvPr>
            <p:ph type="body" idx="1"/>
          </p:nvPr>
        </p:nvSpPr>
        <p:spPr>
          <a:xfrm>
            <a:off x="2025650" y="1516888"/>
            <a:ext cx="8807450" cy="349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2"/>
          <p:cNvSpPr txBox="1">
            <a:spLocks noGrp="1"/>
          </p:cNvSpPr>
          <p:nvPr>
            <p:ph type="title"/>
          </p:nvPr>
        </p:nvSpPr>
        <p:spPr>
          <a:xfrm>
            <a:off x="1161415" y="388061"/>
            <a:ext cx="9869169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2.png" Id="rId5" /><Relationship Type="http://schemas.openxmlformats.org/officeDocument/2006/relationships/image" Target="/ppt/media/image1.png" Id="rId4" /></Relationships>
</file>

<file path=ppt/slideMasters/slideMaster1.xml><?xml version="1.0" encoding="utf-8"?>
<p:sldMaster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50523" y="76200"/>
            <a:ext cx="990600" cy="46939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9"/>
          <p:cNvSpPr txBox="1">
            <a:spLocks noGrp="1"/>
          </p:cNvSpPr>
          <p:nvPr>
            <p:ph type="title"/>
          </p:nvPr>
        </p:nvSpPr>
        <p:spPr>
          <a:xfrm>
            <a:off x="1161415" y="388061"/>
            <a:ext cx="9869169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9"/>
          <p:cNvSpPr txBox="1">
            <a:spLocks noGrp="1"/>
          </p:cNvSpPr>
          <p:nvPr>
            <p:ph type="body" idx="1"/>
          </p:nvPr>
        </p:nvSpPr>
        <p:spPr>
          <a:xfrm>
            <a:off x="2025650" y="1516888"/>
            <a:ext cx="8807450" cy="3491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jpe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4.jpe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png" Id="rId3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8.png" Id="rId6" /><Relationship Type="http://schemas.openxmlformats.org/officeDocument/2006/relationships/image" Target="/ppt/media/image7.png" Id="rId5" /><Relationship Type="http://schemas.openxmlformats.org/officeDocument/2006/relationships/image" Target="/ppt/media/image6.pn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9.png" Id="rId3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2.png" Id="rId6" /><Relationship Type="http://schemas.openxmlformats.org/officeDocument/2006/relationships/image" Target="/ppt/media/image11.png" Id="rId5" /><Relationship Type="http://schemas.openxmlformats.org/officeDocument/2006/relationships/image" Target="/ppt/media/image10.png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diagramLayout" Target="/ppt/diagrams/layout1.xml" Id="rId3" /><Relationship Type="http://schemas.openxmlformats.org/officeDocument/2006/relationships/diagramData" Target="/ppt/diagrams/data1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1.xml" Id="rId6" /><Relationship Type="http://schemas.openxmlformats.org/officeDocument/2006/relationships/diagramColors" Target="/ppt/diagrams/colors1.xml" Id="rId5" /><Relationship Type="http://schemas.openxmlformats.org/officeDocument/2006/relationships/diagramQuickStyle" Target="/ppt/diagrams/quickStyle1.xml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3.pn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1.xml" Id="rId1" /><Relationship Type="http://schemas.openxmlformats.org/officeDocument/2006/relationships/image" Target="/ppt/media/image15.png" Id="rId5" /><Relationship Type="http://schemas.openxmlformats.org/officeDocument/2006/relationships/image" Target="/ppt/media/image14.pn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6.png" Id="rId8" /><Relationship Type="http://schemas.openxmlformats.org/officeDocument/2006/relationships/diagramData" Target="/ppt/diagrams/data2.xml" Id="rId3" /><Relationship Type="http://schemas.microsoft.com/office/2007/relationships/diagramDrawing" Target="/ppt/diagrams/drawing2.xml" Id="rId7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1.xml" Id="rId1" /><Relationship Type="http://schemas.openxmlformats.org/officeDocument/2006/relationships/diagramColors" Target="/ppt/diagrams/colors2.xml" Id="rId6" /><Relationship Type="http://schemas.openxmlformats.org/officeDocument/2006/relationships/diagramQuickStyle" Target="/ppt/diagrams/quickStyle2.xml" Id="rId5" /><Relationship Type="http://schemas.openxmlformats.org/officeDocument/2006/relationships/diagramLayout" Target="/ppt/diagrams/layout2.xml" Id="rI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diagramLayout" Target="/ppt/diagrams/layout3.xml" Id="rId3" /><Relationship Type="http://schemas.openxmlformats.org/officeDocument/2006/relationships/diagramData" Target="/ppt/diagrams/data3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3.xml" Id="rId6" /><Relationship Type="http://schemas.openxmlformats.org/officeDocument/2006/relationships/diagramColors" Target="/ppt/diagrams/colors3.xml" Id="rId5" /><Relationship Type="http://schemas.openxmlformats.org/officeDocument/2006/relationships/diagramQuickStyle" Target="/ppt/diagrams/quickStyle3.xml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3" /><Relationship Type="http://schemas.openxmlformats.org/officeDocument/2006/relationships/image" Target="/ppt/media/image27.png" Id="rId4" /><Relationship Type="http://schemas.openxmlformats.org/officeDocument/2006/relationships/video" Target="/ppt/media/media1.mp4" Id="rId2" /><Relationship Type="http://schemas.microsoft.com/office/2007/relationships/media" Target="/ppt/media/media1.mp4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3" /><Relationship Type="http://schemas.openxmlformats.org/officeDocument/2006/relationships/image" Target="/ppt/media/image28.png" Id="rId4" /><Relationship Type="http://schemas.openxmlformats.org/officeDocument/2006/relationships/video" Target="/ppt/media/media2.mp4" Id="rId2" /><Relationship Type="http://schemas.microsoft.com/office/2007/relationships/media" Target="/ppt/media/media2.mp4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diagramLayout" Target="/ppt/diagrams/layout4.xml" Id="rId3" /><Relationship Type="http://schemas.openxmlformats.org/officeDocument/2006/relationships/diagramData" Target="/ppt/diagrams/data4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4.xml" Id="rId6" /><Relationship Type="http://schemas.openxmlformats.org/officeDocument/2006/relationships/diagramColors" Target="/ppt/diagrams/colors4.xml" Id="rId5" /><Relationship Type="http://schemas.openxmlformats.org/officeDocument/2006/relationships/diagramQuickStyle" Target="/ppt/diagrams/quickStyle4.xml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diagramLayout" Target="/ppt/diagrams/layout5.xml" Id="rId3" /><Relationship Type="http://schemas.openxmlformats.org/officeDocument/2006/relationships/diagramData" Target="/ppt/diagrams/data5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5.xml" Id="rId6" /><Relationship Type="http://schemas.openxmlformats.org/officeDocument/2006/relationships/diagramColors" Target="/ppt/diagrams/colors5.xml" Id="rId5" /><Relationship Type="http://schemas.openxmlformats.org/officeDocument/2006/relationships/diagramQuickStyle" Target="/ppt/diagrams/quickStyle5.xml" Id="rI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diagramLayout" Target="/ppt/diagrams/layout6.xml" Id="rId3" /><Relationship Type="http://schemas.openxmlformats.org/officeDocument/2006/relationships/diagramData" Target="/ppt/diagrams/data6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6.xml" Id="rId6" /><Relationship Type="http://schemas.openxmlformats.org/officeDocument/2006/relationships/diagramColors" Target="/ppt/diagrams/colors6.xml" Id="rId5" /><Relationship Type="http://schemas.openxmlformats.org/officeDocument/2006/relationships/diagramQuickStyle" Target="/ppt/diagrams/quickStyle6.xml" Id="rI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diagramLayout" Target="/ppt/diagrams/layout7.xml" Id="rId3" /><Relationship Type="http://schemas.openxmlformats.org/officeDocument/2006/relationships/diagramData" Target="/ppt/diagrams/data7.xml" Id="rId2" /><Relationship Type="http://schemas.openxmlformats.org/officeDocument/2006/relationships/slideLayout" Target="/ppt/slideLayouts/slideLayout2.xml" Id="rId1" /><Relationship Type="http://schemas.microsoft.com/office/2007/relationships/diagramDrawing" Target="/ppt/diagrams/drawing7.xml" Id="rId6" /><Relationship Type="http://schemas.openxmlformats.org/officeDocument/2006/relationships/diagramColors" Target="/ppt/diagrams/colors7.xml" Id="rId5" /><Relationship Type="http://schemas.openxmlformats.org/officeDocument/2006/relationships/diagramQuickStyle" Target="/ppt/diagrams/quickStyle7.xml" Id="rI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511468" cy="1015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96845" y="4359"/>
            <a:ext cx="2790825" cy="10001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131041" y="2383414"/>
            <a:ext cx="116241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Enhancing Inside Sales Productivity for Cement Retail Accounts Transitioned from Field Acquisition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" descr="A blue and red flag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8905875" y="5631653"/>
            <a:ext cx="3290057" cy="122301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"/>
          <p:cNvSpPr txBox="1"/>
          <p:nvPr/>
        </p:nvSpPr>
        <p:spPr>
          <a:xfrm>
            <a:off x="131041" y="5234066"/>
            <a:ext cx="876585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 Name: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Vidhi Shah, Karan Rao</a:t>
            </a:r>
            <a:b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Mentor: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Mr.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Bhrugesh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Chauhan</a:t>
            </a:r>
            <a:b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Buddy: 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</a:t>
            </a: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Sanjay Datta Gupta (AGM-Retail), 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Srushti </a:t>
            </a:r>
            <a:r>
              <a:rPr lang="en-US" sz="2000" b="0" i="0" u="none" strike="noStrike" cap="none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Sindagi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cxnSp>
        <p:nvCxnSpPr>
          <p:cNvPr id="71" name="Google Shape;71;p1"/>
          <p:cNvCxnSpPr/>
          <p:nvPr/>
        </p:nvCxnSpPr>
        <p:spPr>
          <a:xfrm rot="10800000" flipH="1">
            <a:off x="184954" y="4273831"/>
            <a:ext cx="11618100" cy="26100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1"/>
          <p:cNvSpPr txBox="1"/>
          <p:nvPr/>
        </p:nvSpPr>
        <p:spPr>
          <a:xfrm>
            <a:off x="6977853" y="3491410"/>
            <a:ext cx="8774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JSW One , </a:t>
            </a:r>
            <a:r>
              <a:rPr lang="en-US" sz="2800" b="1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Contruct</a:t>
            </a: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Retail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97612ed50_0_3115"/>
          <p:cNvSpPr txBox="1">
            <a:spLocks noGrp="1"/>
          </p:cNvSpPr>
          <p:nvPr>
            <p:ph type="title"/>
          </p:nvPr>
        </p:nvSpPr>
        <p:spPr>
          <a:xfrm>
            <a:off x="1161425" y="388052"/>
            <a:ext cx="9869100" cy="86177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 Business Overview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g3697612ed50_0_3115" title="Screenshot 2025-06-20 at 11.37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1767" y="2968200"/>
            <a:ext cx="1600050" cy="132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3697612ed50_0_3115" title="Screenshot 2025-06-20 at 11.37.0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6816" y="2891589"/>
            <a:ext cx="1514624" cy="1478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697612ed50_0_3115" title="Screenshot 2025-06-20 at 11.36.5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8679" y="2847487"/>
            <a:ext cx="1600050" cy="154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3697612ed50_0_3115" title="Screenshot 2025-06-20 at 11.36.47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430" y="2936725"/>
            <a:ext cx="1424675" cy="13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697612ed50_0_3115"/>
          <p:cNvSpPr txBox="1"/>
          <p:nvPr/>
        </p:nvSpPr>
        <p:spPr>
          <a:xfrm>
            <a:off x="736429" y="4386287"/>
            <a:ext cx="14247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Produces the goods using the machines, raw materials and labour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g3697612ed50_0_3115"/>
          <p:cNvSpPr txBox="1"/>
          <p:nvPr/>
        </p:nvSpPr>
        <p:spPr>
          <a:xfrm>
            <a:off x="3166792" y="4386275"/>
            <a:ext cx="17751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Purchase goods from manufactur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ers and sell them to retailers in bulk quantities.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g3697612ed50_0_3115"/>
          <p:cNvSpPr txBox="1"/>
          <p:nvPr/>
        </p:nvSpPr>
        <p:spPr>
          <a:xfrm>
            <a:off x="5980154" y="4313987"/>
            <a:ext cx="16002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Sell the goods in small quantities to the end-user at a higher price.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697612ed50_0_3115"/>
          <p:cNvSpPr txBox="1"/>
          <p:nvPr/>
        </p:nvSpPr>
        <p:spPr>
          <a:xfrm>
            <a:off x="8841767" y="4313987"/>
            <a:ext cx="15147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End-user who buys the goods from the retailers for personal use.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g3697612ed50_0_3115"/>
          <p:cNvCxnSpPr>
            <a:stCxn id="105" idx="3"/>
            <a:endCxn id="104" idx="1"/>
          </p:cNvCxnSpPr>
          <p:nvPr/>
        </p:nvCxnSpPr>
        <p:spPr>
          <a:xfrm rot="10800000" flipH="1">
            <a:off x="2161105" y="3620875"/>
            <a:ext cx="9576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1" name="Google Shape;111;g3697612ed50_0_3115"/>
          <p:cNvCxnSpPr>
            <a:stCxn id="103" idx="3"/>
            <a:endCxn id="102" idx="1"/>
          </p:cNvCxnSpPr>
          <p:nvPr/>
        </p:nvCxnSpPr>
        <p:spPr>
          <a:xfrm>
            <a:off x="7521441" y="3630782"/>
            <a:ext cx="1320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Google Shape;112;g3697612ed50_0_3115"/>
          <p:cNvSpPr txBox="1"/>
          <p:nvPr/>
        </p:nvSpPr>
        <p:spPr>
          <a:xfrm>
            <a:off x="590299" y="1237850"/>
            <a:ext cx="11008465" cy="26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JSW One:- 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JSW Group has launched JSW One MSME - a digital e-commerce platform for all steel and cement purchases.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JSW One MSME, one can purchase multi-brand steel and cement of their choice at competitive prices, with doorstep delivery. We aspire to bring them the promise of transparency, trust, quality product, timely delivery, and after-sales support. We will assist them with the journey at every step of the way.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Retail Business:-</a:t>
            </a:r>
            <a:endParaRPr sz="1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g3697612ed50_0_3115"/>
          <p:cNvCxnSpPr>
            <a:stCxn id="104" idx="3"/>
            <a:endCxn id="103" idx="1"/>
          </p:cNvCxnSpPr>
          <p:nvPr/>
        </p:nvCxnSpPr>
        <p:spPr>
          <a:xfrm>
            <a:off x="4718729" y="3620912"/>
            <a:ext cx="1288200" cy="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g3697612ed50_0_3115"/>
          <p:cNvCxnSpPr>
            <a:stCxn id="105" idx="0"/>
            <a:endCxn id="102" idx="0"/>
          </p:cNvCxnSpPr>
          <p:nvPr/>
        </p:nvCxnSpPr>
        <p:spPr>
          <a:xfrm rot="-5400000" flipH="1">
            <a:off x="5529518" y="-1144025"/>
            <a:ext cx="31500" cy="8193000"/>
          </a:xfrm>
          <a:prstGeom prst="bentConnector3">
            <a:avLst>
              <a:gd name="adj1" fmla="val -755952"/>
            </a:avLst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15" name="Google Shape;115;g3697612ed50_0_3115"/>
          <p:cNvCxnSpPr>
            <a:stCxn id="106" idx="2"/>
            <a:endCxn id="108" idx="2"/>
          </p:cNvCxnSpPr>
          <p:nvPr/>
        </p:nvCxnSpPr>
        <p:spPr>
          <a:xfrm rot="-5400000" flipH="1">
            <a:off x="4114279" y="2471087"/>
            <a:ext cx="600" cy="5331600"/>
          </a:xfrm>
          <a:prstGeom prst="bentConnector3">
            <a:avLst>
              <a:gd name="adj1" fmla="val 39687500"/>
            </a:avLst>
          </a:prstGeom>
          <a:noFill/>
          <a:ln w="38100" cap="flat" cmpd="sng">
            <a:solidFill>
              <a:schemeClr val="dk2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7fb4ae911_1_118"/>
          <p:cNvSpPr txBox="1">
            <a:spLocks noGrp="1"/>
          </p:cNvSpPr>
          <p:nvPr>
            <p:ph type="title"/>
          </p:nvPr>
        </p:nvSpPr>
        <p:spPr>
          <a:xfrm>
            <a:off x="1161415" y="388061"/>
            <a:ext cx="9869100" cy="5539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803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Our objective</a:t>
            </a:r>
            <a:endParaRPr lang="en-US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g367fb4ae911_1_118"/>
          <p:cNvSpPr txBox="1">
            <a:spLocks noGrp="1"/>
          </p:cNvSpPr>
          <p:nvPr>
            <p:ph type="body" idx="1"/>
          </p:nvPr>
        </p:nvSpPr>
        <p:spPr>
          <a:xfrm>
            <a:off x="1692300" y="1205838"/>
            <a:ext cx="8807400" cy="5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increase monthly sales productivity from 500 MT to 2000 MT by building a data-driven account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g367fb4ae911_1_118" title="Screenshot 2025-06-13 at 3.25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557" y="2701529"/>
            <a:ext cx="856746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67fb4ae911_1_118"/>
          <p:cNvSpPr txBox="1"/>
          <p:nvPr/>
        </p:nvSpPr>
        <p:spPr>
          <a:xfrm>
            <a:off x="2147776" y="2639900"/>
            <a:ext cx="2632880" cy="1323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ACCOUNT ANALYSIS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lost accounts and reasons across key states to identify drop-off patterns.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g367fb4ae911_1_118" title="Screenshot 2025-06-13 at 3.27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415" y="4752547"/>
            <a:ext cx="746025" cy="109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67fb4ae911_1_118"/>
          <p:cNvSpPr txBox="1"/>
          <p:nvPr/>
        </p:nvSpPr>
        <p:spPr>
          <a:xfrm>
            <a:off x="2147776" y="4479946"/>
            <a:ext cx="2632880" cy="1862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 PRIORITIZATION USING THE COX MODEL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Ranked accounts based on:- Order Frequency, Order Volume, Months since last order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g367fb4ae911_1_118" title="Screenshot 2025-06-13 at 3.48.1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223" y="2568169"/>
            <a:ext cx="761552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67fb4ae911_1_118"/>
          <p:cNvSpPr txBox="1"/>
          <p:nvPr/>
        </p:nvSpPr>
        <p:spPr>
          <a:xfrm>
            <a:off x="7324722" y="2424456"/>
            <a:ext cx="2315710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RATE ANALYSIS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opportunity to order conversion % across:-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States and Account priority segments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" name="Google Shape;129;g367fb4ae911_1_118" title="Screenshot 2025-06-13 at 3.53.4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965" y="4572000"/>
            <a:ext cx="829548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67fb4ae911_1_118"/>
          <p:cNvSpPr txBox="1"/>
          <p:nvPr/>
        </p:nvSpPr>
        <p:spPr>
          <a:xfrm>
            <a:off x="7324722" y="4473809"/>
            <a:ext cx="2780165" cy="158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UPLIFT BENCHMARKING MODEL 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benchmarks to uplift </a:t>
            </a:r>
            <a:r>
              <a:rPr lang="en-US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statewise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conversion rates and identified realistic improvement targets based on peer performance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F6C5-EE47-7A6E-CE84-B7AFD48A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996" y="234638"/>
            <a:ext cx="9869169" cy="307777"/>
          </a:xfrm>
        </p:spPr>
        <p:txBody>
          <a:bodyPr/>
          <a:lstStyle/>
          <a:p>
            <a:r>
              <a:rPr lang="en-US" sz="2000" b="1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References (1300+ Customers)</a:t>
            </a:r>
            <a:endParaRPr lang="en-IN" sz="2000">
              <a:solidFill>
                <a:schemeClr val="bg2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2F8D123-650B-8F47-174F-B91BEF81E3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4906726"/>
              </p:ext>
            </p:extLst>
          </p:nvPr>
        </p:nvGraphicFramePr>
        <p:xfrm>
          <a:off x="2848209" y="745677"/>
          <a:ext cx="7216327" cy="5773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BE3EBC-71C2-2368-328C-CBED00F14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15019"/>
              </p:ext>
            </p:extLst>
          </p:nvPr>
        </p:nvGraphicFramePr>
        <p:xfrm>
          <a:off x="2848208" y="3912727"/>
          <a:ext cx="7216326" cy="1913425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2405442">
                  <a:extLst>
                    <a:ext uri="{9D8B030D-6E8A-4147-A177-3AD203B41FA5}">
                      <a16:colId xmlns:a16="http://schemas.microsoft.com/office/drawing/2014/main" val="906074967"/>
                    </a:ext>
                  </a:extLst>
                </a:gridCol>
                <a:gridCol w="2405442">
                  <a:extLst>
                    <a:ext uri="{9D8B030D-6E8A-4147-A177-3AD203B41FA5}">
                      <a16:colId xmlns:a16="http://schemas.microsoft.com/office/drawing/2014/main" val="3688446159"/>
                    </a:ext>
                  </a:extLst>
                </a:gridCol>
                <a:gridCol w="2405442">
                  <a:extLst>
                    <a:ext uri="{9D8B030D-6E8A-4147-A177-3AD203B41FA5}">
                      <a16:colId xmlns:a16="http://schemas.microsoft.com/office/drawing/2014/main" val="3942409202"/>
                    </a:ext>
                  </a:extLst>
                </a:gridCol>
              </a:tblGrid>
              <a:tr h="223086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1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2 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57200"/>
                  </a:ext>
                </a:extLst>
              </a:tr>
              <a:tr h="267553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Tamil Nadu 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Discovery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Bidding/Price Discovery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4755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Andhra Pradesh- Telangana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Bidding/Price Discovery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P-Same brand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928485"/>
                  </a:ext>
                </a:extLst>
              </a:tr>
              <a:tr h="267553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Karnataka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P-same brand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689059"/>
                  </a:ext>
                </a:extLst>
              </a:tr>
              <a:tr h="267553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Maharashtra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P-same Brand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220362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West Bengal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Discovery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Bidding/Requirement cancelled/Delay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60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36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93db521b4_0_85"/>
          <p:cNvSpPr txBox="1">
            <a:spLocks noGrp="1"/>
          </p:cNvSpPr>
          <p:nvPr>
            <p:ph type="title"/>
          </p:nvPr>
        </p:nvSpPr>
        <p:spPr>
          <a:xfrm>
            <a:off x="4842136" y="188623"/>
            <a:ext cx="9869100" cy="3077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bg2">
                    <a:lumMod val="50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Challenges Faced  </a:t>
            </a:r>
            <a:endParaRPr sz="2000">
              <a:solidFill>
                <a:schemeClr val="bg2">
                  <a:lumMod val="50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693db521b4_0_85"/>
          <p:cNvSpPr/>
          <p:nvPr/>
        </p:nvSpPr>
        <p:spPr>
          <a:xfrm>
            <a:off x="10635075" y="1658950"/>
            <a:ext cx="1051800" cy="78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693db521b4_0_85"/>
          <p:cNvSpPr txBox="1"/>
          <p:nvPr/>
        </p:nvSpPr>
        <p:spPr>
          <a:xfrm>
            <a:off x="171000" y="1516900"/>
            <a:ext cx="3258000" cy="5191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3693db521b4_0_85" title="Screenshot 2025-06-20 at 11.54.3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4563" y="1646735"/>
            <a:ext cx="2035825" cy="207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693db521b4_0_85" title="Screenshot 2025-06-20 at 11.54.3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7310" y="4015680"/>
            <a:ext cx="4591836" cy="11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693db521b4_0_85" title="Screenshot 2025-06-20 at 11.54.45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4344" y="1955045"/>
            <a:ext cx="2403600" cy="165155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693db521b4_0_85"/>
          <p:cNvSpPr txBox="1"/>
          <p:nvPr/>
        </p:nvSpPr>
        <p:spPr>
          <a:xfrm>
            <a:off x="8760652" y="1646735"/>
            <a:ext cx="203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 - Same Brand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88" name="Google Shape;188;g3693db521b4_0_85"/>
          <p:cNvSpPr txBox="1"/>
          <p:nvPr/>
        </p:nvSpPr>
        <p:spPr>
          <a:xfrm>
            <a:off x="171000" y="1516887"/>
            <a:ext cx="3258000" cy="48135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Sales 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693db521b4_0_85"/>
          <p:cNvSpPr txBox="1"/>
          <p:nvPr/>
        </p:nvSpPr>
        <p:spPr>
          <a:xfrm>
            <a:off x="192425" y="2039832"/>
            <a:ext cx="3236700" cy="456519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Longer Delivery TAT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marR="15240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the key challenges faced by the field sales team at JSW One is the longer Delivery Turnaround Time (TAT) compared to competitors. </a:t>
            </a:r>
          </a:p>
          <a:p>
            <a:pPr marL="171450" marR="15240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our current TAT stands at 2 days, competing firms are able to fulfill deliveries within just 1 day. This delay often puts our sales team at a disadvantage during client negotiations, as faster delivery is a critical decision-making factor for many customers.</a:t>
            </a:r>
          </a:p>
          <a:p>
            <a:pPr marL="171450" marR="152400" lvl="0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Addressing this gap is essential to enhance our competitiveness and improve customer satisfaction.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Disadvantage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524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a result, customers may perceive JSW as less responsive, which puts us at a competitive disadvantage.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marR="15240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3693db521b4_0_85"/>
          <p:cNvSpPr txBox="1"/>
          <p:nvPr/>
        </p:nvSpPr>
        <p:spPr>
          <a:xfrm>
            <a:off x="3428999" y="1516886"/>
            <a:ext cx="3075301" cy="48970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Sales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693db521b4_0_85"/>
          <p:cNvSpPr txBox="1"/>
          <p:nvPr/>
        </p:nvSpPr>
        <p:spPr>
          <a:xfrm>
            <a:off x="3429125" y="2019044"/>
            <a:ext cx="3075300" cy="4709856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Customer Trust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to match the deep, long-standing customer relationships (15–20 years) that FS team members have established, resulting in lower customer confidence in 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Building Barriers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Face-to-face engagement is limited, making it harder for IS team members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2AEEF-EF8C-C254-26A5-13D445B8772E}"/>
              </a:ext>
            </a:extLst>
          </p:cNvPr>
          <p:cNvSpPr txBox="1"/>
          <p:nvPr/>
        </p:nvSpPr>
        <p:spPr>
          <a:xfrm>
            <a:off x="171000" y="1178331"/>
            <a:ext cx="6333300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the references we contacted 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E61E2-748D-CA44-298D-B30D311CDC32}"/>
              </a:ext>
            </a:extLst>
          </p:cNvPr>
          <p:cNvSpPr txBox="1"/>
          <p:nvPr/>
        </p:nvSpPr>
        <p:spPr>
          <a:xfrm>
            <a:off x="6709995" y="1178331"/>
            <a:ext cx="4450980" cy="33855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From the data we analyzed</a:t>
            </a:r>
            <a:endParaRPr lang="en-IN" sz="1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76A6B5-2BA8-64CE-7F80-8EF7E7A13CE6}"/>
              </a:ext>
            </a:extLst>
          </p:cNvPr>
          <p:cNvCxnSpPr>
            <a:cxnSpLocks/>
          </p:cNvCxnSpPr>
          <p:nvPr/>
        </p:nvCxnSpPr>
        <p:spPr>
          <a:xfrm flipH="1">
            <a:off x="3366861" y="1510660"/>
            <a:ext cx="41384" cy="51297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Arc 12">
            <a:extLst>
              <a:ext uri="{FF2B5EF4-FFF2-40B4-BE49-F238E27FC236}">
                <a16:creationId xmlns:a16="http://schemas.microsoft.com/office/drawing/2014/main" id="{2930561C-1A4F-D94C-EAFE-187FA97D2C9D}"/>
              </a:ext>
            </a:extLst>
          </p:cNvPr>
          <p:cNvSpPr/>
          <p:nvPr/>
        </p:nvSpPr>
        <p:spPr>
          <a:xfrm>
            <a:off x="6841861" y="370639"/>
            <a:ext cx="1039661" cy="1174374"/>
          </a:xfrm>
          <a:prstGeom prst="arc">
            <a:avLst>
              <a:gd name="adj1" fmla="val 15911891"/>
              <a:gd name="adj2" fmla="val 15978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FAEE98AD-4BC3-FD99-2B4F-5D82FA99AB90}"/>
              </a:ext>
            </a:extLst>
          </p:cNvPr>
          <p:cNvSpPr/>
          <p:nvPr/>
        </p:nvSpPr>
        <p:spPr>
          <a:xfrm flipH="1">
            <a:off x="4179517" y="370639"/>
            <a:ext cx="1039660" cy="1140021"/>
          </a:xfrm>
          <a:prstGeom prst="arc">
            <a:avLst>
              <a:gd name="adj1" fmla="val 15911891"/>
              <a:gd name="adj2" fmla="val 15978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a7388fea8_1_6"/>
          <p:cNvSpPr txBox="1">
            <a:spLocks noGrp="1"/>
          </p:cNvSpPr>
          <p:nvPr>
            <p:ph type="title"/>
          </p:nvPr>
        </p:nvSpPr>
        <p:spPr>
          <a:xfrm>
            <a:off x="2816027" y="410218"/>
            <a:ext cx="6230100" cy="30777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COX Hazard Model</a:t>
            </a:r>
            <a:endParaRPr sz="2000" b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2C67889-9DEB-F9EC-4471-21C5F087DE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938067"/>
              </p:ext>
            </p:extLst>
          </p:nvPr>
        </p:nvGraphicFramePr>
        <p:xfrm>
          <a:off x="233202" y="2792799"/>
          <a:ext cx="6146459" cy="3813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2501ECB-B48D-223C-564D-F627714E3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6625" y="4340870"/>
            <a:ext cx="1017841" cy="194309"/>
          </a:xfrm>
          <a:prstGeom prst="rect">
            <a:avLst/>
          </a:prstGeom>
        </p:spPr>
      </p:pic>
      <p:graphicFrame>
        <p:nvGraphicFramePr>
          <p:cNvPr id="6" name="Google Shape;412;g36a7388fea8_0_1">
            <a:extLst>
              <a:ext uri="{FF2B5EF4-FFF2-40B4-BE49-F238E27FC236}">
                <a16:creationId xmlns:a16="http://schemas.microsoft.com/office/drawing/2014/main" id="{59588EFA-B25C-25F3-5CB9-ABA146AE45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7932235"/>
              </p:ext>
            </p:extLst>
          </p:nvPr>
        </p:nvGraphicFramePr>
        <p:xfrm>
          <a:off x="6988770" y="3325579"/>
          <a:ext cx="4288424" cy="2124799"/>
        </p:xfrm>
        <a:graphic>
          <a:graphicData uri="http://schemas.openxmlformats.org/drawingml/2006/table">
            <a:tbl>
              <a:tblPr>
                <a:noFill/>
                <a:tableStyleId>{A2E16B43-68AD-497F-BDD2-26A58E61E181}</a:tableStyleId>
              </a:tblPr>
              <a:tblGrid>
                <a:gridCol w="1072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2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21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8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Priorities 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4874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Volume/Month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4874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frequency/Month 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4874B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Months since last ordered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487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P1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P2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M/L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L/M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P4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Google Shape;413;g36a7388fea8_0_1">
            <a:extLst>
              <a:ext uri="{FF2B5EF4-FFF2-40B4-BE49-F238E27FC236}">
                <a16:creationId xmlns:a16="http://schemas.microsoft.com/office/drawing/2014/main" id="{A773FE65-A5F8-38E6-A39E-748A080433C3}"/>
              </a:ext>
            </a:extLst>
          </p:cNvPr>
          <p:cNvSpPr txBox="1"/>
          <p:nvPr/>
        </p:nvSpPr>
        <p:spPr>
          <a:xfrm>
            <a:off x="6988770" y="5581775"/>
            <a:ext cx="4527381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- High Value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- Medium Value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- Low Value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3754E0-C51B-2B46-49B9-EB0C85EF86DB}"/>
              </a:ext>
            </a:extLst>
          </p:cNvPr>
          <p:cNvGrpSpPr/>
          <p:nvPr/>
        </p:nvGrpSpPr>
        <p:grpSpPr>
          <a:xfrm>
            <a:off x="6426570" y="3334478"/>
            <a:ext cx="446716" cy="346063"/>
            <a:chOff x="3836585" y="534784"/>
            <a:chExt cx="446716" cy="346063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6D699B47-EE1B-9A10-9C8F-48CCBE5A7CCF}"/>
                </a:ext>
              </a:extLst>
            </p:cNvPr>
            <p:cNvSpPr/>
            <p:nvPr/>
          </p:nvSpPr>
          <p:spPr>
            <a:xfrm>
              <a:off x="3836585" y="534784"/>
              <a:ext cx="446716" cy="346063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BF14A720-24DE-7CAC-5F6C-4DDB961BC189}"/>
                </a:ext>
              </a:extLst>
            </p:cNvPr>
            <p:cNvSpPr txBox="1"/>
            <p:nvPr/>
          </p:nvSpPr>
          <p:spPr>
            <a:xfrm>
              <a:off x="3836585" y="603997"/>
              <a:ext cx="342897" cy="20763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900" kern="12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3090C8E-E715-8973-0A0D-5E0536149398}"/>
              </a:ext>
            </a:extLst>
          </p:cNvPr>
          <p:cNvSpPr txBox="1"/>
          <p:nvPr/>
        </p:nvSpPr>
        <p:spPr>
          <a:xfrm>
            <a:off x="355941" y="1332164"/>
            <a:ext cx="11316468" cy="116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Cox Model is a semi- parametric statistical method used to predict the timing of events, such as customer churn or drop-off. It estimates how risk changes over time without assuming a fixed pattern or distribution. Ideal for real-world business scenarios, it works well even with incomplete or irregular data. It helps businesses prioritize actions by identifying which customers are most at risk and when.</a:t>
            </a:r>
          </a:p>
          <a:p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F2D3F-09BF-434C-8C7B-71215A587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1319" y="296007"/>
            <a:ext cx="8311932" cy="307777"/>
          </a:xfrm>
        </p:spPr>
        <p:txBody>
          <a:bodyPr/>
          <a:lstStyle/>
          <a:p>
            <a:pPr algn="ctr"/>
            <a:r>
              <a:rPr lang="en-US" sz="2000" b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Use-Cases of Cox Model </a:t>
            </a:r>
            <a:endParaRPr lang="en-IN" sz="2000" b="1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E068E1D-BEFD-BE5B-4D1D-1CA878E617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2548663"/>
              </p:ext>
            </p:extLst>
          </p:nvPr>
        </p:nvGraphicFramePr>
        <p:xfrm>
          <a:off x="-851756" y="1000317"/>
          <a:ext cx="6400802" cy="5363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43195D-C287-ACB8-D581-D7B68373B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1903"/>
              </p:ext>
            </p:extLst>
          </p:nvPr>
        </p:nvGraphicFramePr>
        <p:xfrm>
          <a:off x="4855575" y="1916586"/>
          <a:ext cx="6380952" cy="77724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825818">
                  <a:extLst>
                    <a:ext uri="{9D8B030D-6E8A-4147-A177-3AD203B41FA5}">
                      <a16:colId xmlns:a16="http://schemas.microsoft.com/office/drawing/2014/main" val="948758408"/>
                    </a:ext>
                  </a:extLst>
                </a:gridCol>
                <a:gridCol w="1514793">
                  <a:extLst>
                    <a:ext uri="{9D8B030D-6E8A-4147-A177-3AD203B41FA5}">
                      <a16:colId xmlns:a16="http://schemas.microsoft.com/office/drawing/2014/main" val="2235276911"/>
                    </a:ext>
                  </a:extLst>
                </a:gridCol>
                <a:gridCol w="1241743">
                  <a:extLst>
                    <a:ext uri="{9D8B030D-6E8A-4147-A177-3AD203B41FA5}">
                      <a16:colId xmlns:a16="http://schemas.microsoft.com/office/drawing/2014/main" val="2526743819"/>
                    </a:ext>
                  </a:extLst>
                </a:gridCol>
                <a:gridCol w="1856105">
                  <a:extLst>
                    <a:ext uri="{9D8B030D-6E8A-4147-A177-3AD203B41FA5}">
                      <a16:colId xmlns:a16="http://schemas.microsoft.com/office/drawing/2014/main" val="804166180"/>
                    </a:ext>
                  </a:extLst>
                </a:gridCol>
                <a:gridCol w="942493">
                  <a:extLst>
                    <a:ext uri="{9D8B030D-6E8A-4147-A177-3AD203B41FA5}">
                      <a16:colId xmlns:a16="http://schemas.microsoft.com/office/drawing/2014/main" val="3463716880"/>
                    </a:ext>
                  </a:extLst>
                </a:gridCol>
              </a:tblGrid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Customer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Volume/Month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</a:t>
                      </a:r>
                      <a:r>
                        <a:rPr lang="en-US" sz="1100" err="1"/>
                        <a:t>freq</a:t>
                      </a:r>
                      <a:r>
                        <a:rPr lang="en-US" sz="1100"/>
                        <a:t>/Month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No. of months ordered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Priority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22359"/>
                  </a:ext>
                </a:extLst>
              </a:tr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28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2.4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5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P1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082690"/>
                  </a:ext>
                </a:extLst>
              </a:tr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28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2.3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P2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428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7DFAC2-330E-3344-5936-45E52C1C8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04855"/>
              </p:ext>
            </p:extLst>
          </p:nvPr>
        </p:nvGraphicFramePr>
        <p:xfrm>
          <a:off x="4855575" y="3559105"/>
          <a:ext cx="6380952" cy="77724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825818">
                  <a:extLst>
                    <a:ext uri="{9D8B030D-6E8A-4147-A177-3AD203B41FA5}">
                      <a16:colId xmlns:a16="http://schemas.microsoft.com/office/drawing/2014/main" val="948758408"/>
                    </a:ext>
                  </a:extLst>
                </a:gridCol>
                <a:gridCol w="1514793">
                  <a:extLst>
                    <a:ext uri="{9D8B030D-6E8A-4147-A177-3AD203B41FA5}">
                      <a16:colId xmlns:a16="http://schemas.microsoft.com/office/drawing/2014/main" val="2235276911"/>
                    </a:ext>
                  </a:extLst>
                </a:gridCol>
                <a:gridCol w="1241743">
                  <a:extLst>
                    <a:ext uri="{9D8B030D-6E8A-4147-A177-3AD203B41FA5}">
                      <a16:colId xmlns:a16="http://schemas.microsoft.com/office/drawing/2014/main" val="2526743819"/>
                    </a:ext>
                  </a:extLst>
                </a:gridCol>
                <a:gridCol w="1856105">
                  <a:extLst>
                    <a:ext uri="{9D8B030D-6E8A-4147-A177-3AD203B41FA5}">
                      <a16:colId xmlns:a16="http://schemas.microsoft.com/office/drawing/2014/main" val="804166180"/>
                    </a:ext>
                  </a:extLst>
                </a:gridCol>
                <a:gridCol w="942493">
                  <a:extLst>
                    <a:ext uri="{9D8B030D-6E8A-4147-A177-3AD203B41FA5}">
                      <a16:colId xmlns:a16="http://schemas.microsoft.com/office/drawing/2014/main" val="3463716880"/>
                    </a:ext>
                  </a:extLst>
                </a:gridCol>
              </a:tblGrid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Customer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Volume/Month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</a:t>
                      </a:r>
                      <a:r>
                        <a:rPr lang="en-US" sz="1100" err="1"/>
                        <a:t>freq</a:t>
                      </a:r>
                      <a:r>
                        <a:rPr lang="en-US" sz="1100"/>
                        <a:t>/Month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No. of months ordered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Priority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22359"/>
                  </a:ext>
                </a:extLst>
              </a:tr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16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3.8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P2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082690"/>
                  </a:ext>
                </a:extLst>
              </a:tr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16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P3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4284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CE4CC5-4ACC-3400-ED5F-CEA66A1FD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76495"/>
              </p:ext>
            </p:extLst>
          </p:nvPr>
        </p:nvGraphicFramePr>
        <p:xfrm>
          <a:off x="4855575" y="5209562"/>
          <a:ext cx="6380952" cy="77724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825818">
                  <a:extLst>
                    <a:ext uri="{9D8B030D-6E8A-4147-A177-3AD203B41FA5}">
                      <a16:colId xmlns:a16="http://schemas.microsoft.com/office/drawing/2014/main" val="948758408"/>
                    </a:ext>
                  </a:extLst>
                </a:gridCol>
                <a:gridCol w="1514793">
                  <a:extLst>
                    <a:ext uri="{9D8B030D-6E8A-4147-A177-3AD203B41FA5}">
                      <a16:colId xmlns:a16="http://schemas.microsoft.com/office/drawing/2014/main" val="2235276911"/>
                    </a:ext>
                  </a:extLst>
                </a:gridCol>
                <a:gridCol w="1241743">
                  <a:extLst>
                    <a:ext uri="{9D8B030D-6E8A-4147-A177-3AD203B41FA5}">
                      <a16:colId xmlns:a16="http://schemas.microsoft.com/office/drawing/2014/main" val="2526743819"/>
                    </a:ext>
                  </a:extLst>
                </a:gridCol>
                <a:gridCol w="1856105">
                  <a:extLst>
                    <a:ext uri="{9D8B030D-6E8A-4147-A177-3AD203B41FA5}">
                      <a16:colId xmlns:a16="http://schemas.microsoft.com/office/drawing/2014/main" val="804166180"/>
                    </a:ext>
                  </a:extLst>
                </a:gridCol>
                <a:gridCol w="942493">
                  <a:extLst>
                    <a:ext uri="{9D8B030D-6E8A-4147-A177-3AD203B41FA5}">
                      <a16:colId xmlns:a16="http://schemas.microsoft.com/office/drawing/2014/main" val="3463716880"/>
                    </a:ext>
                  </a:extLst>
                </a:gridCol>
              </a:tblGrid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Customer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Volume/Month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</a:t>
                      </a:r>
                      <a:r>
                        <a:rPr lang="en-US" sz="1100" err="1"/>
                        <a:t>freq</a:t>
                      </a:r>
                      <a:r>
                        <a:rPr lang="en-US" sz="1100"/>
                        <a:t>/Month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No. of months ordered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Priority</a:t>
                      </a:r>
                      <a:endParaRPr lang="en-IN" sz="1100"/>
                    </a:p>
                  </a:txBody>
                  <a:tcP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222359"/>
                  </a:ext>
                </a:extLst>
              </a:tr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1.7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3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P3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082690"/>
                  </a:ext>
                </a:extLst>
              </a:tr>
              <a:tr h="253659">
                <a:tc>
                  <a:txBody>
                    <a:bodyPr/>
                    <a:lstStyle/>
                    <a:p>
                      <a:r>
                        <a:rPr lang="en-US" sz="1100"/>
                        <a:t>2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25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</a:t>
                      </a:r>
                      <a:endParaRPr lang="en-IN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P4</a:t>
                      </a:r>
                      <a:endParaRPr lang="en-IN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5428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0ABDE52-1989-ABC7-7D11-080002BCD8B7}"/>
              </a:ext>
            </a:extLst>
          </p:cNvPr>
          <p:cNvSpPr txBox="1"/>
          <p:nvPr/>
        </p:nvSpPr>
        <p:spPr>
          <a:xfrm>
            <a:off x="4855575" y="1485699"/>
            <a:ext cx="6380952" cy="430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Here as you can see in the table below that even if the order volumes are same then also the priorities have changed because the customer 1 has higher order frequency and number of months ordered count.</a:t>
            </a:r>
            <a:endParaRPr lang="en-IN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804E3-613C-B4D7-797B-E9FFC0BC4914}"/>
              </a:ext>
            </a:extLst>
          </p:cNvPr>
          <p:cNvSpPr txBox="1"/>
          <p:nvPr/>
        </p:nvSpPr>
        <p:spPr>
          <a:xfrm>
            <a:off x="4855575" y="3105332"/>
            <a:ext cx="6380952" cy="430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 we can see that even if the order volume and number of months ordered are same but the order frequencies are different so the priorities become different.</a:t>
            </a:r>
            <a:endParaRPr lang="en-IN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38E3A-FBF4-B412-E283-DAFA254E1768}"/>
              </a:ext>
            </a:extLst>
          </p:cNvPr>
          <p:cNvSpPr txBox="1"/>
          <p:nvPr/>
        </p:nvSpPr>
        <p:spPr>
          <a:xfrm>
            <a:off x="4855575" y="4763656"/>
            <a:ext cx="6380952" cy="43088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this example, even if the order volume of P4 priority is more but it is ranked low because of the less order frequency and number of months ordered </a:t>
            </a:r>
            <a:endParaRPr lang="en-IN" sz="1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877973B3-7419-44E0-9FFE-5EF3B6E9728E}"/>
              </a:ext>
            </a:extLst>
          </p:cNvPr>
          <p:cNvSpPr/>
          <p:nvPr/>
        </p:nvSpPr>
        <p:spPr>
          <a:xfrm flipH="1">
            <a:off x="3434450" y="437405"/>
            <a:ext cx="875083" cy="1039279"/>
          </a:xfrm>
          <a:prstGeom prst="arc">
            <a:avLst>
              <a:gd name="adj1" fmla="val 15911891"/>
              <a:gd name="adj2" fmla="val 15978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798F2F06-C81F-A0F2-CEC5-6149C1D7F4DF}"/>
              </a:ext>
            </a:extLst>
          </p:cNvPr>
          <p:cNvSpPr/>
          <p:nvPr/>
        </p:nvSpPr>
        <p:spPr>
          <a:xfrm>
            <a:off x="6187285" y="552422"/>
            <a:ext cx="1039661" cy="1174374"/>
          </a:xfrm>
          <a:prstGeom prst="arc">
            <a:avLst>
              <a:gd name="adj1" fmla="val 17562133"/>
              <a:gd name="adj2" fmla="val 1528906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4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C1AE4-5F85-8123-D2B5-1281D380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Screen Recording 2025-06-25 145523">
            <a:hlinkClick r:id="" action="ppaction://media"/>
            <a:extLst>
              <a:ext uri="{FF2B5EF4-FFF2-40B4-BE49-F238E27FC236}">
                <a16:creationId xmlns:a16="http://schemas.microsoft.com/office/drawing/2014/main" id="{68AA31E7-6EF3-377E-F801-7A6F66C1A0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7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CE1E-09C7-3610-E636-76CB00D17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415" y="286461"/>
            <a:ext cx="9869169" cy="276999"/>
          </a:xfrm>
        </p:spPr>
        <p:txBody>
          <a:bodyPr/>
          <a:lstStyle/>
          <a:p>
            <a:pPr algn="ctr"/>
            <a:r>
              <a:rPr lang="en-US" sz="1800" b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Desired Uplift in the Conversion Rates </a:t>
            </a:r>
            <a:endParaRPr lang="en-IN" sz="1800" b="1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278615-05C0-85B2-F724-E0EE22BC6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028997"/>
              </p:ext>
            </p:extLst>
          </p:nvPr>
        </p:nvGraphicFramePr>
        <p:xfrm>
          <a:off x="1574800" y="1204945"/>
          <a:ext cx="1536480" cy="129540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532862">
                  <a:extLst>
                    <a:ext uri="{9D8B030D-6E8A-4147-A177-3AD203B41FA5}">
                      <a16:colId xmlns:a16="http://schemas.microsoft.com/office/drawing/2014/main" val="4033960876"/>
                    </a:ext>
                  </a:extLst>
                </a:gridCol>
                <a:gridCol w="1003618">
                  <a:extLst>
                    <a:ext uri="{9D8B030D-6E8A-4147-A177-3AD203B41FA5}">
                      <a16:colId xmlns:a16="http://schemas.microsoft.com/office/drawing/2014/main" val="3840863437"/>
                    </a:ext>
                  </a:extLst>
                </a:gridCol>
              </a:tblGrid>
              <a:tr h="173539">
                <a:tc>
                  <a:txBody>
                    <a:bodyPr/>
                    <a:lstStyle/>
                    <a:p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Vol% Median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436373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94.69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800360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70.83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176948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59.13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386360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9273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B17142-0C18-3B61-05B7-DF61B1CAE603}"/>
              </a:ext>
            </a:extLst>
          </p:cNvPr>
          <p:cNvSpPr txBox="1"/>
          <p:nvPr/>
        </p:nvSpPr>
        <p:spPr>
          <a:xfrm>
            <a:off x="1574800" y="974113"/>
            <a:ext cx="1536480" cy="2308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Andhra</a:t>
            </a:r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 Pradesh- Telangana</a:t>
            </a:r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62D2AC-74A7-DED2-F0EA-F6E2BEEBC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920688"/>
              </p:ext>
            </p:extLst>
          </p:nvPr>
        </p:nvGraphicFramePr>
        <p:xfrm>
          <a:off x="3419145" y="1226250"/>
          <a:ext cx="1369061" cy="129540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365443">
                  <a:extLst>
                    <a:ext uri="{9D8B030D-6E8A-4147-A177-3AD203B41FA5}">
                      <a16:colId xmlns:a16="http://schemas.microsoft.com/office/drawing/2014/main" val="2143798910"/>
                    </a:ext>
                  </a:extLst>
                </a:gridCol>
                <a:gridCol w="1003618">
                  <a:extLst>
                    <a:ext uri="{9D8B030D-6E8A-4147-A177-3AD203B41FA5}">
                      <a16:colId xmlns:a16="http://schemas.microsoft.com/office/drawing/2014/main" val="712874908"/>
                    </a:ext>
                  </a:extLst>
                </a:gridCol>
              </a:tblGrid>
              <a:tr h="173539">
                <a:tc>
                  <a:txBody>
                    <a:bodyPr/>
                    <a:lstStyle/>
                    <a:p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Vol% Median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10531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10049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66.03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45115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50.49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220356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13816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2E2F270-BFA2-207C-9394-8A4397442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509011"/>
              </p:ext>
            </p:extLst>
          </p:nvPr>
        </p:nvGraphicFramePr>
        <p:xfrm>
          <a:off x="5149850" y="1226250"/>
          <a:ext cx="1369061" cy="129540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365443">
                  <a:extLst>
                    <a:ext uri="{9D8B030D-6E8A-4147-A177-3AD203B41FA5}">
                      <a16:colId xmlns:a16="http://schemas.microsoft.com/office/drawing/2014/main" val="2149395775"/>
                    </a:ext>
                  </a:extLst>
                </a:gridCol>
                <a:gridCol w="1003618">
                  <a:extLst>
                    <a:ext uri="{9D8B030D-6E8A-4147-A177-3AD203B41FA5}">
                      <a16:colId xmlns:a16="http://schemas.microsoft.com/office/drawing/2014/main" val="78529259"/>
                    </a:ext>
                  </a:extLst>
                </a:gridCol>
              </a:tblGrid>
              <a:tr h="173539">
                <a:tc>
                  <a:txBody>
                    <a:bodyPr/>
                    <a:lstStyle/>
                    <a:p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Vol% Median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781047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78.25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752578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61.47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926570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47.05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9103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045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8618F39-05EA-F427-8FE9-D4EF5B43E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95509"/>
              </p:ext>
            </p:extLst>
          </p:nvPr>
        </p:nvGraphicFramePr>
        <p:xfrm>
          <a:off x="6880555" y="1226250"/>
          <a:ext cx="1369061" cy="129540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365443">
                  <a:extLst>
                    <a:ext uri="{9D8B030D-6E8A-4147-A177-3AD203B41FA5}">
                      <a16:colId xmlns:a16="http://schemas.microsoft.com/office/drawing/2014/main" val="2149395775"/>
                    </a:ext>
                  </a:extLst>
                </a:gridCol>
                <a:gridCol w="1003618">
                  <a:extLst>
                    <a:ext uri="{9D8B030D-6E8A-4147-A177-3AD203B41FA5}">
                      <a16:colId xmlns:a16="http://schemas.microsoft.com/office/drawing/2014/main" val="78529259"/>
                    </a:ext>
                  </a:extLst>
                </a:gridCol>
              </a:tblGrid>
              <a:tr h="173539">
                <a:tc>
                  <a:txBody>
                    <a:bodyPr/>
                    <a:lstStyle/>
                    <a:p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Vol% Median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781047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752578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926570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9103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045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7D0E43-710B-5F67-4E1A-1BEE8F3A7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865744"/>
              </p:ext>
            </p:extLst>
          </p:nvPr>
        </p:nvGraphicFramePr>
        <p:xfrm>
          <a:off x="8611260" y="1204945"/>
          <a:ext cx="1369061" cy="129540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365443">
                  <a:extLst>
                    <a:ext uri="{9D8B030D-6E8A-4147-A177-3AD203B41FA5}">
                      <a16:colId xmlns:a16="http://schemas.microsoft.com/office/drawing/2014/main" val="2149395775"/>
                    </a:ext>
                  </a:extLst>
                </a:gridCol>
                <a:gridCol w="1003618">
                  <a:extLst>
                    <a:ext uri="{9D8B030D-6E8A-4147-A177-3AD203B41FA5}">
                      <a16:colId xmlns:a16="http://schemas.microsoft.com/office/drawing/2014/main" val="78529259"/>
                    </a:ext>
                  </a:extLst>
                </a:gridCol>
              </a:tblGrid>
              <a:tr h="173539">
                <a:tc>
                  <a:txBody>
                    <a:bodyPr/>
                    <a:lstStyle/>
                    <a:p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Vol% Median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781047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64.26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752578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55.37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926570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44.64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9103"/>
                  </a:ext>
                </a:extLst>
              </a:tr>
              <a:tr h="173539"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N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0454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04B1235-3641-1204-C887-E527E3D320AB}"/>
              </a:ext>
            </a:extLst>
          </p:cNvPr>
          <p:cNvSpPr txBox="1"/>
          <p:nvPr/>
        </p:nvSpPr>
        <p:spPr>
          <a:xfrm>
            <a:off x="3419145" y="995418"/>
            <a:ext cx="1369061" cy="2308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Karnataka</a:t>
            </a:r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C41FCA-B68E-3261-518C-D1926444F9DA}"/>
              </a:ext>
            </a:extLst>
          </p:cNvPr>
          <p:cNvSpPr txBox="1"/>
          <p:nvPr/>
        </p:nvSpPr>
        <p:spPr>
          <a:xfrm>
            <a:off x="5149850" y="998288"/>
            <a:ext cx="1369061" cy="2308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Maharashtra</a:t>
            </a:r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8CF528-2CAE-B53B-5879-16022D9964E1}"/>
              </a:ext>
            </a:extLst>
          </p:cNvPr>
          <p:cNvSpPr txBox="1"/>
          <p:nvPr/>
        </p:nvSpPr>
        <p:spPr>
          <a:xfrm>
            <a:off x="6880555" y="995156"/>
            <a:ext cx="1369061" cy="2308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Tamil Nadu</a:t>
            </a:r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BA43E9-7E59-8771-F2DC-5D997DA6B647}"/>
              </a:ext>
            </a:extLst>
          </p:cNvPr>
          <p:cNvSpPr txBox="1"/>
          <p:nvPr/>
        </p:nvSpPr>
        <p:spPr>
          <a:xfrm>
            <a:off x="8611260" y="974113"/>
            <a:ext cx="1369061" cy="2308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West Bengal</a:t>
            </a:r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88DD3D3-5A16-71C8-86BD-9A45538BA36B}"/>
              </a:ext>
            </a:extLst>
          </p:cNvPr>
          <p:cNvSpPr/>
          <p:nvPr/>
        </p:nvSpPr>
        <p:spPr>
          <a:xfrm>
            <a:off x="2197100" y="2686050"/>
            <a:ext cx="361950" cy="425450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CC9D882A-7327-158D-826A-3B5DA8A2DB82}"/>
              </a:ext>
            </a:extLst>
          </p:cNvPr>
          <p:cNvSpPr/>
          <p:nvPr/>
        </p:nvSpPr>
        <p:spPr>
          <a:xfrm>
            <a:off x="3922700" y="2686050"/>
            <a:ext cx="361950" cy="425450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77D1EF9-F12E-B76F-F85F-CD42905EB939}"/>
              </a:ext>
            </a:extLst>
          </p:cNvPr>
          <p:cNvSpPr/>
          <p:nvPr/>
        </p:nvSpPr>
        <p:spPr>
          <a:xfrm>
            <a:off x="5734049" y="2686050"/>
            <a:ext cx="361950" cy="425450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43F77C48-CD2B-C29B-8D1B-50DDAEB29CC4}"/>
              </a:ext>
            </a:extLst>
          </p:cNvPr>
          <p:cNvSpPr/>
          <p:nvPr/>
        </p:nvSpPr>
        <p:spPr>
          <a:xfrm>
            <a:off x="7384110" y="2686050"/>
            <a:ext cx="361950" cy="425450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31BEE2F2-CDAA-37A6-860F-DBF5798CF75F}"/>
              </a:ext>
            </a:extLst>
          </p:cNvPr>
          <p:cNvSpPr/>
          <p:nvPr/>
        </p:nvSpPr>
        <p:spPr>
          <a:xfrm>
            <a:off x="9213005" y="2686050"/>
            <a:ext cx="361950" cy="425450"/>
          </a:xfrm>
          <a:prstGeom prst="downArrow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89DA758-324F-7CB5-8487-963D1B56337D}"/>
              </a:ext>
            </a:extLst>
          </p:cNvPr>
          <p:cNvSpPr/>
          <p:nvPr/>
        </p:nvSpPr>
        <p:spPr>
          <a:xfrm>
            <a:off x="1698735" y="3352800"/>
            <a:ext cx="1358680" cy="742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754.8MT/Month </a:t>
            </a:r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AF63ACD-CF59-43CE-F1DE-CF19A89C0A44}"/>
              </a:ext>
            </a:extLst>
          </p:cNvPr>
          <p:cNvSpPr/>
          <p:nvPr/>
        </p:nvSpPr>
        <p:spPr>
          <a:xfrm>
            <a:off x="7066720" y="3352800"/>
            <a:ext cx="1358680" cy="742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1137.3MT/Month</a:t>
            </a:r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8C5D1B1-AE49-6EC8-61A6-C749301295FB}"/>
              </a:ext>
            </a:extLst>
          </p:cNvPr>
          <p:cNvSpPr/>
          <p:nvPr/>
        </p:nvSpPr>
        <p:spPr>
          <a:xfrm>
            <a:off x="5235684" y="3352800"/>
            <a:ext cx="1358680" cy="742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679.7MT/Month</a:t>
            </a:r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12B742-A086-0B37-523F-F266910694D5}"/>
              </a:ext>
            </a:extLst>
          </p:cNvPr>
          <p:cNvSpPr/>
          <p:nvPr/>
        </p:nvSpPr>
        <p:spPr>
          <a:xfrm>
            <a:off x="3514615" y="3352800"/>
            <a:ext cx="1358680" cy="742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552.5MT/Month</a:t>
            </a:r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ACD1EC3-09B8-716D-1050-EA3D004AC989}"/>
              </a:ext>
            </a:extLst>
          </p:cNvPr>
          <p:cNvSpPr/>
          <p:nvPr/>
        </p:nvSpPr>
        <p:spPr>
          <a:xfrm>
            <a:off x="8797425" y="3352800"/>
            <a:ext cx="1358680" cy="7429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480.4MT/Month</a:t>
            </a:r>
            <a:endParaRPr lang="en-IN" sz="11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29E3A4B0-C772-954E-0564-C93A04813285}"/>
              </a:ext>
            </a:extLst>
          </p:cNvPr>
          <p:cNvSpPr/>
          <p:nvPr/>
        </p:nvSpPr>
        <p:spPr>
          <a:xfrm flipH="1">
            <a:off x="898804" y="3868397"/>
            <a:ext cx="875083" cy="1039279"/>
          </a:xfrm>
          <a:prstGeom prst="arc">
            <a:avLst>
              <a:gd name="adj1" fmla="val 15911891"/>
              <a:gd name="adj2" fmla="val 5662928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2F6D81-726D-ED13-EBFC-5913C867B261}"/>
              </a:ext>
            </a:extLst>
          </p:cNvPr>
          <p:cNvSpPr/>
          <p:nvPr/>
        </p:nvSpPr>
        <p:spPr>
          <a:xfrm>
            <a:off x="1399216" y="3148407"/>
            <a:ext cx="9094049" cy="110455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3E0CDA-8EF6-C851-D7C9-2F5DD4A81FC8}"/>
              </a:ext>
            </a:extLst>
          </p:cNvPr>
          <p:cNvSpPr txBox="1"/>
          <p:nvPr/>
        </p:nvSpPr>
        <p:spPr>
          <a:xfrm>
            <a:off x="1399216" y="4473916"/>
            <a:ext cx="9248328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Volume Conversion = Order Volume / Opportunity Volume.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Done separately for each priority and state.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Took median of Volume Conversions as the benchmark.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Benchmarks were set per priority per state.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Used these benchmarks on the dashboard.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multiplies conversion value with: Number of customers per priority, and Volume ordered by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Result: Total volume (MT) recovered per month for each state.</a:t>
            </a:r>
          </a:p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Here is a live demonstration of the dashboard using an example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362043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C3A6-C43C-4DAD-04DB-065E56E6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Screen Recording 2025-06-25 144523">
            <a:hlinkClick r:id="" action="ppaction://media"/>
            <a:extLst>
              <a:ext uri="{FF2B5EF4-FFF2-40B4-BE49-F238E27FC236}">
                <a16:creationId xmlns:a16="http://schemas.microsoft.com/office/drawing/2014/main" id="{8D45F211-7BB0-F7DC-C562-88952F18C9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79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4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7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EAD9-2E25-9F78-79CD-D77FD964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415" y="388061"/>
            <a:ext cx="9869169" cy="307777"/>
          </a:xfrm>
        </p:spPr>
        <p:txBody>
          <a:bodyPr/>
          <a:lstStyle/>
          <a:p>
            <a:pPr algn="ctr"/>
            <a:r>
              <a:rPr lang="en-US" sz="2000" b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 forward</a:t>
            </a:r>
            <a:endParaRPr lang="en-IN" sz="2000" b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633695D-9839-24B6-F7E8-77F8CA3982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9475323"/>
              </p:ext>
            </p:extLst>
          </p:nvPr>
        </p:nvGraphicFramePr>
        <p:xfrm>
          <a:off x="2096557" y="1109133"/>
          <a:ext cx="7998884" cy="5199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596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415" y="345857"/>
            <a:ext cx="9869169" cy="276999"/>
          </a:xfrm>
        </p:spPr>
        <p:txBody>
          <a:bodyPr/>
          <a:lstStyle/>
          <a:p>
            <a:pPr algn="ctr"/>
            <a:r>
              <a:rPr lang="en-US" sz="18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Gained</a:t>
            </a:r>
            <a:endParaRPr lang="en-IN" sz="18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87535815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310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415" y="388061"/>
            <a:ext cx="9869169" cy="276999"/>
          </a:xfrm>
        </p:spPr>
        <p:txBody>
          <a:bodyPr/>
          <a:lstStyle/>
          <a:p>
            <a:pPr algn="ctr"/>
            <a:r>
              <a:rPr lang="en-US" sz="18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Recommendations</a:t>
            </a:r>
            <a:endParaRPr lang="en-IN" sz="180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8354064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28948" y="1167618"/>
            <a:ext cx="908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/>
              <a:t>Credit Enablement &amp; Financial Flexibility</a:t>
            </a:r>
            <a:endParaRPr lang="en-IN" sz="1000"/>
          </a:p>
        </p:txBody>
      </p:sp>
      <p:sp>
        <p:nvSpPr>
          <p:cNvPr id="5" name="TextBox 4"/>
          <p:cNvSpPr txBox="1"/>
          <p:nvPr/>
        </p:nvSpPr>
        <p:spPr>
          <a:xfrm>
            <a:off x="2683022" y="2487240"/>
            <a:ext cx="10308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/>
              <a:t>Loyalty &amp; Retailer Engagement</a:t>
            </a:r>
            <a:r>
              <a:rPr lang="en-GB" sz="1000"/>
              <a:t> </a:t>
            </a:r>
            <a:endParaRPr lang="en-IN" sz="1000"/>
          </a:p>
        </p:txBody>
      </p:sp>
      <p:sp>
        <p:nvSpPr>
          <p:cNvPr id="6" name="TextBox 5"/>
          <p:cNvSpPr txBox="1"/>
          <p:nvPr/>
        </p:nvSpPr>
        <p:spPr>
          <a:xfrm>
            <a:off x="2683022" y="3729920"/>
            <a:ext cx="10871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/>
              <a:t>Process &amp; Delivery Improvement</a:t>
            </a:r>
            <a:endParaRPr lang="en-IN" sz="1000"/>
          </a:p>
        </p:txBody>
      </p:sp>
      <p:sp>
        <p:nvSpPr>
          <p:cNvPr id="7" name="TextBox 6"/>
          <p:cNvSpPr txBox="1"/>
          <p:nvPr/>
        </p:nvSpPr>
        <p:spPr>
          <a:xfrm>
            <a:off x="2228948" y="4972600"/>
            <a:ext cx="9081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/>
              <a:t>Sales Team Enablement &amp; Pilots</a:t>
            </a:r>
            <a:r>
              <a:rPr lang="en-GB" sz="1000"/>
              <a:t> </a:t>
            </a:r>
            <a:endParaRPr lang="en-IN" sz="1000"/>
          </a:p>
        </p:txBody>
      </p:sp>
      <p:sp>
        <p:nvSpPr>
          <p:cNvPr id="8" name="TextBox 7"/>
          <p:cNvSpPr txBox="1"/>
          <p:nvPr/>
        </p:nvSpPr>
        <p:spPr>
          <a:xfrm>
            <a:off x="3226582" y="1167618"/>
            <a:ext cx="67755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Launch </a:t>
            </a:r>
            <a:r>
              <a:rPr lang="en-US" sz="1000" b="1">
                <a:solidFill>
                  <a:schemeClr val="bg1"/>
                </a:solidFill>
              </a:rPr>
              <a:t>rolling credit lines</a:t>
            </a:r>
            <a:r>
              <a:rPr lang="en-US" sz="1000">
                <a:solidFill>
                  <a:schemeClr val="bg1"/>
                </a:solidFill>
              </a:rPr>
              <a:t> starting ₹50K–₹1L, auto-calculated on past 3 months’ average order volume.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chemeClr val="bg1"/>
                </a:solidFill>
              </a:rPr>
              <a:t>Early repayment incentive:</a:t>
            </a:r>
            <a:r>
              <a:rPr lang="en-US" sz="1000">
                <a:solidFill>
                  <a:schemeClr val="bg1"/>
                </a:solidFill>
              </a:rPr>
              <a:t> e.g., 1.5% discount if payment made within 15 days → encourages faster cycle.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00">
                <a:solidFill>
                  <a:schemeClr val="bg1"/>
                </a:solidFill>
              </a:rPr>
              <a:t>Partner NBFCs/</a:t>
            </a:r>
            <a:r>
              <a:rPr lang="en-GB" sz="1000" err="1">
                <a:solidFill>
                  <a:schemeClr val="bg1"/>
                </a:solidFill>
              </a:rPr>
              <a:t>fintechs</a:t>
            </a:r>
            <a:r>
              <a:rPr lang="en-GB" sz="1000">
                <a:solidFill>
                  <a:schemeClr val="bg1"/>
                </a:solidFill>
              </a:rPr>
              <a:t> to provide </a:t>
            </a:r>
            <a:r>
              <a:rPr lang="en-GB" sz="1000" b="1">
                <a:solidFill>
                  <a:schemeClr val="bg1"/>
                </a:solidFill>
              </a:rPr>
              <a:t>digital credit </a:t>
            </a:r>
            <a:r>
              <a:rPr lang="en-GB" sz="1000" b="1" err="1">
                <a:solidFill>
                  <a:schemeClr val="bg1"/>
                </a:solidFill>
              </a:rPr>
              <a:t>onboarding</a:t>
            </a:r>
            <a:r>
              <a:rPr lang="en-GB" sz="1000">
                <a:solidFill>
                  <a:schemeClr val="bg1"/>
                </a:solidFill>
              </a:rPr>
              <a:t>, KYC-based, &lt;48 hrs approval (e.g., like </a:t>
            </a:r>
            <a:r>
              <a:rPr lang="en-GB" sz="1000" err="1">
                <a:solidFill>
                  <a:schemeClr val="bg1"/>
                </a:solidFill>
              </a:rPr>
              <a:t>Nuvoco</a:t>
            </a:r>
            <a:r>
              <a:rPr lang="en-GB" sz="1000">
                <a:solidFill>
                  <a:schemeClr val="bg1"/>
                </a:solidFill>
              </a:rPr>
              <a:t>). </a:t>
            </a:r>
            <a:endParaRPr lang="en-IN" sz="100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Offer </a:t>
            </a:r>
            <a:r>
              <a:rPr lang="en-US" sz="1000" b="1">
                <a:solidFill>
                  <a:schemeClr val="bg1"/>
                </a:solidFill>
              </a:rPr>
              <a:t>partial credit + partial cash</a:t>
            </a:r>
            <a:r>
              <a:rPr lang="en-US" sz="1000">
                <a:solidFill>
                  <a:schemeClr val="bg1"/>
                </a:solidFill>
              </a:rPr>
              <a:t> option to reduce dealer risk and unlock demand. </a:t>
            </a:r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3195" y="2369916"/>
            <a:ext cx="628825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/>
                </a:solidFill>
              </a:rPr>
              <a:t>Create </a:t>
            </a:r>
            <a:r>
              <a:rPr lang="en-US" sz="900" b="1">
                <a:solidFill>
                  <a:schemeClr val="bg1"/>
                </a:solidFill>
              </a:rPr>
              <a:t>Bronze / Silver / Gold loyalty tiers</a:t>
            </a:r>
            <a:r>
              <a:rPr lang="en-US" sz="900">
                <a:solidFill>
                  <a:schemeClr val="bg1"/>
                </a:solidFill>
              </a:rPr>
              <a:t>: points for order volume, timely payment, reactivation.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1"/>
                </a:solidFill>
              </a:rPr>
              <a:t>Points redeemable for: JSW bags, discounts, local branding (boards, dealer wall painting), or logistics perks.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900" b="1">
                <a:solidFill>
                  <a:schemeClr val="bg1"/>
                </a:solidFill>
              </a:rPr>
              <a:t>Reactivate dormant P2/P3 accounts</a:t>
            </a:r>
            <a:r>
              <a:rPr lang="en-US" sz="900">
                <a:solidFill>
                  <a:schemeClr val="bg1"/>
                </a:solidFill>
              </a:rPr>
              <a:t> with “Welcome Back” bonus points or first order credit boost.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900">
                <a:solidFill>
                  <a:schemeClr val="bg1"/>
                </a:solidFill>
              </a:rPr>
              <a:t>Reward consistent retailers with </a:t>
            </a:r>
            <a:r>
              <a:rPr lang="en-GB" sz="900" b="1">
                <a:solidFill>
                  <a:schemeClr val="bg1"/>
                </a:solidFill>
              </a:rPr>
              <a:t>annual trips, events, or additional discounts</a:t>
            </a:r>
            <a:r>
              <a:rPr lang="en-GB" sz="900">
                <a:solidFill>
                  <a:schemeClr val="bg1"/>
                </a:solidFill>
              </a:rPr>
              <a:t> → proven by </a:t>
            </a:r>
            <a:r>
              <a:rPr lang="en-GB" sz="900" err="1">
                <a:solidFill>
                  <a:schemeClr val="bg1"/>
                </a:solidFill>
              </a:rPr>
              <a:t>Ultratech</a:t>
            </a:r>
            <a:r>
              <a:rPr lang="en-GB" sz="900">
                <a:solidFill>
                  <a:schemeClr val="bg1"/>
                </a:solidFill>
              </a:rPr>
              <a:t> &amp; ACC programs.</a:t>
            </a:r>
            <a:endParaRPr lang="en-IN" sz="90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37096" y="4972600"/>
            <a:ext cx="6865033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50">
                <a:solidFill>
                  <a:schemeClr val="bg1"/>
                </a:solidFill>
              </a:rPr>
              <a:t>Share </a:t>
            </a:r>
            <a:r>
              <a:rPr lang="en-GB" sz="1050" b="1">
                <a:solidFill>
                  <a:schemeClr val="bg1"/>
                </a:solidFill>
              </a:rPr>
              <a:t>best practice scripts &amp; call recordings</a:t>
            </a:r>
            <a:r>
              <a:rPr lang="en-GB" sz="1050">
                <a:solidFill>
                  <a:schemeClr val="bg1"/>
                </a:solidFill>
              </a:rPr>
              <a:t> to handle price &amp; credit objections.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50">
                <a:solidFill>
                  <a:schemeClr val="bg1"/>
                </a:solidFill>
              </a:rPr>
              <a:t>Pilot </a:t>
            </a:r>
            <a:r>
              <a:rPr lang="en-GB" sz="1050" b="1">
                <a:solidFill>
                  <a:schemeClr val="bg1"/>
                </a:solidFill>
              </a:rPr>
              <a:t>credit + loyalty bundle</a:t>
            </a:r>
            <a:r>
              <a:rPr lang="en-GB" sz="1050">
                <a:solidFill>
                  <a:schemeClr val="bg1"/>
                </a:solidFill>
              </a:rPr>
              <a:t> in MH and TN → measure impact on dormant account conversions.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50">
                <a:solidFill>
                  <a:schemeClr val="bg1"/>
                </a:solidFill>
              </a:rPr>
              <a:t>Auto-schedule </a:t>
            </a:r>
            <a:r>
              <a:rPr lang="en-GB" sz="1050" err="1">
                <a:solidFill>
                  <a:schemeClr val="bg1"/>
                </a:solidFill>
              </a:rPr>
              <a:t>callbacks</a:t>
            </a:r>
            <a:r>
              <a:rPr lang="en-GB" sz="1050">
                <a:solidFill>
                  <a:schemeClr val="bg1"/>
                </a:solidFill>
              </a:rPr>
              <a:t> for accounts showing churn signals (high hazard ratio, drop in volume).</a:t>
            </a:r>
            <a:endParaRPr lang="en-IN" sz="105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73194" y="3632786"/>
            <a:ext cx="62882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Target </a:t>
            </a:r>
            <a:r>
              <a:rPr lang="en-US" sz="1000" b="1">
                <a:solidFill>
                  <a:schemeClr val="bg1"/>
                </a:solidFill>
              </a:rPr>
              <a:t>reduce order fulfilment TAT from 48 </a:t>
            </a:r>
            <a:r>
              <a:rPr lang="en-US" sz="1000" b="1" err="1">
                <a:solidFill>
                  <a:schemeClr val="bg1"/>
                </a:solidFill>
              </a:rPr>
              <a:t>hrs</a:t>
            </a:r>
            <a:r>
              <a:rPr lang="en-US" sz="1000" b="1">
                <a:solidFill>
                  <a:schemeClr val="bg1"/>
                </a:solidFill>
              </a:rPr>
              <a:t> → &lt;24 </a:t>
            </a:r>
            <a:r>
              <a:rPr lang="en-US" sz="1000" b="1" err="1">
                <a:solidFill>
                  <a:schemeClr val="bg1"/>
                </a:solidFill>
              </a:rPr>
              <a:t>hrs</a:t>
            </a:r>
            <a:r>
              <a:rPr lang="en-US" sz="1000">
                <a:solidFill>
                  <a:schemeClr val="bg1"/>
                </a:solidFill>
              </a:rPr>
              <a:t> for top priority accounts.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Create “Express Order” mode: </a:t>
            </a:r>
            <a:r>
              <a:rPr lang="en-US" sz="1000" err="1">
                <a:solidFill>
                  <a:schemeClr val="bg1"/>
                </a:solidFill>
              </a:rPr>
              <a:t>templated</a:t>
            </a:r>
            <a:r>
              <a:rPr lang="en-US" sz="1000">
                <a:solidFill>
                  <a:schemeClr val="bg1"/>
                </a:solidFill>
              </a:rPr>
              <a:t> price, quick approval, ideal for P1 &amp; P2 accounts.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Digitize credit approval &amp; price negotiation → reduce back-and-forth and speed up sales. 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sz="1000">
                <a:solidFill>
                  <a:schemeClr val="bg1"/>
                </a:solidFill>
              </a:rPr>
              <a:t>Build CRM dashboards to show </a:t>
            </a:r>
            <a:r>
              <a:rPr lang="en-GB" sz="1000" b="1">
                <a:solidFill>
                  <a:schemeClr val="bg1"/>
                </a:solidFill>
              </a:rPr>
              <a:t>real-time hazard ratio alerts</a:t>
            </a:r>
            <a:r>
              <a:rPr lang="en-GB" sz="1000">
                <a:solidFill>
                  <a:schemeClr val="bg1"/>
                </a:solidFill>
              </a:rPr>
              <a:t>, recovery opportunities, and IS rep targets</a:t>
            </a:r>
            <a:endParaRPr lang="en-I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1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57AE-1D6E-26D1-9648-F48E767B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415" y="388061"/>
            <a:ext cx="9869169" cy="307777"/>
          </a:xfrm>
        </p:spPr>
        <p:txBody>
          <a:bodyPr/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 contacted </a:t>
            </a: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9344B7F-73FF-1AA3-FAC3-C04E86E957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6522229"/>
              </p:ext>
            </p:extLst>
          </p:nvPr>
        </p:nvGraphicFramePr>
        <p:xfrm>
          <a:off x="2780703" y="1713846"/>
          <a:ext cx="6013493" cy="4146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573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d05836e8e_0_15"/>
          <p:cNvSpPr txBox="1">
            <a:spLocks noGrp="1"/>
          </p:cNvSpPr>
          <p:nvPr>
            <p:ph type="title"/>
          </p:nvPr>
        </p:nvSpPr>
        <p:spPr>
          <a:xfrm>
            <a:off x="1161415" y="388061"/>
            <a:ext cx="9869100" cy="1000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Data References (1300+ Customers)</a:t>
            </a:r>
            <a:endParaRPr sz="29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3d05836e8e_0_15"/>
          <p:cNvSpPr txBox="1">
            <a:spLocks noGrp="1"/>
          </p:cNvSpPr>
          <p:nvPr>
            <p:ph type="body" idx="1"/>
          </p:nvPr>
        </p:nvSpPr>
        <p:spPr>
          <a:xfrm>
            <a:off x="1692275" y="1040650"/>
            <a:ext cx="6721432" cy="228293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>
                <a:latin typeface="Roboto"/>
                <a:ea typeface="Roboto"/>
                <a:cs typeface="Roboto"/>
                <a:sym typeface="Roboto"/>
              </a:rPr>
              <a:t>   1</a:t>
            </a:r>
            <a:r>
              <a:rPr lang="en-US" sz="1400" b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.Orders &amp; Retail Tracker (Last 5 Months)</a:t>
            </a:r>
            <a:endParaRPr sz="1400" b="1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-US" sz="110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Analyzed customer buying trends and order patterns</a:t>
            </a:r>
            <a:r>
              <a:rPr lang="en-US" sz="1100"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.</a:t>
            </a:r>
            <a:endParaRPr sz="11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-US" sz="110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Tracked orders by customer, product, and region</a:t>
            </a:r>
            <a:r>
              <a:rPr lang="en-US" sz="1100"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.</a:t>
            </a:r>
            <a:endParaRPr sz="11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-US" sz="110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Built customer profiles by purchase frequency and volume and assigned priorities to the customers </a:t>
            </a:r>
          </a:p>
          <a:p>
            <a:pPr marL="1587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1400" b="1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2. Lost Orders Analysis (Last 5 Months)</a:t>
            </a:r>
            <a:endParaRPr sz="1400" b="1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-US" sz="110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Identified reasons for order losses by state or district as shown in the table below. </a:t>
            </a:r>
            <a:endParaRPr sz="11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-US" sz="110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Assessed both internal and external factors affecting order loss</a:t>
            </a:r>
            <a:r>
              <a:rPr lang="en-US" sz="1100"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.</a:t>
            </a:r>
            <a:endParaRPr sz="1100"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D6A43-0036-AB47-D555-22CE6CA62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504836"/>
              </p:ext>
            </p:extLst>
          </p:nvPr>
        </p:nvGraphicFramePr>
        <p:xfrm>
          <a:off x="1832164" y="3323583"/>
          <a:ext cx="6538584" cy="2255520"/>
        </p:xfrm>
        <a:graphic>
          <a:graphicData uri="http://schemas.openxmlformats.org/drawingml/2006/table">
            <a:tbl>
              <a:tblPr firstRow="1" bandRow="1">
                <a:tableStyleId>{A2E16B43-68AD-497F-BDD2-26A58E61E181}</a:tableStyleId>
              </a:tblPr>
              <a:tblGrid>
                <a:gridCol w="2179528">
                  <a:extLst>
                    <a:ext uri="{9D8B030D-6E8A-4147-A177-3AD203B41FA5}">
                      <a16:colId xmlns:a16="http://schemas.microsoft.com/office/drawing/2014/main" val="906074967"/>
                    </a:ext>
                  </a:extLst>
                </a:gridCol>
                <a:gridCol w="2179528">
                  <a:extLst>
                    <a:ext uri="{9D8B030D-6E8A-4147-A177-3AD203B41FA5}">
                      <a16:colId xmlns:a16="http://schemas.microsoft.com/office/drawing/2014/main" val="3688446159"/>
                    </a:ext>
                  </a:extLst>
                </a:gridCol>
                <a:gridCol w="2179528">
                  <a:extLst>
                    <a:ext uri="{9D8B030D-6E8A-4147-A177-3AD203B41FA5}">
                      <a16:colId xmlns:a16="http://schemas.microsoft.com/office/drawing/2014/main" val="3942409202"/>
                    </a:ext>
                  </a:extLst>
                </a:gridCol>
              </a:tblGrid>
              <a:tr h="223086">
                <a:tc>
                  <a:txBody>
                    <a:bodyPr/>
                    <a:lstStyle/>
                    <a:p>
                      <a:r>
                        <a:rPr lang="en-US"/>
                        <a:t>State </a:t>
                      </a:r>
                      <a:endParaRPr lang="en-IN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Problem 1</a:t>
                      </a:r>
                      <a:endParaRPr lang="en-IN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Problem 2 </a:t>
                      </a:r>
                      <a:endParaRPr lang="en-IN"/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57200"/>
                  </a:ext>
                </a:extLst>
              </a:tr>
              <a:tr h="267553">
                <a:tc>
                  <a:txBody>
                    <a:bodyPr/>
                    <a:lstStyle/>
                    <a:p>
                      <a:r>
                        <a:rPr lang="en-US"/>
                        <a:t>Tamil Nadu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 Discovery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Bidding/Price Discovery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247554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r>
                        <a:rPr lang="en-US"/>
                        <a:t>Andhra Pradesh- Telangana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/>
                        <a:t>Bidding/Price Discovery</a:t>
                      </a:r>
                      <a:endParaRPr lang="en-IN"/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P-Same brand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928485"/>
                  </a:ext>
                </a:extLst>
              </a:tr>
              <a:tr h="267553">
                <a:tc>
                  <a:txBody>
                    <a:bodyPr/>
                    <a:lstStyle/>
                    <a:p>
                      <a:r>
                        <a:rPr lang="en-US"/>
                        <a:t>Karnataka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P-same brand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Credit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689059"/>
                  </a:ext>
                </a:extLst>
              </a:tr>
              <a:tr h="267553">
                <a:tc>
                  <a:txBody>
                    <a:bodyPr/>
                    <a:lstStyle/>
                    <a:p>
                      <a:r>
                        <a:rPr lang="en-US"/>
                        <a:t>Maharashtra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Credit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P-same Brand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220362"/>
                  </a:ext>
                </a:extLst>
              </a:tr>
              <a:tr h="379246">
                <a:tc>
                  <a:txBody>
                    <a:bodyPr/>
                    <a:lstStyle/>
                    <a:p>
                      <a:r>
                        <a:rPr lang="en-US"/>
                        <a:t>West Bengal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Price Discovery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Bidding/Requirement cancelled/Delay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6052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CECEA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&#65279;<?xml version="1.0" encoding="utf-8"?><Relationships xmlns="http://schemas.openxmlformats.org/package/2006/relationships"><Relationship Type="http://schemas.openxmlformats.org/officeDocument/2006/relationships/customXmlProps" Target="/customXml/itemProps1.xml" Id="rId1" /></Relationships>
</file>

<file path=customXml/_rels/item2.xml.rels>&#65279;<?xml version="1.0" encoding="utf-8"?><Relationships xmlns="http://schemas.openxmlformats.org/package/2006/relationships"><Relationship Type="http://schemas.openxmlformats.org/officeDocument/2006/relationships/customXmlProps" Target="/customXml/itemProps2.xml" Id="rId1" /></Relationships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.xml" Id="rId1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F34275EB51A24F830739B13F0F9D5E" ma:contentTypeVersion="5" ma:contentTypeDescription="Create a new document." ma:contentTypeScope="" ma:versionID="358ae6fe087e0fd8f5795d841877ed49">
  <xsd:schema xmlns:xsd="http://www.w3.org/2001/XMLSchema" xmlns:xs="http://www.w3.org/2001/XMLSchema" xmlns:p="http://schemas.microsoft.com/office/2006/metadata/properties" xmlns:ns3="82da707d-5841-4518-aa4e-96e8cb9072f9" targetNamespace="http://schemas.microsoft.com/office/2006/metadata/properties" ma:root="true" ma:fieldsID="cc1ca08eb498f4efc61a04091f40f9a5" ns3:_="">
    <xsd:import namespace="82da707d-5841-4518-aa4e-96e8cb9072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da707d-5841-4518-aa4e-96e8cb9072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da707d-5841-4518-aa4e-96e8cb9072f9" xsi:nil="true"/>
  </documentManagement>
</p:properties>
</file>

<file path=customXml/itemProps1.xml><?xml version="1.0" encoding="utf-8"?>
<ds:datastoreItem xmlns:ds="http://schemas.openxmlformats.org/officeDocument/2006/customXml" ds:itemID="{43FD24B4-3FA5-4FFC-AAC4-D8298B9E2098}">
  <ds:schemaRefs>
    <ds:schemaRef ds:uri="82da707d-5841-4518-aa4e-96e8cb9072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E515C6-6715-49DA-BE99-233444354C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E4ACDF-93E0-45AF-A87F-531E43AEE7B2}">
  <ds:schemaRefs>
    <ds:schemaRef ds:uri="82da707d-5841-4518-aa4e-96e8cb9072f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6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Enhancing Inside Sales Productivity for Cement Retail Accounts Transitioned from Field Acquisition</vt:lpstr>
      <vt:lpstr> Business Overview </vt:lpstr>
      <vt:lpstr>Our objective</vt:lpstr>
      <vt:lpstr>Data References (1300+ Customers)</vt:lpstr>
      <vt:lpstr>Key Challenges Faced  </vt:lpstr>
      <vt:lpstr> COX Hazard Model</vt:lpstr>
      <vt:lpstr>Advantages and Use-Cases of Cox Model </vt:lpstr>
      <vt:lpstr>PowerPoint Presentation</vt:lpstr>
      <vt:lpstr>Desired Uplift in the Conversion Rates </vt:lpstr>
      <vt:lpstr>PowerPoint Presentation</vt:lpstr>
      <vt:lpstr>Looking forward</vt:lpstr>
      <vt:lpstr>Insights Gained</vt:lpstr>
      <vt:lpstr>Our Recommendations</vt:lpstr>
      <vt:lpstr>References contacted </vt:lpstr>
      <vt:lpstr>Data References (1300+ Customers)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Inside Sales Productivity for Cement Retail Accounts Transitioned from Field Acquisition</dc:title>
  <dc:creator>Vaibhav Saxena</dc:creator>
  <cp:revision>4</cp:revision>
  <dcterms:created xsi:type="dcterms:W3CDTF">2021-09-07T07:19:06Z</dcterms:created>
  <dcterms:modified xsi:type="dcterms:W3CDTF">2025-07-07T05:26:20Z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2021-09-07T00:00:00Z</vt:filetime>
  </property>
  <property fmtid="{D5CDD505-2E9C-101B-9397-08002B2CF9AE}" pid="5" name="ContentTypeId">
    <vt:lpwstr>0x010100BBF34275EB51A24F830739B13F0F9D5E</vt:lpwstr>
  </property>
</Properties>
</file>